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85" r:id="rId36"/>
    <p:sldId id="257" r:id="rId8"/>
    <p:sldId id="258" r:id="rId9"/>
    <p:sldId id="259" r:id="rId10"/>
    <p:sldId id="260" r:id="rId11"/>
    <p:sldId id="261" r:id="rId12"/>
    <p:sldId id="262" r:id="rId13"/>
    <p:sldId id="263" r:id="rId14"/>
    <p:sldId id="264" r:id="rId15"/>
    <p:sldId id="286" r:id="rId37"/>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7" r:id="rId38"/>
    <p:sldId id="288" r:id="rId39"/>
    <p:sldId id="289" r:id="rId40"/>
    <p:sldId id="290" r:id="rId41"/>
    <p:sldId id="291" r:id="rId42"/>
    <p:sldId id="292" r:id="rId43"/>
    <p:sldId id="293" r:id="rId44"/>
    <p:sldId id="294" r:id="rId45"/>
    <p:sldId id="295" r:id="rId46"/>
    <p:sldId id="296" r:id="rId4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2.xml"/><Relationship Id="rId37" Type="http://schemas.openxmlformats.org/officeDocument/2006/relationships/slide" Target="slides/slide1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260000"/>
            <a:ext cx="5200000" cy="280000"/>
          </a:xfrm>
          <a:prstGeom prst="rect">
            <a:avLst/>
          </a:prstGeom>
          <a:noFill/>
        </p:spPr>
        <p:txBody>
          <a:bodyPr wrap="none">
            <a:spAutoFit/>
          </a:bodyPr>
          <a:lstStyle/>
          <a:p>
            <a:r>
              <a:rPr sz="1100" b="1">
                <a:solidFill>
                  <a:srgbClr val="A5A5A5"/>
                </a:solidFill>
                <a:latin typeface="Calibri"/>
              </a:rPr>
              <a:t>RESEARCH PROPOSAL · SOFTWARE ENGINEERING</a:t>
            </a:r>
          </a:p>
        </p:txBody>
      </p:sp>
      <p:sp>
        <p:nvSpPr>
          <p:cNvPr id="3" name="TextBox 2"/>
          <p:cNvSpPr txBox="1"/>
          <p:nvPr/>
        </p:nvSpPr>
        <p:spPr>
          <a:xfrm>
            <a:off x="228600" y="560000"/>
            <a:ext cx="5300000" cy="700000"/>
          </a:xfrm>
          <a:prstGeom prst="rect">
            <a:avLst/>
          </a:prstGeom>
          <a:noFill/>
        </p:spPr>
        <p:txBody>
          <a:bodyPr wrap="square">
            <a:spAutoFit/>
          </a:bodyPr>
          <a:lstStyle/>
          <a:p>
            <a:r>
              <a:rPr sz="4000" b="1">
                <a:solidFill>
                  <a:srgbClr val="002754"/>
                </a:solidFill>
                <a:latin typeface="Lora"/>
              </a:rPr>
              <a:t>AIGovernanceBench</a:t>
            </a:r>
          </a:p>
        </p:txBody>
      </p:sp>
      <p:sp>
        <p:nvSpPr>
          <p:cNvPr id="4" name="TextBox 3"/>
          <p:cNvSpPr txBox="1"/>
          <p:nvPr/>
        </p:nvSpPr>
        <p:spPr>
          <a:xfrm>
            <a:off x="228600" y="1280000"/>
            <a:ext cx="5300000" cy="1350000"/>
          </a:xfrm>
          <a:prstGeom prst="rect">
            <a:avLst/>
          </a:prstGeom>
          <a:noFill/>
        </p:spPr>
        <p:txBody>
          <a:bodyPr wrap="square">
            <a:spAutoFit/>
          </a:bodyPr>
          <a:lstStyle/>
          <a:p>
            <a:r>
              <a:rPr sz="1800">
                <a:solidFill>
                  <a:srgbClr val="003BA3"/>
                </a:solidFill>
                <a:latin typeface="Calibri"/>
              </a:rPr>
              <a:t>Benchmarking and recommending AI coding skills across codebase complexity, time, and cost</a:t>
            </a:r>
          </a:p>
        </p:txBody>
      </p:sp>
      <p:sp>
        <p:nvSpPr>
          <p:cNvPr id="5" name="TextBox 4"/>
          <p:cNvSpPr txBox="1"/>
          <p:nvPr/>
        </p:nvSpPr>
        <p:spPr>
          <a:xfrm>
            <a:off x="228600" y="4700000"/>
            <a:ext cx="5300000" cy="350000"/>
          </a:xfrm>
          <a:prstGeom prst="rect">
            <a:avLst/>
          </a:prstGeom>
          <a:noFill/>
        </p:spPr>
        <p:txBody>
          <a:bodyPr wrap="none">
            <a:spAutoFit/>
          </a:bodyPr>
          <a:lstStyle/>
          <a:p>
            <a:r>
              <a:rPr sz="1100">
                <a:solidFill>
                  <a:srgbClr val="A5A5A5"/>
                </a:solidFill>
                <a:latin typeface="Calibri"/>
              </a:rPr>
              <a:t>Nafiz Imtiaz Khan  |  Department of Computer Science, UC Davis</a:t>
            </a:r>
          </a:p>
        </p:txBody>
      </p:sp>
      <p:cxnSp>
        <p:nvCxnSpPr>
          <p:cNvPr id="6" name="Connector 5"/>
          <p:cNvCxnSpPr/>
          <p:nvPr/>
        </p:nvCxnSpPr>
        <p:spPr>
          <a:xfrm>
            <a:off x="228600" y="1230000"/>
            <a:ext cx="53000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7" name="Picture 6" descr="logo_mark.png"/>
          <p:cNvPicPr>
            <a:picLocks noChangeAspect="1"/>
          </p:cNvPicPr>
          <p:nvPr/>
        </p:nvPicPr>
        <p:blipFill>
          <a:blip r:embed="rId2"/>
          <a:stretch>
            <a:fillRect/>
          </a:stretch>
        </p:blipFill>
        <p:spPr>
          <a:xfrm>
            <a:off x="8555400" y="90000"/>
            <a:ext cx="360000" cy="360000"/>
          </a:xfrm>
          <a:prstGeom prst="rect">
            <a:avLst/>
          </a:prstGeom>
        </p:spPr>
      </p:pic>
      <p:pic>
        <p:nvPicPr>
          <p:cNvPr id="8" name="Picture 7" descr="hero_title.png"/>
          <p:cNvPicPr>
            <a:picLocks noChangeAspect="1"/>
          </p:cNvPicPr>
          <p:nvPr/>
        </p:nvPicPr>
        <p:blipFill>
          <a:blip r:embed="rId3"/>
          <a:stretch>
            <a:fillRect/>
          </a:stretch>
        </p:blipFill>
        <p:spPr>
          <a:xfrm>
            <a:off x="5450000" y="650000"/>
            <a:ext cx="3465400" cy="3348259"/>
          </a:xfrm>
          <a:prstGeom prst="rect">
            <a:avLst/>
          </a:prstGeom>
        </p:spPr>
      </p:pic>
      <p:sp>
        <p:nvSpPr>
          <p:cNvPr id="9" name="TextBox 8"/>
          <p:cNvSpPr txBox="1"/>
          <p:nvPr/>
        </p:nvSpPr>
        <p:spPr>
          <a:xfrm>
            <a:off x="228600" y="2487168"/>
            <a:ext cx="5303520" cy="310896"/>
          </a:xfrm>
          <a:prstGeom prst="rect">
            <a:avLst/>
          </a:prstGeom>
          <a:noFill/>
        </p:spPr>
        <p:txBody>
          <a:bodyPr wrap="none">
            <a:spAutoFit/>
          </a:bodyPr>
          <a:lstStyle/>
          <a:p>
            <a:r>
              <a:rPr sz="1150" b="1">
                <a:solidFill>
                  <a:srgbClr val="DAAA01"/>
                </a:solidFill>
                <a:latin typeface="Calibri"/>
              </a:rPr>
              <a:t>Study 1 · AIGovernanceBench          Study 2 · The Ambiguity Tax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8558784" y="91440"/>
            <a:ext cx="356616" cy="356616"/>
          </a:xfrm>
          <a:prstGeom prst="rect">
            <a:avLst/>
          </a:prstGeom>
        </p:spPr>
      </p:pic>
      <p:sp>
        <p:nvSpPr>
          <p:cNvPr id="3" name="TextBox 2"/>
          <p:cNvSpPr txBox="1"/>
          <p:nvPr/>
        </p:nvSpPr>
        <p:spPr>
          <a:xfrm>
            <a:off x="228600" y="1691640"/>
            <a:ext cx="8686800" cy="283464"/>
          </a:xfrm>
          <a:prstGeom prst="rect">
            <a:avLst/>
          </a:prstGeom>
          <a:noFill/>
        </p:spPr>
        <p:txBody>
          <a:bodyPr wrap="none">
            <a:spAutoFit/>
          </a:bodyPr>
          <a:lstStyle/>
          <a:p>
            <a:r>
              <a:rPr sz="1100" b="1">
                <a:solidFill>
                  <a:srgbClr val="A5A5A5"/>
                </a:solidFill>
                <a:latin typeface="Calibri"/>
              </a:rPr>
              <a:t>PART I</a:t>
            </a:r>
          </a:p>
        </p:txBody>
      </p:sp>
      <p:sp>
        <p:nvSpPr>
          <p:cNvPr id="4" name="TextBox 3"/>
          <p:cNvSpPr txBox="1"/>
          <p:nvPr/>
        </p:nvSpPr>
        <p:spPr>
          <a:xfrm>
            <a:off x="228600" y="1975104"/>
            <a:ext cx="8686800" cy="731520"/>
          </a:xfrm>
          <a:prstGeom prst="rect">
            <a:avLst/>
          </a:prstGeom>
          <a:noFill/>
        </p:spPr>
        <p:txBody>
          <a:bodyPr wrap="square">
            <a:spAutoFit/>
          </a:bodyPr>
          <a:lstStyle/>
          <a:p>
            <a:r>
              <a:rPr sz="3400" b="1">
                <a:solidFill>
                  <a:srgbClr val="002754"/>
                </a:solidFill>
                <a:latin typeface="Lora"/>
              </a:rPr>
              <a:t>AIGovernanceBench</a:t>
            </a:r>
          </a:p>
        </p:txBody>
      </p:sp>
      <p:cxnSp>
        <p:nvCxnSpPr>
          <p:cNvPr id="5" name="Connector 4"/>
          <p:cNvCxnSpPr/>
          <p:nvPr/>
        </p:nvCxnSpPr>
        <p:spPr>
          <a:xfrm>
            <a:off x="228600" y="278892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28600" y="2889504"/>
            <a:ext cx="8686800" cy="548640"/>
          </a:xfrm>
          <a:prstGeom prst="rect">
            <a:avLst/>
          </a:prstGeom>
          <a:noFill/>
        </p:spPr>
        <p:txBody>
          <a:bodyPr wrap="square">
            <a:spAutoFit/>
          </a:bodyPr>
          <a:lstStyle/>
          <a:p>
            <a:r>
              <a:rPr sz="1500">
                <a:solidFill>
                  <a:srgbClr val="003BA3"/>
                </a:solidFill>
                <a:latin typeface="Calibri"/>
              </a:rPr>
              <a:t>Benchmarking and recommending AI coding skills across complexity, time, and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20000"/>
            <a:ext cx="8686800" cy="430000"/>
          </a:xfrm>
          <a:prstGeom prst="rect">
            <a:avLst/>
          </a:prstGeom>
          <a:noFill/>
        </p:spPr>
        <p:txBody>
          <a:bodyPr wrap="square">
            <a:spAutoFit/>
          </a:bodyPr>
          <a:lstStyle/>
          <a:p>
            <a:r>
              <a:rPr sz="2400" b="1">
                <a:solidFill>
                  <a:srgbClr val="1155CC"/>
                </a:solidFill>
                <a:latin typeface="Lora"/>
              </a:rPr>
              <a:t>Motivation: The Skill Explosion</a:t>
            </a:r>
          </a:p>
        </p:txBody>
      </p:sp>
      <p:cxnSp>
        <p:nvCxnSpPr>
          <p:cNvPr id="3" name="Connector 2"/>
          <p:cNvCxnSpPr/>
          <p:nvPr/>
        </p:nvCxnSpPr>
        <p:spPr>
          <a:xfrm>
            <a:off x="228600" y="59000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logo_mark.png"/>
          <p:cNvPicPr>
            <a:picLocks noChangeAspect="1"/>
          </p:cNvPicPr>
          <p:nvPr/>
        </p:nvPicPr>
        <p:blipFill>
          <a:blip r:embed="rId2"/>
          <a:stretch>
            <a:fillRect/>
          </a:stretch>
        </p:blipFill>
        <p:spPr>
          <a:xfrm>
            <a:off x="8555400" y="90000"/>
            <a:ext cx="360000" cy="360000"/>
          </a:xfrm>
          <a:prstGeom prst="rect">
            <a:avLst/>
          </a:prstGeom>
        </p:spPr>
      </p:pic>
      <p:pic>
        <p:nvPicPr>
          <p:cNvPr id="6" name="Picture 5" descr="motivation_explosion.png"/>
          <p:cNvPicPr>
            <a:picLocks noChangeAspect="1"/>
          </p:cNvPicPr>
          <p:nvPr/>
        </p:nvPicPr>
        <p:blipFill>
          <a:blip r:embed="rId3"/>
          <a:stretch>
            <a:fillRect/>
          </a:stretch>
        </p:blipFill>
        <p:spPr>
          <a:xfrm>
            <a:off x="5187859" y="700000"/>
            <a:ext cx="3618281" cy="4263500"/>
          </a:xfrm>
          <a:prstGeom prst="rect">
            <a:avLst/>
          </a:prstGeom>
        </p:spPr>
      </p:pic>
      <p:sp>
        <p:nvSpPr>
          <p:cNvPr id="7" name="Rounded Rectangle 6"/>
          <p:cNvSpPr/>
          <p:nvPr/>
        </p:nvSpPr>
        <p:spPr>
          <a:xfrm>
            <a:off x="228600" y="777240"/>
            <a:ext cx="4700016" cy="1313687"/>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00" b="1">
                <a:solidFill>
                  <a:srgbClr val="1155CC"/>
                </a:solidFill>
                <a:latin typeface="Calibri"/>
              </a:rPr>
              <a:t>AN OPEN STANDARD</a:t>
            </a:r>
          </a:p>
          <a:p>
            <a:pPr algn="l">
              <a:spcAft>
                <a:spcPts val="100"/>
              </a:spcAft>
            </a:pPr>
            <a:r>
              <a:rPr sz="950" b="0">
                <a:solidFill>
                  <a:srgbClr val="5B6472"/>
                </a:solidFill>
                <a:latin typeface="Calibri"/>
              </a:rPr>
              <a:t>Coding agents now plug in on-demand “skills” — Claude Agent Skills opened this as a public, cross-platform standard</a:t>
            </a:r>
          </a:p>
        </p:txBody>
      </p:sp>
      <p:sp>
        <p:nvSpPr>
          <p:cNvPr id="8" name="Rectangle 7"/>
          <p:cNvSpPr/>
          <p:nvPr/>
        </p:nvSpPr>
        <p:spPr>
          <a:xfrm>
            <a:off x="228600" y="777240"/>
            <a:ext cx="4700016"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8600" y="2200656"/>
            <a:ext cx="4700016" cy="1313687"/>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00" b="1">
                <a:solidFill>
                  <a:srgbClr val="DAAA01"/>
                </a:solidFill>
                <a:latin typeface="Calibri"/>
              </a:rPr>
              <a:t>EXPLOSIVE GROWTH</a:t>
            </a:r>
          </a:p>
          <a:p>
            <a:pPr algn="l">
              <a:spcAft>
                <a:spcPts val="100"/>
              </a:spcAft>
            </a:pPr>
            <a:r>
              <a:rPr sz="950" b="0">
                <a:solidFill>
                  <a:srgbClr val="5B6472"/>
                </a:solidFill>
                <a:latin typeface="Calibri"/>
              </a:rPr>
              <a:t>Hundreds of skills already exist, with more shipping every week</a:t>
            </a:r>
          </a:p>
        </p:txBody>
      </p:sp>
      <p:sp>
        <p:nvSpPr>
          <p:cNvPr id="10" name="Rectangle 9"/>
          <p:cNvSpPr/>
          <p:nvPr/>
        </p:nvSpPr>
        <p:spPr>
          <a:xfrm>
            <a:off x="228600" y="2200656"/>
            <a:ext cx="4700016"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28600" y="3624072"/>
            <a:ext cx="4700016" cy="1313687"/>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00" b="1">
                <a:solidFill>
                  <a:srgbClr val="B03030"/>
                </a:solidFill>
                <a:latin typeface="Calibri"/>
              </a:rPr>
              <a:t>NO DATA TO CHOOSE ON</a:t>
            </a:r>
          </a:p>
          <a:p>
            <a:pPr algn="l">
              <a:spcAft>
                <a:spcPts val="100"/>
              </a:spcAft>
            </a:pPr>
            <a:r>
              <a:rPr sz="950" b="0">
                <a:solidFill>
                  <a:srgbClr val="5B6472"/>
                </a:solidFill>
                <a:latin typeface="Calibri"/>
              </a:rPr>
              <a:t>Picking one is a blind guess: no evidence on what performs best, for which repo, at what cost</a:t>
            </a:r>
          </a:p>
        </p:txBody>
      </p:sp>
      <p:sp>
        <p:nvSpPr>
          <p:cNvPr id="12" name="Rectangle 11"/>
          <p:cNvSpPr/>
          <p:nvPr/>
        </p:nvSpPr>
        <p:spPr>
          <a:xfrm>
            <a:off x="228600" y="3624072"/>
            <a:ext cx="4700016" cy="50292"/>
          </a:xfrm>
          <a:prstGeom prst="rect">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20000"/>
            <a:ext cx="8686800" cy="430000"/>
          </a:xfrm>
          <a:prstGeom prst="rect">
            <a:avLst/>
          </a:prstGeom>
          <a:noFill/>
        </p:spPr>
        <p:txBody>
          <a:bodyPr wrap="square">
            <a:spAutoFit/>
          </a:bodyPr>
          <a:lstStyle/>
          <a:p>
            <a:r>
              <a:rPr sz="2400" b="1">
                <a:solidFill>
                  <a:srgbClr val="1155CC"/>
                </a:solidFill>
                <a:latin typeface="Lora"/>
              </a:rPr>
              <a:t>The Gap: No “SWE-bench” for Skills</a:t>
            </a:r>
          </a:p>
        </p:txBody>
      </p:sp>
      <p:cxnSp>
        <p:nvCxnSpPr>
          <p:cNvPr id="3" name="Connector 2"/>
          <p:cNvCxnSpPr/>
          <p:nvPr/>
        </p:nvCxnSpPr>
        <p:spPr>
          <a:xfrm>
            <a:off x="228600" y="59000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logo_mark.png"/>
          <p:cNvPicPr>
            <a:picLocks noChangeAspect="1"/>
          </p:cNvPicPr>
          <p:nvPr/>
        </p:nvPicPr>
        <p:blipFill>
          <a:blip r:embed="rId2"/>
          <a:stretch>
            <a:fillRect/>
          </a:stretch>
        </p:blipFill>
        <p:spPr>
          <a:xfrm>
            <a:off x="8555400" y="90000"/>
            <a:ext cx="360000" cy="360000"/>
          </a:xfrm>
          <a:prstGeom prst="rect">
            <a:avLst/>
          </a:prstGeom>
        </p:spPr>
      </p:pic>
      <p:pic>
        <p:nvPicPr>
          <p:cNvPr id="6" name="Picture 5" descr="gap_quadrant.png"/>
          <p:cNvPicPr>
            <a:picLocks noChangeAspect="1"/>
          </p:cNvPicPr>
          <p:nvPr/>
        </p:nvPicPr>
        <p:blipFill>
          <a:blip r:embed="rId3"/>
          <a:stretch>
            <a:fillRect/>
          </a:stretch>
        </p:blipFill>
        <p:spPr>
          <a:xfrm>
            <a:off x="5078600" y="700000"/>
            <a:ext cx="3836800" cy="2792964"/>
          </a:xfrm>
          <a:prstGeom prst="rect">
            <a:avLst/>
          </a:prstGeom>
        </p:spPr>
      </p:pic>
      <p:sp>
        <p:nvSpPr>
          <p:cNvPr id="7" name="Rounded Rectangle 6"/>
          <p:cNvSpPr/>
          <p:nvPr/>
        </p:nvSpPr>
        <p:spPr>
          <a:xfrm>
            <a:off x="228600" y="777240"/>
            <a:ext cx="4700016" cy="1313687"/>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00" b="1">
                <a:solidFill>
                  <a:srgbClr val="1155CC"/>
                </a:solidFill>
                <a:latin typeface="Calibri"/>
              </a:rPr>
              <a:t>WRONG UNIT OF EVALUATION</a:t>
            </a:r>
          </a:p>
          <a:p>
            <a:pPr algn="l">
              <a:spcAft>
                <a:spcPts val="100"/>
              </a:spcAft>
            </a:pPr>
            <a:r>
              <a:rPr sz="950" b="0">
                <a:solidFill>
                  <a:srgbClr val="5B6472"/>
                </a:solidFill>
                <a:latin typeface="Calibri"/>
              </a:rPr>
              <a:t>SWE-bench / SWE-bench Pro benchmark whole agents on issue resolution — not individual skills</a:t>
            </a:r>
          </a:p>
        </p:txBody>
      </p:sp>
      <p:sp>
        <p:nvSpPr>
          <p:cNvPr id="8" name="Rectangle 7"/>
          <p:cNvSpPr/>
          <p:nvPr/>
        </p:nvSpPr>
        <p:spPr>
          <a:xfrm>
            <a:off x="228600" y="777240"/>
            <a:ext cx="4700016"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8600" y="2200656"/>
            <a:ext cx="4700016" cy="1313687"/>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00" b="1">
                <a:solidFill>
                  <a:srgbClr val="DAAA01"/>
                </a:solidFill>
                <a:latin typeface="Calibri"/>
              </a:rPr>
              <a:t>CATALOGS DO NOT SCALE</a:t>
            </a:r>
          </a:p>
          <a:p>
            <a:pPr algn="l">
              <a:spcAft>
                <a:spcPts val="100"/>
              </a:spcAft>
            </a:pPr>
            <a:r>
              <a:rPr sz="950" b="0">
                <a:solidFill>
                  <a:srgbClr val="5B6472"/>
                </a:solidFill>
                <a:latin typeface="Calibri"/>
              </a:rPr>
              <a:t>Tool-selection accuracy collapses as catalogs grow — 50K+ tokens of tool definitions before a task even starts</a:t>
            </a:r>
          </a:p>
        </p:txBody>
      </p:sp>
      <p:sp>
        <p:nvSpPr>
          <p:cNvPr id="10" name="Rectangle 9"/>
          <p:cNvSpPr/>
          <p:nvPr/>
        </p:nvSpPr>
        <p:spPr>
          <a:xfrm>
            <a:off x="228600" y="2200656"/>
            <a:ext cx="4700016"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28600" y="3624072"/>
            <a:ext cx="4700016" cy="1313687"/>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00" b="1">
                <a:solidFill>
                  <a:srgbClr val="B03030"/>
                </a:solidFill>
                <a:latin typeface="Calibri"/>
              </a:rPr>
              <a:t>COST GOES UNMEASURED</a:t>
            </a:r>
          </a:p>
          <a:p>
            <a:pPr algn="l">
              <a:spcAft>
                <a:spcPts val="100"/>
              </a:spcAft>
            </a:pPr>
            <a:r>
              <a:rPr sz="950" b="0">
                <a:solidFill>
                  <a:srgbClr val="5B6472"/>
                </a:solidFill>
                <a:latin typeface="Calibri"/>
              </a:rPr>
              <a:t>Token cost varies up to 30× on the identical task — and more cost ≠ more accuracy</a:t>
            </a:r>
          </a:p>
        </p:txBody>
      </p:sp>
      <p:sp>
        <p:nvSpPr>
          <p:cNvPr id="12" name="Rectangle 11"/>
          <p:cNvSpPr/>
          <p:nvPr/>
        </p:nvSpPr>
        <p:spPr>
          <a:xfrm>
            <a:off x="228600" y="3624072"/>
            <a:ext cx="4700016" cy="50292"/>
          </a:xfrm>
          <a:prstGeom prst="rect">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20000"/>
            <a:ext cx="8686800" cy="430000"/>
          </a:xfrm>
          <a:prstGeom prst="rect">
            <a:avLst/>
          </a:prstGeom>
          <a:noFill/>
        </p:spPr>
        <p:txBody>
          <a:bodyPr wrap="square">
            <a:spAutoFit/>
          </a:bodyPr>
          <a:lstStyle/>
          <a:p>
            <a:r>
              <a:rPr sz="2400" b="1">
                <a:solidFill>
                  <a:srgbClr val="1155CC"/>
                </a:solidFill>
                <a:latin typeface="Lora"/>
              </a:rPr>
              <a:t>Core Idea: Every Skill Trades Quality, Time, Cost</a:t>
            </a:r>
          </a:p>
        </p:txBody>
      </p:sp>
      <p:cxnSp>
        <p:nvCxnSpPr>
          <p:cNvPr id="3" name="Connector 2"/>
          <p:cNvCxnSpPr/>
          <p:nvPr/>
        </p:nvCxnSpPr>
        <p:spPr>
          <a:xfrm>
            <a:off x="228600" y="59000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logo_mark.png"/>
          <p:cNvPicPr>
            <a:picLocks noChangeAspect="1"/>
          </p:cNvPicPr>
          <p:nvPr/>
        </p:nvPicPr>
        <p:blipFill>
          <a:blip r:embed="rId2"/>
          <a:stretch>
            <a:fillRect/>
          </a:stretch>
        </p:blipFill>
        <p:spPr>
          <a:xfrm>
            <a:off x="8555400" y="90000"/>
            <a:ext cx="360000" cy="360000"/>
          </a:xfrm>
          <a:prstGeom prst="rect">
            <a:avLst/>
          </a:prstGeom>
        </p:spPr>
      </p:pic>
      <p:pic>
        <p:nvPicPr>
          <p:cNvPr id="6" name="Picture 5" descr="tradeoff_triangle.png"/>
          <p:cNvPicPr>
            <a:picLocks noChangeAspect="1"/>
          </p:cNvPicPr>
          <p:nvPr/>
        </p:nvPicPr>
        <p:blipFill>
          <a:blip r:embed="rId3"/>
          <a:stretch>
            <a:fillRect/>
          </a:stretch>
        </p:blipFill>
        <p:spPr>
          <a:xfrm>
            <a:off x="5078600" y="700000"/>
            <a:ext cx="3836800" cy="3109563"/>
          </a:xfrm>
          <a:prstGeom prst="rect">
            <a:avLst/>
          </a:prstGeom>
        </p:spPr>
      </p:pic>
      <p:sp>
        <p:nvSpPr>
          <p:cNvPr id="7" name="Rounded Rectangle 6"/>
          <p:cNvSpPr/>
          <p:nvPr/>
        </p:nvSpPr>
        <p:spPr>
          <a:xfrm>
            <a:off x="228600" y="777240"/>
            <a:ext cx="4700016" cy="957833"/>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00" b="1">
                <a:solidFill>
                  <a:srgbClr val="002754"/>
                </a:solidFill>
                <a:latin typeface="Calibri"/>
              </a:rPr>
              <a:t>NO SKILL DOMINATES</a:t>
            </a:r>
          </a:p>
          <a:p>
            <a:pPr algn="l">
              <a:spcAft>
                <a:spcPts val="100"/>
              </a:spcAft>
            </a:pPr>
            <a:r>
              <a:rPr sz="950" b="0">
                <a:solidFill>
                  <a:srgbClr val="5B6472"/>
                </a:solidFill>
                <a:latin typeface="Calibri"/>
              </a:rPr>
              <a:t>The right pick depends on codebase complexity</a:t>
            </a:r>
          </a:p>
        </p:txBody>
      </p:sp>
      <p:sp>
        <p:nvSpPr>
          <p:cNvPr id="8" name="Rectangle 7"/>
          <p:cNvSpPr/>
          <p:nvPr/>
        </p:nvSpPr>
        <p:spPr>
          <a:xfrm>
            <a:off x="228600" y="777240"/>
            <a:ext cx="4700016" cy="50292"/>
          </a:xfrm>
          <a:prstGeom prst="rect">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8600" y="1844802"/>
            <a:ext cx="4700016" cy="957833"/>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00" b="1">
                <a:solidFill>
                  <a:srgbClr val="1155CC"/>
                </a:solidFill>
                <a:latin typeface="Calibri"/>
              </a:rPr>
              <a:t>GREP-AND-PATCH</a:t>
            </a:r>
          </a:p>
          <a:p>
            <a:pPr algn="l">
              <a:spcAft>
                <a:spcPts val="100"/>
              </a:spcAft>
            </a:pPr>
            <a:r>
              <a:rPr sz="950" b="0">
                <a:solidFill>
                  <a:srgbClr val="5B6472"/>
                </a:solidFill>
                <a:latin typeface="Calibri"/>
              </a:rPr>
              <a:t>Cheap and fast — fails on deep refactors</a:t>
            </a:r>
          </a:p>
        </p:txBody>
      </p:sp>
      <p:sp>
        <p:nvSpPr>
          <p:cNvPr id="10" name="Rectangle 9"/>
          <p:cNvSpPr/>
          <p:nvPr/>
        </p:nvSpPr>
        <p:spPr>
          <a:xfrm>
            <a:off x="228600" y="1844802"/>
            <a:ext cx="4700016"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28600" y="2912364"/>
            <a:ext cx="4700016" cy="957833"/>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00" b="1">
                <a:solidFill>
                  <a:srgbClr val="DAAA01"/>
                </a:solidFill>
                <a:latin typeface="Calibri"/>
              </a:rPr>
              <a:t>FULL AUTONOMOUS AGENT</a:t>
            </a:r>
          </a:p>
          <a:p>
            <a:pPr algn="l">
              <a:spcAft>
                <a:spcPts val="100"/>
              </a:spcAft>
            </a:pPr>
            <a:r>
              <a:rPr sz="950" b="0">
                <a:solidFill>
                  <a:srgbClr val="5B6472"/>
                </a:solidFill>
                <a:latin typeface="Calibri"/>
              </a:rPr>
              <a:t>Higher quality — 10–100× the tokens</a:t>
            </a:r>
          </a:p>
        </p:txBody>
      </p:sp>
      <p:sp>
        <p:nvSpPr>
          <p:cNvPr id="12" name="Rectangle 11"/>
          <p:cNvSpPr/>
          <p:nvPr/>
        </p:nvSpPr>
        <p:spPr>
          <a:xfrm>
            <a:off x="228600" y="2912364"/>
            <a:ext cx="4700016"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28600" y="3979926"/>
            <a:ext cx="4700016" cy="957833"/>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00" b="1">
                <a:solidFill>
                  <a:srgbClr val="1E7A3C"/>
                </a:solidFill>
                <a:latin typeface="Calibri"/>
              </a:rPr>
              <a:t>SKILLBENCH MEASURES IT</a:t>
            </a:r>
          </a:p>
          <a:p>
            <a:pPr algn="l">
              <a:spcAft>
                <a:spcPts val="100"/>
              </a:spcAft>
            </a:pPr>
            <a:r>
              <a:rPr sz="950" b="0">
                <a:solidFill>
                  <a:srgbClr val="5B6472"/>
                </a:solidFill>
                <a:latin typeface="Calibri"/>
              </a:rPr>
              <a:t>the tradeoff directly, per skill and per complexity tier</a:t>
            </a:r>
          </a:p>
        </p:txBody>
      </p:sp>
      <p:sp>
        <p:nvSpPr>
          <p:cNvPr id="14" name="Rectangle 13"/>
          <p:cNvSpPr/>
          <p:nvPr/>
        </p:nvSpPr>
        <p:spPr>
          <a:xfrm>
            <a:off x="228600" y="3979926"/>
            <a:ext cx="4700016" cy="50292"/>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20000"/>
            <a:ext cx="8686800" cy="430000"/>
          </a:xfrm>
          <a:prstGeom prst="rect">
            <a:avLst/>
          </a:prstGeom>
          <a:noFill/>
        </p:spPr>
        <p:txBody>
          <a:bodyPr wrap="square">
            <a:spAutoFit/>
          </a:bodyPr>
          <a:lstStyle/>
          <a:p>
            <a:r>
              <a:rPr sz="2400" b="1">
                <a:solidFill>
                  <a:srgbClr val="1155CC"/>
                </a:solidFill>
                <a:latin typeface="Lora"/>
              </a:rPr>
              <a:t>AIGovernanceBench: A Task Matrix, Not a Leaderboard</a:t>
            </a:r>
          </a:p>
        </p:txBody>
      </p:sp>
      <p:cxnSp>
        <p:nvCxnSpPr>
          <p:cNvPr id="3" name="Connector 2"/>
          <p:cNvCxnSpPr/>
          <p:nvPr/>
        </p:nvCxnSpPr>
        <p:spPr>
          <a:xfrm>
            <a:off x="228600" y="59000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logo_mark.png"/>
          <p:cNvPicPr>
            <a:picLocks noChangeAspect="1"/>
          </p:cNvPicPr>
          <p:nvPr/>
        </p:nvPicPr>
        <p:blipFill>
          <a:blip r:embed="rId2"/>
          <a:stretch>
            <a:fillRect/>
          </a:stretch>
        </p:blipFill>
        <p:spPr>
          <a:xfrm>
            <a:off x="8555400" y="90000"/>
            <a:ext cx="360000" cy="360000"/>
          </a:xfrm>
          <a:prstGeom prst="rect">
            <a:avLst/>
          </a:prstGeom>
        </p:spPr>
      </p:pic>
      <p:sp>
        <p:nvSpPr>
          <p:cNvPr id="5" name="TextBox 4"/>
          <p:cNvSpPr txBox="1"/>
          <p:nvPr/>
        </p:nvSpPr>
        <p:spPr>
          <a:xfrm>
            <a:off x="228600" y="700000"/>
            <a:ext cx="8686800" cy="420000"/>
          </a:xfrm>
          <a:prstGeom prst="rect">
            <a:avLst/>
          </a:prstGeom>
          <a:noFill/>
        </p:spPr>
        <p:txBody>
          <a:bodyPr wrap="square">
            <a:spAutoFit/>
          </a:bodyPr>
          <a:lstStyle/>
          <a:p>
            <a:pPr algn="l"/>
            <a:r>
              <a:rPr sz="1450" i="0">
                <a:solidFill>
                  <a:srgbClr val="000000"/>
                </a:solidFill>
                <a:latin typeface="Calibri"/>
              </a:rPr>
              <a:t>Three axes — codebase complexity tier × task type × skill. Every run logs success, wall-clock time, $ cost, and token count.</a:t>
            </a:r>
          </a:p>
        </p:txBody>
      </p:sp>
      <p:sp>
        <p:nvSpPr>
          <p:cNvPr id="6" name="TextBox 5"/>
          <p:cNvSpPr txBox="1"/>
          <p:nvPr/>
        </p:nvSpPr>
        <p:spPr>
          <a:xfrm>
            <a:off x="1737360" y="1207008"/>
            <a:ext cx="1389888" cy="274320"/>
          </a:xfrm>
          <a:prstGeom prst="rect">
            <a:avLst/>
          </a:prstGeom>
          <a:noFill/>
        </p:spPr>
        <p:txBody>
          <a:bodyPr wrap="none">
            <a:spAutoFit/>
          </a:bodyPr>
          <a:lstStyle/>
          <a:p>
            <a:pPr algn="ctr"/>
            <a:r>
              <a:rPr sz="1150" b="1">
                <a:solidFill>
                  <a:srgbClr val="002754"/>
                </a:solidFill>
                <a:latin typeface="Calibri"/>
              </a:rPr>
              <a:t>Bug-fix</a:t>
            </a:r>
          </a:p>
        </p:txBody>
      </p:sp>
      <p:sp>
        <p:nvSpPr>
          <p:cNvPr id="7" name="TextBox 6"/>
          <p:cNvSpPr txBox="1"/>
          <p:nvPr/>
        </p:nvSpPr>
        <p:spPr>
          <a:xfrm>
            <a:off x="3172968" y="1207008"/>
            <a:ext cx="1389888" cy="274320"/>
          </a:xfrm>
          <a:prstGeom prst="rect">
            <a:avLst/>
          </a:prstGeom>
          <a:noFill/>
        </p:spPr>
        <p:txBody>
          <a:bodyPr wrap="none">
            <a:spAutoFit/>
          </a:bodyPr>
          <a:lstStyle/>
          <a:p>
            <a:pPr algn="ctr"/>
            <a:r>
              <a:rPr sz="1150" b="1">
                <a:solidFill>
                  <a:srgbClr val="002754"/>
                </a:solidFill>
                <a:latin typeface="Calibri"/>
              </a:rPr>
              <a:t>Feature</a:t>
            </a:r>
          </a:p>
        </p:txBody>
      </p:sp>
      <p:sp>
        <p:nvSpPr>
          <p:cNvPr id="8" name="TextBox 7"/>
          <p:cNvSpPr txBox="1"/>
          <p:nvPr/>
        </p:nvSpPr>
        <p:spPr>
          <a:xfrm>
            <a:off x="4608576" y="1207008"/>
            <a:ext cx="1389888" cy="274320"/>
          </a:xfrm>
          <a:prstGeom prst="rect">
            <a:avLst/>
          </a:prstGeom>
          <a:noFill/>
        </p:spPr>
        <p:txBody>
          <a:bodyPr wrap="none">
            <a:spAutoFit/>
          </a:bodyPr>
          <a:lstStyle/>
          <a:p>
            <a:pPr algn="ctr"/>
            <a:r>
              <a:rPr sz="1150" b="1">
                <a:solidFill>
                  <a:srgbClr val="002754"/>
                </a:solidFill>
                <a:latin typeface="Calibri"/>
              </a:rPr>
              <a:t>Refactor</a:t>
            </a:r>
          </a:p>
        </p:txBody>
      </p:sp>
      <p:sp>
        <p:nvSpPr>
          <p:cNvPr id="9" name="TextBox 8"/>
          <p:cNvSpPr txBox="1"/>
          <p:nvPr/>
        </p:nvSpPr>
        <p:spPr>
          <a:xfrm>
            <a:off x="6044183" y="1207008"/>
            <a:ext cx="1389888" cy="274320"/>
          </a:xfrm>
          <a:prstGeom prst="rect">
            <a:avLst/>
          </a:prstGeom>
          <a:noFill/>
        </p:spPr>
        <p:txBody>
          <a:bodyPr wrap="none">
            <a:spAutoFit/>
          </a:bodyPr>
          <a:lstStyle/>
          <a:p>
            <a:pPr algn="ctr"/>
            <a:r>
              <a:rPr sz="1150" b="1">
                <a:solidFill>
                  <a:srgbClr val="002754"/>
                </a:solidFill>
                <a:latin typeface="Calibri"/>
              </a:rPr>
              <a:t>Test-gen</a:t>
            </a:r>
          </a:p>
        </p:txBody>
      </p:sp>
      <p:sp>
        <p:nvSpPr>
          <p:cNvPr id="10" name="TextBox 9"/>
          <p:cNvSpPr txBox="1"/>
          <p:nvPr/>
        </p:nvSpPr>
        <p:spPr>
          <a:xfrm>
            <a:off x="7479792" y="1207008"/>
            <a:ext cx="1389888" cy="274320"/>
          </a:xfrm>
          <a:prstGeom prst="rect">
            <a:avLst/>
          </a:prstGeom>
          <a:noFill/>
        </p:spPr>
        <p:txBody>
          <a:bodyPr wrap="none">
            <a:spAutoFit/>
          </a:bodyPr>
          <a:lstStyle/>
          <a:p>
            <a:pPr algn="ctr"/>
            <a:r>
              <a:rPr sz="1150" b="1">
                <a:solidFill>
                  <a:srgbClr val="002754"/>
                </a:solidFill>
                <a:latin typeface="Calibri"/>
              </a:rPr>
              <a:t>Docs</a:t>
            </a:r>
          </a:p>
        </p:txBody>
      </p:sp>
      <p:sp>
        <p:nvSpPr>
          <p:cNvPr id="11" name="Rounded Rectangle 10"/>
          <p:cNvSpPr/>
          <p:nvPr/>
        </p:nvSpPr>
        <p:spPr>
          <a:xfrm>
            <a:off x="228600" y="1554480"/>
            <a:ext cx="1389888" cy="80467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50" b="1">
                <a:solidFill>
                  <a:srgbClr val="002754"/>
                </a:solidFill>
                <a:latin typeface="Calibri"/>
              </a:rPr>
              <a:t>Tier 1</a:t>
            </a:r>
          </a:p>
          <a:p>
            <a:pPr algn="ctr">
              <a:spcAft>
                <a:spcPts val="100"/>
              </a:spcAft>
            </a:pPr>
            <a:r>
              <a:rPr sz="900" b="0">
                <a:solidFill>
                  <a:srgbClr val="5B6472"/>
                </a:solidFill>
                <a:latin typeface="Calibri"/>
              </a:rPr>
              <a:t>small / simple</a:t>
            </a:r>
          </a:p>
        </p:txBody>
      </p:sp>
      <p:sp>
        <p:nvSpPr>
          <p:cNvPr id="12" name="Rounded Rectangle 11"/>
          <p:cNvSpPr/>
          <p:nvPr/>
        </p:nvSpPr>
        <p:spPr>
          <a:xfrm>
            <a:off x="1737360" y="1554480"/>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172968" y="1554480"/>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08576" y="1554480"/>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044183" y="1554480"/>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79792" y="1554480"/>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28600" y="2432304"/>
            <a:ext cx="1389888" cy="80467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50" b="1">
                <a:solidFill>
                  <a:srgbClr val="002754"/>
                </a:solidFill>
                <a:latin typeface="Calibri"/>
              </a:rPr>
              <a:t>Tier 2</a:t>
            </a:r>
          </a:p>
          <a:p>
            <a:pPr algn="ctr">
              <a:spcAft>
                <a:spcPts val="100"/>
              </a:spcAft>
            </a:pPr>
            <a:r>
              <a:rPr sz="900" b="0">
                <a:solidFill>
                  <a:srgbClr val="5B6472"/>
                </a:solidFill>
                <a:latin typeface="Calibri"/>
              </a:rPr>
              <a:t>medium</a:t>
            </a:r>
          </a:p>
        </p:txBody>
      </p:sp>
      <p:sp>
        <p:nvSpPr>
          <p:cNvPr id="18" name="Rounded Rectangle 17"/>
          <p:cNvSpPr/>
          <p:nvPr/>
        </p:nvSpPr>
        <p:spPr>
          <a:xfrm>
            <a:off x="1737360" y="2432304"/>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172968" y="2432304"/>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608576" y="2432304"/>
            <a:ext cx="1389888" cy="804672"/>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200" b="1">
                <a:solidFill>
                  <a:srgbClr val="002754"/>
                </a:solidFill>
                <a:latin typeface="Calibri"/>
              </a:rPr>
              <a:t>✓ 87%</a:t>
            </a:r>
          </a:p>
          <a:p>
            <a:pPr algn="ctr">
              <a:spcAft>
                <a:spcPts val="100"/>
              </a:spcAft>
            </a:pPr>
            <a:r>
              <a:rPr sz="900" b="0">
                <a:solidFill>
                  <a:srgbClr val="002754"/>
                </a:solidFill>
                <a:latin typeface="Calibri"/>
              </a:rPr>
              <a:t>2.1 min  ·  $0.34</a:t>
            </a:r>
          </a:p>
        </p:txBody>
      </p:sp>
      <p:sp>
        <p:nvSpPr>
          <p:cNvPr id="21" name="Rounded Rectangle 20"/>
          <p:cNvSpPr/>
          <p:nvPr/>
        </p:nvSpPr>
        <p:spPr>
          <a:xfrm>
            <a:off x="6044183" y="2432304"/>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79792" y="2432304"/>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28600" y="3310128"/>
            <a:ext cx="1389888" cy="80467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50" b="1">
                <a:solidFill>
                  <a:srgbClr val="002754"/>
                </a:solidFill>
                <a:latin typeface="Calibri"/>
              </a:rPr>
              <a:t>Tier 3</a:t>
            </a:r>
          </a:p>
          <a:p>
            <a:pPr algn="ctr">
              <a:spcAft>
                <a:spcPts val="100"/>
              </a:spcAft>
            </a:pPr>
            <a:r>
              <a:rPr sz="900" b="0">
                <a:solidFill>
                  <a:srgbClr val="5B6472"/>
                </a:solidFill>
                <a:latin typeface="Calibri"/>
              </a:rPr>
              <a:t>large / complex</a:t>
            </a:r>
          </a:p>
        </p:txBody>
      </p:sp>
      <p:sp>
        <p:nvSpPr>
          <p:cNvPr id="24" name="Rounded Rectangle 23"/>
          <p:cNvSpPr/>
          <p:nvPr/>
        </p:nvSpPr>
        <p:spPr>
          <a:xfrm>
            <a:off x="1737360" y="3310128"/>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172968" y="3310128"/>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608576" y="3310128"/>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044183" y="3310128"/>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79792" y="3310128"/>
            <a:ext cx="1389888" cy="804672"/>
          </a:xfrm>
          <a:prstGeom prst="roundRect">
            <a:avLst>
              <a:gd name="adj" fmla="val 8000"/>
            </a:avLst>
          </a:prstGeom>
          <a:solidFill>
            <a:srgbClr val="FFFFFF"/>
          </a:solidFill>
          <a:ln w="1397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28600" y="4261104"/>
            <a:ext cx="8686800" cy="530352"/>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Every cell is a measured run for one skill, task type and complexity tier, logging success, wall-clock time, $ cost and token count. No single row wins outright.</a:t>
            </a:r>
          </a:p>
        </p:txBody>
      </p:sp>
      <p:sp>
        <p:nvSpPr>
          <p:cNvPr id="30" name="Rectangle 29"/>
          <p:cNvSpPr/>
          <p:nvPr/>
        </p:nvSpPr>
        <p:spPr>
          <a:xfrm>
            <a:off x="228600" y="4261104"/>
            <a:ext cx="50292" cy="53035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20000"/>
            <a:ext cx="8686800" cy="430000"/>
          </a:xfrm>
          <a:prstGeom prst="rect">
            <a:avLst/>
          </a:prstGeom>
          <a:noFill/>
        </p:spPr>
        <p:txBody>
          <a:bodyPr wrap="square">
            <a:spAutoFit/>
          </a:bodyPr>
          <a:lstStyle/>
          <a:p>
            <a:r>
              <a:rPr sz="2400" b="1">
                <a:solidFill>
                  <a:srgbClr val="1155CC"/>
                </a:solidFill>
                <a:latin typeface="Lora"/>
              </a:rPr>
              <a:t>From Benchmark to Recommendation</a:t>
            </a:r>
          </a:p>
        </p:txBody>
      </p:sp>
      <p:cxnSp>
        <p:nvCxnSpPr>
          <p:cNvPr id="3" name="Connector 2"/>
          <p:cNvCxnSpPr/>
          <p:nvPr/>
        </p:nvCxnSpPr>
        <p:spPr>
          <a:xfrm>
            <a:off x="228600" y="59000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logo_mark.png"/>
          <p:cNvPicPr>
            <a:picLocks noChangeAspect="1"/>
          </p:cNvPicPr>
          <p:nvPr/>
        </p:nvPicPr>
        <p:blipFill>
          <a:blip r:embed="rId2"/>
          <a:stretch>
            <a:fillRect/>
          </a:stretch>
        </p:blipFill>
        <p:spPr>
          <a:xfrm>
            <a:off x="8555400" y="90000"/>
            <a:ext cx="360000" cy="360000"/>
          </a:xfrm>
          <a:prstGeom prst="rect">
            <a:avLst/>
          </a:prstGeom>
        </p:spPr>
      </p:pic>
      <p:sp>
        <p:nvSpPr>
          <p:cNvPr id="5" name="TextBox 4"/>
          <p:cNvSpPr txBox="1"/>
          <p:nvPr/>
        </p:nvSpPr>
        <p:spPr>
          <a:xfrm>
            <a:off x="228600" y="700000"/>
            <a:ext cx="8686800" cy="420000"/>
          </a:xfrm>
          <a:prstGeom prst="rect">
            <a:avLst/>
          </a:prstGeom>
          <a:noFill/>
        </p:spPr>
        <p:txBody>
          <a:bodyPr wrap="square">
            <a:spAutoFit/>
          </a:bodyPr>
          <a:lstStyle/>
          <a:p>
            <a:pPr algn="l"/>
            <a:r>
              <a:rPr sz="1450" i="0">
                <a:solidFill>
                  <a:srgbClr val="000000"/>
                </a:solidFill>
                <a:latin typeface="Calibri"/>
              </a:rPr>
              <a:t>Profile the target codebase, match it against AIGovernanceBench results, and return ranked skills — not just a single winner.</a:t>
            </a:r>
          </a:p>
        </p:txBody>
      </p:sp>
      <p:sp>
        <p:nvSpPr>
          <p:cNvPr id="6" name="Rounded Rectangle 5"/>
          <p:cNvSpPr/>
          <p:nvPr/>
        </p:nvSpPr>
        <p:spPr>
          <a:xfrm>
            <a:off x="228600" y="1417320"/>
            <a:ext cx="1572768" cy="1371600"/>
          </a:xfrm>
          <a:prstGeom prst="roundRect">
            <a:avLst>
              <a:gd name="adj" fmla="val 8000"/>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00" b="1">
                <a:solidFill>
                  <a:srgbClr val="5B6472"/>
                </a:solidFill>
                <a:latin typeface="Calibri"/>
              </a:rPr>
              <a:t>TARGET</a:t>
            </a:r>
          </a:p>
          <a:p>
            <a:pPr algn="ctr">
              <a:spcAft>
                <a:spcPts val="100"/>
              </a:spcAft>
            </a:pPr>
            <a:r>
              <a:rPr sz="1000" b="1">
                <a:solidFill>
                  <a:srgbClr val="5B6472"/>
                </a:solidFill>
                <a:latin typeface="Calibri"/>
              </a:rPr>
              <a:t>CODEBASE</a:t>
            </a:r>
          </a:p>
          <a:p>
            <a:pPr algn="ctr">
              <a:spcAft>
                <a:spcPts val="100"/>
              </a:spcAft>
            </a:pPr>
            <a:r>
              <a:rPr sz="850" b="0">
                <a:solidFill>
                  <a:srgbClr val="5B6472"/>
                </a:solidFill>
                <a:latin typeface="Calibri"/>
              </a:rPr>
              <a:t>the repo you</a:t>
            </a:r>
          </a:p>
          <a:p>
            <a:pPr algn="ctr">
              <a:spcAft>
                <a:spcPts val="100"/>
              </a:spcAft>
            </a:pPr>
            <a:r>
              <a:rPr sz="850" b="0">
                <a:solidFill>
                  <a:srgbClr val="5B6472"/>
                </a:solidFill>
                <a:latin typeface="Calibri"/>
              </a:rPr>
              <a:t>want to improve</a:t>
            </a:r>
          </a:p>
        </p:txBody>
      </p:sp>
      <p:sp>
        <p:nvSpPr>
          <p:cNvPr id="7" name="Rectangle 6"/>
          <p:cNvSpPr/>
          <p:nvPr/>
        </p:nvSpPr>
        <p:spPr>
          <a:xfrm>
            <a:off x="228600" y="1417320"/>
            <a:ext cx="1572768" cy="5029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1837943" y="2002536"/>
            <a:ext cx="137160"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002536" y="1417320"/>
            <a:ext cx="1572768" cy="1371600"/>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00" b="1">
                <a:solidFill>
                  <a:srgbClr val="1155CC"/>
                </a:solidFill>
                <a:latin typeface="Calibri"/>
              </a:rPr>
              <a:t>PROFILER</a:t>
            </a:r>
          </a:p>
          <a:p>
            <a:pPr algn="ctr">
              <a:spcAft>
                <a:spcPts val="100"/>
              </a:spcAft>
            </a:pPr>
            <a:r>
              <a:rPr sz="850" b="0">
                <a:solidFill>
                  <a:srgbClr val="5B6472"/>
                </a:solidFill>
                <a:latin typeface="Calibri"/>
              </a:rPr>
              <a:t>size · language</a:t>
            </a:r>
          </a:p>
          <a:p>
            <a:pPr algn="ctr">
              <a:spcAft>
                <a:spcPts val="100"/>
              </a:spcAft>
            </a:pPr>
            <a:r>
              <a:rPr sz="850" b="0">
                <a:solidFill>
                  <a:srgbClr val="5B6472"/>
                </a:solidFill>
                <a:latin typeface="Calibri"/>
              </a:rPr>
              <a:t>task type</a:t>
            </a:r>
          </a:p>
        </p:txBody>
      </p:sp>
      <p:sp>
        <p:nvSpPr>
          <p:cNvPr id="10" name="Rectangle 9"/>
          <p:cNvSpPr/>
          <p:nvPr/>
        </p:nvSpPr>
        <p:spPr>
          <a:xfrm>
            <a:off x="2002536" y="1417320"/>
            <a:ext cx="1572768"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3611880" y="2002536"/>
            <a:ext cx="137160"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776472" y="1417320"/>
            <a:ext cx="1572768" cy="1371600"/>
          </a:xfrm>
          <a:prstGeom prst="roundRect">
            <a:avLst>
              <a:gd name="adj" fmla="val 8000"/>
            </a:avLst>
          </a:prstGeom>
          <a:solidFill>
            <a:srgbClr val="FFFFFF"/>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00" b="1">
                <a:solidFill>
                  <a:srgbClr val="002754"/>
                </a:solidFill>
                <a:latin typeface="Calibri"/>
              </a:rPr>
              <a:t>SKILLBENCH</a:t>
            </a:r>
          </a:p>
          <a:p>
            <a:pPr algn="ctr">
              <a:spcAft>
                <a:spcPts val="100"/>
              </a:spcAft>
            </a:pPr>
            <a:r>
              <a:rPr sz="1000" b="1">
                <a:solidFill>
                  <a:srgbClr val="002754"/>
                </a:solidFill>
                <a:latin typeface="Calibri"/>
              </a:rPr>
              <a:t>RESULTS DB</a:t>
            </a:r>
          </a:p>
          <a:p>
            <a:pPr algn="ctr">
              <a:spcAft>
                <a:spcPts val="100"/>
              </a:spcAft>
            </a:pPr>
            <a:r>
              <a:rPr sz="850" b="0">
                <a:solidFill>
                  <a:srgbClr val="5B6472"/>
                </a:solidFill>
                <a:latin typeface="Calibri"/>
              </a:rPr>
              <a:t>quality · time · $</a:t>
            </a:r>
          </a:p>
          <a:p>
            <a:pPr algn="ctr">
              <a:spcAft>
                <a:spcPts val="100"/>
              </a:spcAft>
            </a:pPr>
            <a:r>
              <a:rPr sz="850" b="0">
                <a:solidFill>
                  <a:srgbClr val="5B6472"/>
                </a:solidFill>
                <a:latin typeface="Calibri"/>
              </a:rPr>
              <a:t>per complexity tier</a:t>
            </a:r>
          </a:p>
        </p:txBody>
      </p:sp>
      <p:sp>
        <p:nvSpPr>
          <p:cNvPr id="13" name="Rectangle 12"/>
          <p:cNvSpPr/>
          <p:nvPr/>
        </p:nvSpPr>
        <p:spPr>
          <a:xfrm>
            <a:off x="3776472" y="1417320"/>
            <a:ext cx="1572768" cy="50292"/>
          </a:xfrm>
          <a:prstGeom prst="rect">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5385816" y="2002536"/>
            <a:ext cx="137160"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550408" y="1417320"/>
            <a:ext cx="1572768" cy="1371600"/>
          </a:xfrm>
          <a:prstGeom prst="roundRect">
            <a:avLst>
              <a:gd name="adj" fmla="val 8000"/>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00" b="1">
                <a:solidFill>
                  <a:srgbClr val="DAAA01"/>
                </a:solidFill>
                <a:latin typeface="Calibri"/>
              </a:rPr>
              <a:t>RECOMMENDER</a:t>
            </a:r>
          </a:p>
          <a:p>
            <a:pPr algn="ctr">
              <a:spcAft>
                <a:spcPts val="100"/>
              </a:spcAft>
            </a:pPr>
            <a:r>
              <a:rPr sz="850" b="0">
                <a:solidFill>
                  <a:srgbClr val="5B6472"/>
                </a:solidFill>
                <a:latin typeface="Calibri"/>
              </a:rPr>
              <a:t>matches profile</a:t>
            </a:r>
          </a:p>
          <a:p>
            <a:pPr algn="ctr">
              <a:spcAft>
                <a:spcPts val="100"/>
              </a:spcAft>
            </a:pPr>
            <a:r>
              <a:rPr sz="850" b="0">
                <a:solidFill>
                  <a:srgbClr val="5B6472"/>
                </a:solidFill>
                <a:latin typeface="Calibri"/>
              </a:rPr>
              <a:t>to results</a:t>
            </a:r>
          </a:p>
        </p:txBody>
      </p:sp>
      <p:sp>
        <p:nvSpPr>
          <p:cNvPr id="16" name="Rectangle 15"/>
          <p:cNvSpPr/>
          <p:nvPr/>
        </p:nvSpPr>
        <p:spPr>
          <a:xfrm>
            <a:off x="5550408" y="1417320"/>
            <a:ext cx="1572768"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7159752" y="2002536"/>
            <a:ext cx="137160"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24344" y="1417320"/>
            <a:ext cx="1572768" cy="1371600"/>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00" b="1">
                <a:solidFill>
                  <a:srgbClr val="002754"/>
                </a:solidFill>
                <a:latin typeface="Calibri"/>
              </a:rPr>
              <a:t>RANKED SKILLS</a:t>
            </a:r>
          </a:p>
          <a:p>
            <a:pPr algn="ctr">
              <a:spcAft>
                <a:spcPts val="100"/>
              </a:spcAft>
            </a:pPr>
            <a:r>
              <a:rPr sz="850" b="0">
                <a:solidFill>
                  <a:srgbClr val="002754"/>
                </a:solidFill>
                <a:latin typeface="Calibri"/>
              </a:rPr>
              <a:t>quality · time · cost</a:t>
            </a:r>
          </a:p>
          <a:p>
            <a:pPr algn="ctr">
              <a:spcAft>
                <a:spcPts val="100"/>
              </a:spcAft>
            </a:pPr>
            <a:r>
              <a:rPr sz="850" b="0">
                <a:solidFill>
                  <a:srgbClr val="002754"/>
                </a:solidFill>
                <a:latin typeface="Calibri"/>
              </a:rPr>
              <a:t>not a single winner</a:t>
            </a:r>
          </a:p>
        </p:txBody>
      </p:sp>
      <p:sp>
        <p:nvSpPr>
          <p:cNvPr id="19" name="Rectangle 18"/>
          <p:cNvSpPr/>
          <p:nvPr/>
        </p:nvSpPr>
        <p:spPr>
          <a:xfrm>
            <a:off x="7324344" y="1417320"/>
            <a:ext cx="1572768"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063240"/>
            <a:ext cx="8686800" cy="512064"/>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The benchmark feeds the recommender. What a user gets back is a ranked list for their own codebase.</a:t>
            </a:r>
          </a:p>
        </p:txBody>
      </p:sp>
      <p:sp>
        <p:nvSpPr>
          <p:cNvPr id="21" name="Rectangle 20"/>
          <p:cNvSpPr/>
          <p:nvPr/>
        </p:nvSpPr>
        <p:spPr>
          <a:xfrm>
            <a:off x="228600" y="3063240"/>
            <a:ext cx="50292" cy="512064"/>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20000"/>
            <a:ext cx="8686800" cy="430000"/>
          </a:xfrm>
          <a:prstGeom prst="rect">
            <a:avLst/>
          </a:prstGeom>
          <a:noFill/>
        </p:spPr>
        <p:txBody>
          <a:bodyPr wrap="square">
            <a:spAutoFit/>
          </a:bodyPr>
          <a:lstStyle/>
          <a:p>
            <a:r>
              <a:rPr sz="2400" b="1">
                <a:solidFill>
                  <a:srgbClr val="1155CC"/>
                </a:solidFill>
                <a:latin typeface="Lora"/>
              </a:rPr>
              <a:t>System Architecture</a:t>
            </a:r>
          </a:p>
        </p:txBody>
      </p:sp>
      <p:cxnSp>
        <p:nvCxnSpPr>
          <p:cNvPr id="3" name="Connector 2"/>
          <p:cNvCxnSpPr/>
          <p:nvPr/>
        </p:nvCxnSpPr>
        <p:spPr>
          <a:xfrm>
            <a:off x="228600" y="59000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logo_mark.png"/>
          <p:cNvPicPr>
            <a:picLocks noChangeAspect="1"/>
          </p:cNvPicPr>
          <p:nvPr/>
        </p:nvPicPr>
        <p:blipFill>
          <a:blip r:embed="rId2"/>
          <a:stretch>
            <a:fillRect/>
          </a:stretch>
        </p:blipFill>
        <p:spPr>
          <a:xfrm>
            <a:off x="8555400" y="90000"/>
            <a:ext cx="360000" cy="360000"/>
          </a:xfrm>
          <a:prstGeom prst="rect">
            <a:avLst/>
          </a:prstGeom>
        </p:spPr>
      </p:pic>
      <p:sp>
        <p:nvSpPr>
          <p:cNvPr id="5" name="TextBox 4"/>
          <p:cNvSpPr txBox="1"/>
          <p:nvPr/>
        </p:nvSpPr>
        <p:spPr>
          <a:xfrm>
            <a:off x="228600" y="700000"/>
            <a:ext cx="8686800" cy="420000"/>
          </a:xfrm>
          <a:prstGeom prst="rect">
            <a:avLst/>
          </a:prstGeom>
          <a:noFill/>
        </p:spPr>
        <p:txBody>
          <a:bodyPr wrap="square">
            <a:spAutoFit/>
          </a:bodyPr>
          <a:lstStyle/>
          <a:p>
            <a:pPr algn="l"/>
            <a:r>
              <a:rPr sz="1450" i="0">
                <a:solidFill>
                  <a:srgbClr val="000000"/>
                </a:solidFill>
                <a:latin typeface="Calibri"/>
              </a:rPr>
              <a:t>Each (skill, task) pair runs in an isolated sandbox; a metrics collector logs quality, time, and $ cost into the leaderboard and recommender API.</a:t>
            </a:r>
          </a:p>
        </p:txBody>
      </p:sp>
      <p:sp>
        <p:nvSpPr>
          <p:cNvPr id="6" name="Rounded Rectangle 5"/>
          <p:cNvSpPr/>
          <p:nvPr/>
        </p:nvSpPr>
        <p:spPr>
          <a:xfrm>
            <a:off x="228600" y="1417320"/>
            <a:ext cx="1965960" cy="1371600"/>
          </a:xfrm>
          <a:prstGeom prst="roundRect">
            <a:avLst>
              <a:gd name="adj" fmla="val 8000"/>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1">
                <a:solidFill>
                  <a:srgbClr val="5B6472"/>
                </a:solidFill>
                <a:latin typeface="Calibri"/>
              </a:rPr>
              <a:t>TASK SUITE</a:t>
            </a:r>
          </a:p>
          <a:p>
            <a:pPr algn="ctr">
              <a:spcAft>
                <a:spcPts val="100"/>
              </a:spcAft>
            </a:pPr>
            <a:r>
              <a:rPr sz="900" b="0">
                <a:solidFill>
                  <a:srgbClr val="5B6472"/>
                </a:solidFill>
                <a:latin typeface="Calibri"/>
              </a:rPr>
              <a:t>complexity-tiered</a:t>
            </a:r>
          </a:p>
          <a:p>
            <a:pPr algn="ctr">
              <a:spcAft>
                <a:spcPts val="100"/>
              </a:spcAft>
            </a:pPr>
            <a:r>
              <a:rPr sz="900" b="0">
                <a:solidFill>
                  <a:srgbClr val="5B6472"/>
                </a:solidFill>
                <a:latin typeface="Calibri"/>
              </a:rPr>
              <a:t>issues and repos</a:t>
            </a:r>
          </a:p>
        </p:txBody>
      </p:sp>
      <p:sp>
        <p:nvSpPr>
          <p:cNvPr id="7" name="Rectangle 6"/>
          <p:cNvSpPr/>
          <p:nvPr/>
        </p:nvSpPr>
        <p:spPr>
          <a:xfrm>
            <a:off x="228600" y="1417320"/>
            <a:ext cx="1965960" cy="5029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2231136" y="1993392"/>
            <a:ext cx="164592" cy="219456"/>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441448" y="1417320"/>
            <a:ext cx="1965960" cy="1371600"/>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1">
                <a:solidFill>
                  <a:srgbClr val="1155CC"/>
                </a:solidFill>
                <a:latin typeface="Calibri"/>
              </a:rPr>
              <a:t>SANDBOXED</a:t>
            </a:r>
          </a:p>
          <a:p>
            <a:pPr algn="ctr">
              <a:spcAft>
                <a:spcPts val="100"/>
              </a:spcAft>
            </a:pPr>
            <a:r>
              <a:rPr sz="1050" b="1">
                <a:solidFill>
                  <a:srgbClr val="1155CC"/>
                </a:solidFill>
                <a:latin typeface="Calibri"/>
              </a:rPr>
              <a:t>SKILL RUNNER</a:t>
            </a:r>
          </a:p>
          <a:p>
            <a:pPr algn="ctr">
              <a:spcAft>
                <a:spcPts val="100"/>
              </a:spcAft>
            </a:pPr>
            <a:r>
              <a:rPr sz="900" b="0">
                <a:solidFill>
                  <a:srgbClr val="5B6472"/>
                </a:solidFill>
                <a:latin typeface="Calibri"/>
              </a:rPr>
              <a:t>one isolated run per</a:t>
            </a:r>
          </a:p>
          <a:p>
            <a:pPr algn="ctr">
              <a:spcAft>
                <a:spcPts val="100"/>
              </a:spcAft>
            </a:pPr>
            <a:r>
              <a:rPr sz="900" b="0">
                <a:solidFill>
                  <a:srgbClr val="5B6472"/>
                </a:solidFill>
                <a:latin typeface="Calibri"/>
              </a:rPr>
              <a:t>(skill, task) pair</a:t>
            </a:r>
          </a:p>
        </p:txBody>
      </p:sp>
      <p:sp>
        <p:nvSpPr>
          <p:cNvPr id="10" name="Rectangle 9"/>
          <p:cNvSpPr/>
          <p:nvPr/>
        </p:nvSpPr>
        <p:spPr>
          <a:xfrm>
            <a:off x="2441448" y="1417320"/>
            <a:ext cx="1965960"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4443983" y="1993392"/>
            <a:ext cx="164592" cy="219456"/>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54296" y="1417320"/>
            <a:ext cx="1965960" cy="1371600"/>
          </a:xfrm>
          <a:prstGeom prst="roundRect">
            <a:avLst>
              <a:gd name="adj" fmla="val 8000"/>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1">
                <a:solidFill>
                  <a:srgbClr val="DAAA01"/>
                </a:solidFill>
                <a:latin typeface="Calibri"/>
              </a:rPr>
              <a:t>METRICS</a:t>
            </a:r>
          </a:p>
          <a:p>
            <a:pPr algn="ctr">
              <a:spcAft>
                <a:spcPts val="100"/>
              </a:spcAft>
            </a:pPr>
            <a:r>
              <a:rPr sz="1050" b="1">
                <a:solidFill>
                  <a:srgbClr val="DAAA01"/>
                </a:solidFill>
                <a:latin typeface="Calibri"/>
              </a:rPr>
              <a:t>COLLECTOR</a:t>
            </a:r>
          </a:p>
          <a:p>
            <a:pPr algn="ctr">
              <a:spcAft>
                <a:spcPts val="100"/>
              </a:spcAft>
            </a:pPr>
            <a:r>
              <a:rPr sz="900" b="0">
                <a:solidFill>
                  <a:srgbClr val="5B6472"/>
                </a:solidFill>
                <a:latin typeface="Calibri"/>
              </a:rPr>
              <a:t>quality · time · $</a:t>
            </a:r>
          </a:p>
          <a:p>
            <a:pPr algn="ctr">
              <a:spcAft>
                <a:spcPts val="100"/>
              </a:spcAft>
            </a:pPr>
            <a:r>
              <a:rPr sz="900" b="0">
                <a:solidFill>
                  <a:srgbClr val="5B6472"/>
                </a:solidFill>
                <a:latin typeface="Calibri"/>
              </a:rPr>
              <a:t>logged per run</a:t>
            </a:r>
          </a:p>
        </p:txBody>
      </p:sp>
      <p:sp>
        <p:nvSpPr>
          <p:cNvPr id="13" name="Rectangle 12"/>
          <p:cNvSpPr/>
          <p:nvPr/>
        </p:nvSpPr>
        <p:spPr>
          <a:xfrm>
            <a:off x="4654296" y="1417320"/>
            <a:ext cx="1965960"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6656831" y="1993392"/>
            <a:ext cx="164592" cy="219456"/>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867144" y="1417320"/>
            <a:ext cx="1965960" cy="1371600"/>
          </a:xfrm>
          <a:prstGeom prst="roundRect">
            <a:avLst>
              <a:gd name="adj" fmla="val 8000"/>
            </a:avLst>
          </a:prstGeom>
          <a:solidFill>
            <a:srgbClr val="FFFFFF"/>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1">
                <a:solidFill>
                  <a:srgbClr val="002754"/>
                </a:solidFill>
                <a:latin typeface="Calibri"/>
              </a:rPr>
              <a:t>LEADERBOARD +</a:t>
            </a:r>
          </a:p>
          <a:p>
            <a:pPr algn="ctr">
              <a:spcAft>
                <a:spcPts val="100"/>
              </a:spcAft>
            </a:pPr>
            <a:r>
              <a:rPr sz="1050" b="1">
                <a:solidFill>
                  <a:srgbClr val="002754"/>
                </a:solidFill>
                <a:latin typeface="Calibri"/>
              </a:rPr>
              <a:t>RECOMMENDER API</a:t>
            </a:r>
          </a:p>
          <a:p>
            <a:pPr algn="ctr">
              <a:spcAft>
                <a:spcPts val="100"/>
              </a:spcAft>
            </a:pPr>
            <a:r>
              <a:rPr sz="900" b="0">
                <a:solidFill>
                  <a:srgbClr val="5B6472"/>
                </a:solidFill>
                <a:latin typeface="Calibri"/>
              </a:rPr>
              <a:t>public results,</a:t>
            </a:r>
          </a:p>
          <a:p>
            <a:pPr algn="ctr">
              <a:spcAft>
                <a:spcPts val="100"/>
              </a:spcAft>
            </a:pPr>
            <a:r>
              <a:rPr sz="900" b="0">
                <a:solidFill>
                  <a:srgbClr val="5B6472"/>
                </a:solidFill>
                <a:latin typeface="Calibri"/>
              </a:rPr>
              <a:t>queryable</a:t>
            </a:r>
          </a:p>
        </p:txBody>
      </p:sp>
      <p:sp>
        <p:nvSpPr>
          <p:cNvPr id="16" name="Rectangle 15"/>
          <p:cNvSpPr/>
          <p:nvPr/>
        </p:nvSpPr>
        <p:spPr>
          <a:xfrm>
            <a:off x="6867144" y="1417320"/>
            <a:ext cx="1965960" cy="50292"/>
          </a:xfrm>
          <a:prstGeom prst="rect">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108960"/>
            <a:ext cx="8686800" cy="512064"/>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Every run is isolated, so cost and quality can be attributed to that skill alone. Study 2 reuses the same instrumentation.</a:t>
            </a:r>
          </a:p>
        </p:txBody>
      </p:sp>
      <p:sp>
        <p:nvSpPr>
          <p:cNvPr id="18" name="Rectangle 17"/>
          <p:cNvSpPr/>
          <p:nvPr/>
        </p:nvSpPr>
        <p:spPr>
          <a:xfrm>
            <a:off x="228600" y="3108960"/>
            <a:ext cx="50292" cy="512064"/>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20000"/>
            <a:ext cx="8686800" cy="430000"/>
          </a:xfrm>
          <a:prstGeom prst="rect">
            <a:avLst/>
          </a:prstGeom>
          <a:noFill/>
        </p:spPr>
        <p:txBody>
          <a:bodyPr wrap="square">
            <a:spAutoFit/>
          </a:bodyPr>
          <a:lstStyle/>
          <a:p>
            <a:r>
              <a:rPr sz="2400" b="1">
                <a:solidFill>
                  <a:srgbClr val="1155CC"/>
                </a:solidFill>
                <a:latin typeface="Lora"/>
              </a:rPr>
              <a:t>How AIGovernanceBench Differs</a:t>
            </a:r>
          </a:p>
        </p:txBody>
      </p:sp>
      <p:cxnSp>
        <p:nvCxnSpPr>
          <p:cNvPr id="3" name="Connector 2"/>
          <p:cNvCxnSpPr/>
          <p:nvPr/>
        </p:nvCxnSpPr>
        <p:spPr>
          <a:xfrm>
            <a:off x="228600" y="59000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logo_mark.png"/>
          <p:cNvPicPr>
            <a:picLocks noChangeAspect="1"/>
          </p:cNvPicPr>
          <p:nvPr/>
        </p:nvPicPr>
        <p:blipFill>
          <a:blip r:embed="rId2"/>
          <a:stretch>
            <a:fillRect/>
          </a:stretch>
        </p:blipFill>
        <p:spPr>
          <a:xfrm>
            <a:off x="8555400" y="90000"/>
            <a:ext cx="360000" cy="360000"/>
          </a:xfrm>
          <a:prstGeom prst="rect">
            <a:avLst/>
          </a:prstGeom>
        </p:spPr>
      </p:pic>
      <p:sp>
        <p:nvSpPr>
          <p:cNvPr id="5" name="TextBox 4"/>
          <p:cNvSpPr txBox="1"/>
          <p:nvPr/>
        </p:nvSpPr>
        <p:spPr>
          <a:xfrm>
            <a:off x="228600" y="700000"/>
            <a:ext cx="8686800" cy="420000"/>
          </a:xfrm>
          <a:prstGeom prst="rect">
            <a:avLst/>
          </a:prstGeom>
          <a:noFill/>
        </p:spPr>
        <p:txBody>
          <a:bodyPr wrap="square">
            <a:spAutoFit/>
          </a:bodyPr>
          <a:lstStyle/>
          <a:p>
            <a:pPr algn="l"/>
            <a:r>
              <a:rPr sz="1450" i="0">
                <a:solidFill>
                  <a:srgbClr val="000000"/>
                </a:solidFill>
                <a:latin typeface="Calibri"/>
              </a:rPr>
              <a:t>Existing agent benchmarks score whole systems once — none isolate the skill, tier by complexity, or recommend.</a:t>
            </a:r>
          </a:p>
        </p:txBody>
      </p:sp>
      <p:sp>
        <p:nvSpPr>
          <p:cNvPr id="6" name="TextBox 5"/>
          <p:cNvSpPr txBox="1"/>
          <p:nvPr/>
        </p:nvSpPr>
        <p:spPr>
          <a:xfrm>
            <a:off x="3063240" y="1115568"/>
            <a:ext cx="1463040" cy="420624"/>
          </a:xfrm>
          <a:prstGeom prst="rect">
            <a:avLst/>
          </a:prstGeom>
          <a:noFill/>
        </p:spPr>
        <p:txBody>
          <a:bodyPr wrap="square">
            <a:spAutoFit/>
          </a:bodyPr>
          <a:lstStyle/>
          <a:p>
            <a:pPr algn="ctr"/>
            <a:r>
              <a:rPr sz="1000" b="1">
                <a:solidFill>
                  <a:srgbClr val="002754"/>
                </a:solidFill>
                <a:latin typeface="Calibri"/>
              </a:rPr>
              <a:t>Unit of</a:t>
            </a:r>
          </a:p>
          <a:p>
            <a:pPr algn="ctr"/>
            <a:r>
              <a:rPr sz="1000" b="1">
                <a:solidFill>
                  <a:srgbClr val="002754"/>
                </a:solidFill>
                <a:latin typeface="Calibri"/>
              </a:rPr>
              <a:t>evaluation</a:t>
            </a:r>
          </a:p>
        </p:txBody>
      </p:sp>
      <p:sp>
        <p:nvSpPr>
          <p:cNvPr id="7" name="TextBox 6"/>
          <p:cNvSpPr txBox="1"/>
          <p:nvPr/>
        </p:nvSpPr>
        <p:spPr>
          <a:xfrm>
            <a:off x="4526280" y="1115568"/>
            <a:ext cx="1463040" cy="420624"/>
          </a:xfrm>
          <a:prstGeom prst="rect">
            <a:avLst/>
          </a:prstGeom>
          <a:noFill/>
        </p:spPr>
        <p:txBody>
          <a:bodyPr wrap="square">
            <a:spAutoFit/>
          </a:bodyPr>
          <a:lstStyle/>
          <a:p>
            <a:pPr algn="ctr"/>
            <a:r>
              <a:rPr sz="1000" b="1">
                <a:solidFill>
                  <a:srgbClr val="002754"/>
                </a:solidFill>
                <a:latin typeface="Calibri"/>
              </a:rPr>
              <a:t>Cost-</a:t>
            </a:r>
          </a:p>
          <a:p>
            <a:pPr algn="ctr"/>
            <a:r>
              <a:rPr sz="1000" b="1">
                <a:solidFill>
                  <a:srgbClr val="002754"/>
                </a:solidFill>
                <a:latin typeface="Calibri"/>
              </a:rPr>
              <a:t>aware?</a:t>
            </a:r>
          </a:p>
        </p:txBody>
      </p:sp>
      <p:sp>
        <p:nvSpPr>
          <p:cNvPr id="8" name="TextBox 7"/>
          <p:cNvSpPr txBox="1"/>
          <p:nvPr/>
        </p:nvSpPr>
        <p:spPr>
          <a:xfrm>
            <a:off x="5989320" y="1115568"/>
            <a:ext cx="1463040" cy="420624"/>
          </a:xfrm>
          <a:prstGeom prst="rect">
            <a:avLst/>
          </a:prstGeom>
          <a:noFill/>
        </p:spPr>
        <p:txBody>
          <a:bodyPr wrap="square">
            <a:spAutoFit/>
          </a:bodyPr>
          <a:lstStyle/>
          <a:p>
            <a:pPr algn="ctr"/>
            <a:r>
              <a:rPr sz="1000" b="1">
                <a:solidFill>
                  <a:srgbClr val="002754"/>
                </a:solidFill>
                <a:latin typeface="Calibri"/>
              </a:rPr>
              <a:t>Complexity-</a:t>
            </a:r>
          </a:p>
          <a:p>
            <a:pPr algn="ctr"/>
            <a:r>
              <a:rPr sz="1000" b="1">
                <a:solidFill>
                  <a:srgbClr val="002754"/>
                </a:solidFill>
                <a:latin typeface="Calibri"/>
              </a:rPr>
              <a:t>tiered?</a:t>
            </a:r>
          </a:p>
        </p:txBody>
      </p:sp>
      <p:sp>
        <p:nvSpPr>
          <p:cNvPr id="9" name="TextBox 8"/>
          <p:cNvSpPr txBox="1"/>
          <p:nvPr/>
        </p:nvSpPr>
        <p:spPr>
          <a:xfrm>
            <a:off x="7452360" y="1115568"/>
            <a:ext cx="1463040" cy="420624"/>
          </a:xfrm>
          <a:prstGeom prst="rect">
            <a:avLst/>
          </a:prstGeom>
          <a:noFill/>
        </p:spPr>
        <p:txBody>
          <a:bodyPr wrap="square">
            <a:spAutoFit/>
          </a:bodyPr>
          <a:lstStyle/>
          <a:p>
            <a:pPr algn="ctr"/>
            <a:r>
              <a:rPr sz="1000" b="1">
                <a:solidFill>
                  <a:srgbClr val="002754"/>
                </a:solidFill>
                <a:latin typeface="Calibri"/>
              </a:rPr>
              <a:t>Recommends</a:t>
            </a:r>
          </a:p>
          <a:p>
            <a:pPr algn="ctr"/>
            <a:r>
              <a:rPr sz="1000" b="1">
                <a:solidFill>
                  <a:srgbClr val="002754"/>
                </a:solidFill>
                <a:latin typeface="Calibri"/>
              </a:rPr>
              <a:t>skills?</a:t>
            </a:r>
          </a:p>
        </p:txBody>
      </p:sp>
      <p:sp>
        <p:nvSpPr>
          <p:cNvPr id="10" name="Rounded Rectangle 9"/>
          <p:cNvSpPr/>
          <p:nvPr/>
        </p:nvSpPr>
        <p:spPr>
          <a:xfrm>
            <a:off x="228600" y="1645920"/>
            <a:ext cx="2743200" cy="566928"/>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50" b="1">
                <a:solidFill>
                  <a:srgbClr val="002754"/>
                </a:solidFill>
                <a:latin typeface="Calibri"/>
              </a:rPr>
              <a:t>SWE-bench / Pro</a:t>
            </a:r>
          </a:p>
        </p:txBody>
      </p:sp>
      <p:sp>
        <p:nvSpPr>
          <p:cNvPr id="11" name="Rounded Rectangle 10"/>
          <p:cNvSpPr/>
          <p:nvPr/>
        </p:nvSpPr>
        <p:spPr>
          <a:xfrm>
            <a:off x="3108960" y="1645920"/>
            <a:ext cx="1371600" cy="56692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5B6472"/>
                </a:solidFill>
                <a:latin typeface="Calibri"/>
              </a:rPr>
              <a:t>whole agent</a:t>
            </a:r>
          </a:p>
        </p:txBody>
      </p:sp>
      <p:sp>
        <p:nvSpPr>
          <p:cNvPr id="12" name="Rounded Rectangle 11"/>
          <p:cNvSpPr/>
          <p:nvPr/>
        </p:nvSpPr>
        <p:spPr>
          <a:xfrm>
            <a:off x="4572000" y="1645920"/>
            <a:ext cx="1371600" cy="566928"/>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B03030"/>
                </a:solidFill>
                <a:latin typeface="Calibri"/>
              </a:rPr>
              <a:t>no</a:t>
            </a:r>
          </a:p>
        </p:txBody>
      </p:sp>
      <p:sp>
        <p:nvSpPr>
          <p:cNvPr id="13" name="Rounded Rectangle 12"/>
          <p:cNvSpPr/>
          <p:nvPr/>
        </p:nvSpPr>
        <p:spPr>
          <a:xfrm>
            <a:off x="6035040" y="1645920"/>
            <a:ext cx="1371600" cy="566928"/>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B03030"/>
                </a:solidFill>
                <a:latin typeface="Calibri"/>
              </a:rPr>
              <a:t>no</a:t>
            </a:r>
          </a:p>
        </p:txBody>
      </p:sp>
      <p:sp>
        <p:nvSpPr>
          <p:cNvPr id="14" name="Rounded Rectangle 13"/>
          <p:cNvSpPr/>
          <p:nvPr/>
        </p:nvSpPr>
        <p:spPr>
          <a:xfrm>
            <a:off x="7498080" y="1645920"/>
            <a:ext cx="1371600" cy="566928"/>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B03030"/>
                </a:solidFill>
                <a:latin typeface="Calibri"/>
              </a:rPr>
              <a:t>no</a:t>
            </a:r>
          </a:p>
        </p:txBody>
      </p:sp>
      <p:sp>
        <p:nvSpPr>
          <p:cNvPr id="15" name="Rounded Rectangle 14"/>
          <p:cNvSpPr/>
          <p:nvPr/>
        </p:nvSpPr>
        <p:spPr>
          <a:xfrm>
            <a:off x="228600" y="2304288"/>
            <a:ext cx="2743200" cy="566928"/>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50" b="1">
                <a:solidFill>
                  <a:srgbClr val="002754"/>
                </a:solidFill>
                <a:latin typeface="Calibri"/>
              </a:rPr>
              <a:t>AgentBench</a:t>
            </a:r>
          </a:p>
        </p:txBody>
      </p:sp>
      <p:sp>
        <p:nvSpPr>
          <p:cNvPr id="16" name="Rounded Rectangle 15"/>
          <p:cNvSpPr/>
          <p:nvPr/>
        </p:nvSpPr>
        <p:spPr>
          <a:xfrm>
            <a:off x="3108960" y="2304288"/>
            <a:ext cx="1371600" cy="56692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5B6472"/>
                </a:solidFill>
                <a:latin typeface="Calibri"/>
              </a:rPr>
              <a:t>whole agent</a:t>
            </a:r>
          </a:p>
        </p:txBody>
      </p:sp>
      <p:sp>
        <p:nvSpPr>
          <p:cNvPr id="17" name="Rounded Rectangle 16"/>
          <p:cNvSpPr/>
          <p:nvPr/>
        </p:nvSpPr>
        <p:spPr>
          <a:xfrm>
            <a:off x="4572000" y="2304288"/>
            <a:ext cx="1371600" cy="56692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5B6472"/>
                </a:solidFill>
                <a:latin typeface="Calibri"/>
              </a:rPr>
              <a:t>partial</a:t>
            </a:r>
          </a:p>
        </p:txBody>
      </p:sp>
      <p:sp>
        <p:nvSpPr>
          <p:cNvPr id="18" name="Rounded Rectangle 17"/>
          <p:cNvSpPr/>
          <p:nvPr/>
        </p:nvSpPr>
        <p:spPr>
          <a:xfrm>
            <a:off x="6035040" y="2304288"/>
            <a:ext cx="1371600" cy="566928"/>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B03030"/>
                </a:solidFill>
                <a:latin typeface="Calibri"/>
              </a:rPr>
              <a:t>no</a:t>
            </a:r>
          </a:p>
        </p:txBody>
      </p:sp>
      <p:sp>
        <p:nvSpPr>
          <p:cNvPr id="19" name="Rounded Rectangle 18"/>
          <p:cNvSpPr/>
          <p:nvPr/>
        </p:nvSpPr>
        <p:spPr>
          <a:xfrm>
            <a:off x="7498080" y="2304288"/>
            <a:ext cx="1371600" cy="566928"/>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B03030"/>
                </a:solidFill>
                <a:latin typeface="Calibri"/>
              </a:rPr>
              <a:t>no</a:t>
            </a:r>
          </a:p>
        </p:txBody>
      </p:sp>
      <p:sp>
        <p:nvSpPr>
          <p:cNvPr id="20" name="Rounded Rectangle 19"/>
          <p:cNvSpPr/>
          <p:nvPr/>
        </p:nvSpPr>
        <p:spPr>
          <a:xfrm>
            <a:off x="228600" y="2962656"/>
            <a:ext cx="2743200" cy="566928"/>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50" b="1">
                <a:solidFill>
                  <a:srgbClr val="002754"/>
                </a:solidFill>
                <a:latin typeface="Calibri"/>
              </a:rPr>
              <a:t>ToolBench</a:t>
            </a:r>
          </a:p>
        </p:txBody>
      </p:sp>
      <p:sp>
        <p:nvSpPr>
          <p:cNvPr id="21" name="Rounded Rectangle 20"/>
          <p:cNvSpPr/>
          <p:nvPr/>
        </p:nvSpPr>
        <p:spPr>
          <a:xfrm>
            <a:off x="3108960" y="2962656"/>
            <a:ext cx="1371600" cy="56692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5B6472"/>
                </a:solidFill>
                <a:latin typeface="Calibri"/>
              </a:rPr>
              <a:t>tool call</a:t>
            </a:r>
          </a:p>
        </p:txBody>
      </p:sp>
      <p:sp>
        <p:nvSpPr>
          <p:cNvPr id="22" name="Rounded Rectangle 21"/>
          <p:cNvSpPr/>
          <p:nvPr/>
        </p:nvSpPr>
        <p:spPr>
          <a:xfrm>
            <a:off x="4572000" y="2962656"/>
            <a:ext cx="1371600" cy="566928"/>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B03030"/>
                </a:solidFill>
                <a:latin typeface="Calibri"/>
              </a:rPr>
              <a:t>no</a:t>
            </a:r>
          </a:p>
        </p:txBody>
      </p:sp>
      <p:sp>
        <p:nvSpPr>
          <p:cNvPr id="23" name="Rounded Rectangle 22"/>
          <p:cNvSpPr/>
          <p:nvPr/>
        </p:nvSpPr>
        <p:spPr>
          <a:xfrm>
            <a:off x="6035040" y="2962656"/>
            <a:ext cx="1371600" cy="566928"/>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B03030"/>
                </a:solidFill>
                <a:latin typeface="Calibri"/>
              </a:rPr>
              <a:t>no</a:t>
            </a:r>
          </a:p>
        </p:txBody>
      </p:sp>
      <p:sp>
        <p:nvSpPr>
          <p:cNvPr id="24" name="Rounded Rectangle 23"/>
          <p:cNvSpPr/>
          <p:nvPr/>
        </p:nvSpPr>
        <p:spPr>
          <a:xfrm>
            <a:off x="7498080" y="2962656"/>
            <a:ext cx="1371600" cy="566928"/>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0">
                <a:solidFill>
                  <a:srgbClr val="B03030"/>
                </a:solidFill>
                <a:latin typeface="Calibri"/>
              </a:rPr>
              <a:t>no</a:t>
            </a:r>
          </a:p>
        </p:txBody>
      </p:sp>
      <p:sp>
        <p:nvSpPr>
          <p:cNvPr id="25" name="Rounded Rectangle 24"/>
          <p:cNvSpPr/>
          <p:nvPr/>
        </p:nvSpPr>
        <p:spPr>
          <a:xfrm>
            <a:off x="228600" y="3621024"/>
            <a:ext cx="2743200" cy="566928"/>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150" b="1">
                <a:solidFill>
                  <a:srgbClr val="002754"/>
                </a:solidFill>
                <a:latin typeface="Calibri"/>
              </a:rPr>
              <a:t>AIGovernanceBench</a:t>
            </a:r>
          </a:p>
        </p:txBody>
      </p:sp>
      <p:sp>
        <p:nvSpPr>
          <p:cNvPr id="26" name="Rounded Rectangle 25"/>
          <p:cNvSpPr/>
          <p:nvPr/>
        </p:nvSpPr>
        <p:spPr>
          <a:xfrm>
            <a:off x="3108960" y="3621024"/>
            <a:ext cx="1371600" cy="566928"/>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1">
                <a:solidFill>
                  <a:srgbClr val="002754"/>
                </a:solidFill>
                <a:latin typeface="Calibri"/>
              </a:rPr>
              <a:t>individual skill</a:t>
            </a:r>
          </a:p>
        </p:txBody>
      </p:sp>
      <p:sp>
        <p:nvSpPr>
          <p:cNvPr id="27" name="Rounded Rectangle 26"/>
          <p:cNvSpPr/>
          <p:nvPr/>
        </p:nvSpPr>
        <p:spPr>
          <a:xfrm>
            <a:off x="4572000" y="3621024"/>
            <a:ext cx="1371600" cy="566928"/>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1">
                <a:solidFill>
                  <a:srgbClr val="002754"/>
                </a:solidFill>
                <a:latin typeface="Calibri"/>
              </a:rPr>
              <a:t>yes</a:t>
            </a:r>
          </a:p>
        </p:txBody>
      </p:sp>
      <p:sp>
        <p:nvSpPr>
          <p:cNvPr id="28" name="Rounded Rectangle 27"/>
          <p:cNvSpPr/>
          <p:nvPr/>
        </p:nvSpPr>
        <p:spPr>
          <a:xfrm>
            <a:off x="6035040" y="3621024"/>
            <a:ext cx="1371600" cy="566928"/>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1">
                <a:solidFill>
                  <a:srgbClr val="002754"/>
                </a:solidFill>
                <a:latin typeface="Calibri"/>
              </a:rPr>
              <a:t>yes</a:t>
            </a:r>
          </a:p>
        </p:txBody>
      </p:sp>
      <p:sp>
        <p:nvSpPr>
          <p:cNvPr id="29" name="Rounded Rectangle 28"/>
          <p:cNvSpPr/>
          <p:nvPr/>
        </p:nvSpPr>
        <p:spPr>
          <a:xfrm>
            <a:off x="7498080" y="3621024"/>
            <a:ext cx="1371600" cy="566928"/>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050" b="1">
                <a:solidFill>
                  <a:srgbClr val="002754"/>
                </a:solidFill>
                <a:latin typeface="Calibri"/>
              </a:rPr>
              <a:t>yes</a:t>
            </a:r>
          </a:p>
        </p:txBody>
      </p:sp>
      <p:sp>
        <p:nvSpPr>
          <p:cNvPr id="30" name="Rectangle 29"/>
          <p:cNvSpPr/>
          <p:nvPr/>
        </p:nvSpPr>
        <p:spPr>
          <a:xfrm>
            <a:off x="228600" y="4443984"/>
            <a:ext cx="8686800" cy="475488"/>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AIGovernanceBench is the only one that evaluates the skill itself, and the only one that turns its results into a recommendation.</a:t>
            </a:r>
          </a:p>
        </p:txBody>
      </p:sp>
      <p:sp>
        <p:nvSpPr>
          <p:cNvPr id="31" name="Rectangle 30"/>
          <p:cNvSpPr/>
          <p:nvPr/>
        </p:nvSpPr>
        <p:spPr>
          <a:xfrm>
            <a:off x="228600" y="4443984"/>
            <a:ext cx="50292" cy="475488"/>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20000"/>
            <a:ext cx="8686800" cy="430000"/>
          </a:xfrm>
          <a:prstGeom prst="rect">
            <a:avLst/>
          </a:prstGeom>
          <a:noFill/>
        </p:spPr>
        <p:txBody>
          <a:bodyPr wrap="square">
            <a:spAutoFit/>
          </a:bodyPr>
          <a:lstStyle/>
          <a:p>
            <a:r>
              <a:rPr sz="2400" b="1">
                <a:solidFill>
                  <a:srgbClr val="1155CC"/>
                </a:solidFill>
                <a:latin typeface="Lora"/>
              </a:rPr>
              <a:t>Study 1 · Roadmap</a:t>
            </a:r>
          </a:p>
        </p:txBody>
      </p:sp>
      <p:cxnSp>
        <p:nvCxnSpPr>
          <p:cNvPr id="3" name="Connector 2"/>
          <p:cNvCxnSpPr/>
          <p:nvPr/>
        </p:nvCxnSpPr>
        <p:spPr>
          <a:xfrm>
            <a:off x="228600" y="59000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logo_mark.png"/>
          <p:cNvPicPr>
            <a:picLocks noChangeAspect="1"/>
          </p:cNvPicPr>
          <p:nvPr/>
        </p:nvPicPr>
        <p:blipFill>
          <a:blip r:embed="rId2"/>
          <a:stretch>
            <a:fillRect/>
          </a:stretch>
        </p:blipFill>
        <p:spPr>
          <a:xfrm>
            <a:off x="8555400" y="90000"/>
            <a:ext cx="360000" cy="360000"/>
          </a:xfrm>
          <a:prstGeom prst="rect">
            <a:avLst/>
          </a:prstGeom>
        </p:spPr>
      </p:pic>
      <p:sp>
        <p:nvSpPr>
          <p:cNvPr id="5" name="Rectangle 4"/>
          <p:cNvSpPr/>
          <p:nvPr/>
        </p:nvSpPr>
        <p:spPr>
          <a:xfrm>
            <a:off x="822960" y="1481328"/>
            <a:ext cx="7498079" cy="32004"/>
          </a:xfrm>
          <a:prstGeom prst="rect">
            <a:avLst/>
          </a:prstGeom>
          <a:solidFill>
            <a:srgbClr val="D5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2184" y="1316736"/>
            <a:ext cx="292608" cy="292608"/>
          </a:xfrm>
          <a:prstGeom prst="ellipse">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28600" y="1773936"/>
            <a:ext cx="2770632" cy="1481328"/>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00" b="1">
                <a:solidFill>
                  <a:srgbClr val="1155CC"/>
                </a:solidFill>
                <a:latin typeface="Calibri"/>
              </a:rPr>
              <a:t>PHASE 1</a:t>
            </a:r>
          </a:p>
          <a:p>
            <a:pPr algn="ctr">
              <a:spcAft>
                <a:spcPts val="100"/>
              </a:spcAft>
            </a:pPr>
            <a:r>
              <a:rPr sz="1000" b="0">
                <a:solidFill>
                  <a:srgbClr val="5B6472"/>
                </a:solidFill>
                <a:latin typeface="Calibri"/>
              </a:rPr>
              <a:t>Curate complexity-tiered task suite</a:t>
            </a:r>
          </a:p>
          <a:p>
            <a:pPr algn="ctr">
              <a:spcAft>
                <a:spcPts val="100"/>
              </a:spcAft>
            </a:pPr>
            <a:r>
              <a:rPr sz="1000" b="0">
                <a:solidFill>
                  <a:srgbClr val="5B6472"/>
                </a:solidFill>
                <a:latin typeface="Calibri"/>
              </a:rPr>
              <a:t/>
            </a:r>
          </a:p>
          <a:p>
            <a:pPr algn="ctr">
              <a:spcAft>
                <a:spcPts val="100"/>
              </a:spcAft>
            </a:pPr>
            <a:r>
              <a:rPr sz="1000" b="0">
                <a:solidFill>
                  <a:srgbClr val="5B6472"/>
                </a:solidFill>
                <a:latin typeface="Calibri"/>
              </a:rPr>
              <a:t>issues and repos</a:t>
            </a:r>
          </a:p>
          <a:p>
            <a:pPr algn="ctr">
              <a:spcAft>
                <a:spcPts val="100"/>
              </a:spcAft>
            </a:pPr>
            <a:r>
              <a:rPr sz="1000" b="0">
                <a:solidFill>
                  <a:srgbClr val="5B6472"/>
                </a:solidFill>
                <a:latin typeface="Calibri"/>
              </a:rPr>
              <a:t>across 3 tiers</a:t>
            </a:r>
          </a:p>
        </p:txBody>
      </p:sp>
      <p:sp>
        <p:nvSpPr>
          <p:cNvPr id="8" name="Rectangle 7"/>
          <p:cNvSpPr/>
          <p:nvPr/>
        </p:nvSpPr>
        <p:spPr>
          <a:xfrm>
            <a:off x="228600" y="1773936"/>
            <a:ext cx="2770632"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407408" y="1316736"/>
            <a:ext cx="292608" cy="292608"/>
          </a:xfrm>
          <a:prstGeom prst="ellipse">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163824" y="1773936"/>
            <a:ext cx="2770632" cy="1481328"/>
          </a:xfrm>
          <a:prstGeom prst="roundRect">
            <a:avLst>
              <a:gd name="adj" fmla="val 8000"/>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00" b="1">
                <a:solidFill>
                  <a:srgbClr val="DAAA01"/>
                </a:solidFill>
                <a:latin typeface="Calibri"/>
              </a:rPr>
              <a:t>PHASE 2</a:t>
            </a:r>
          </a:p>
          <a:p>
            <a:pPr algn="ctr">
              <a:spcAft>
                <a:spcPts val="100"/>
              </a:spcAft>
            </a:pPr>
            <a:r>
              <a:rPr sz="1000" b="0">
                <a:solidFill>
                  <a:srgbClr val="5B6472"/>
                </a:solidFill>
                <a:latin typeface="Calibri"/>
              </a:rPr>
              <a:t>Instrument 10–15 skills, run benchmark</a:t>
            </a:r>
          </a:p>
          <a:p>
            <a:pPr algn="ctr">
              <a:spcAft>
                <a:spcPts val="100"/>
              </a:spcAft>
            </a:pPr>
            <a:r>
              <a:rPr sz="1000" b="0">
                <a:solidFill>
                  <a:srgbClr val="5B6472"/>
                </a:solidFill>
                <a:latin typeface="Calibri"/>
              </a:rPr>
              <a:t/>
            </a:r>
          </a:p>
          <a:p>
            <a:pPr algn="ctr">
              <a:spcAft>
                <a:spcPts val="100"/>
              </a:spcAft>
            </a:pPr>
            <a:r>
              <a:rPr sz="1000" b="0">
                <a:solidFill>
                  <a:srgbClr val="5B6472"/>
                </a:solidFill>
                <a:latin typeface="Calibri"/>
              </a:rPr>
              <a:t>isolated sandbox runs</a:t>
            </a:r>
          </a:p>
          <a:p>
            <a:pPr algn="ctr">
              <a:spcAft>
                <a:spcPts val="100"/>
              </a:spcAft>
            </a:pPr>
            <a:r>
              <a:rPr sz="1000" b="0">
                <a:solidFill>
                  <a:srgbClr val="5B6472"/>
                </a:solidFill>
                <a:latin typeface="Calibri"/>
              </a:rPr>
              <a:t>quality · time · $ logged</a:t>
            </a:r>
          </a:p>
        </p:txBody>
      </p:sp>
      <p:sp>
        <p:nvSpPr>
          <p:cNvPr id="11" name="Rectangle 10"/>
          <p:cNvSpPr/>
          <p:nvPr/>
        </p:nvSpPr>
        <p:spPr>
          <a:xfrm>
            <a:off x="3163824" y="1773936"/>
            <a:ext cx="2770632"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42631" y="1316736"/>
            <a:ext cx="292608" cy="292608"/>
          </a:xfrm>
          <a:prstGeom prst="ellipse">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099048" y="1773936"/>
            <a:ext cx="2770632" cy="1481328"/>
          </a:xfrm>
          <a:prstGeom prst="roundRect">
            <a:avLst>
              <a:gd name="adj" fmla="val 8000"/>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00" b="1">
                <a:solidFill>
                  <a:srgbClr val="1E7A3C"/>
                </a:solidFill>
                <a:latin typeface="Calibri"/>
              </a:rPr>
              <a:t>PHASE 3</a:t>
            </a:r>
          </a:p>
          <a:p>
            <a:pPr algn="ctr">
              <a:spcAft>
                <a:spcPts val="100"/>
              </a:spcAft>
            </a:pPr>
            <a:r>
              <a:rPr sz="1000" b="0">
                <a:solidFill>
                  <a:srgbClr val="5B6472"/>
                </a:solidFill>
                <a:latin typeface="Calibri"/>
              </a:rPr>
              <a:t>Train and validate the recommender</a:t>
            </a:r>
          </a:p>
          <a:p>
            <a:pPr algn="ctr">
              <a:spcAft>
                <a:spcPts val="100"/>
              </a:spcAft>
            </a:pPr>
            <a:r>
              <a:rPr sz="1000" b="0">
                <a:solidFill>
                  <a:srgbClr val="5B6472"/>
                </a:solidFill>
                <a:latin typeface="Calibri"/>
              </a:rPr>
              <a:t/>
            </a:r>
          </a:p>
          <a:p>
            <a:pPr algn="ctr">
              <a:spcAft>
                <a:spcPts val="100"/>
              </a:spcAft>
            </a:pPr>
            <a:r>
              <a:rPr sz="1000" b="0">
                <a:solidFill>
                  <a:srgbClr val="5B6472"/>
                </a:solidFill>
                <a:latin typeface="Calibri"/>
              </a:rPr>
              <a:t>profile → ranked skills</a:t>
            </a:r>
          </a:p>
          <a:p>
            <a:pPr algn="ctr">
              <a:spcAft>
                <a:spcPts val="100"/>
              </a:spcAft>
            </a:pPr>
            <a:r>
              <a:rPr sz="1000" b="0">
                <a:solidFill>
                  <a:srgbClr val="5B6472"/>
                </a:solidFill>
                <a:latin typeface="Calibri"/>
              </a:rPr>
              <a:t>held-out validation</a:t>
            </a:r>
          </a:p>
        </p:txBody>
      </p:sp>
      <p:sp>
        <p:nvSpPr>
          <p:cNvPr id="14" name="Rectangle 13"/>
          <p:cNvSpPr/>
          <p:nvPr/>
        </p:nvSpPr>
        <p:spPr>
          <a:xfrm>
            <a:off x="6099048" y="1773936"/>
            <a:ext cx="2770632" cy="50292"/>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3529584"/>
            <a:ext cx="8686800" cy="530352"/>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Exit criterion: a public leaderboard, plus a recommender that beats a “most popular skill” baseline on held-out repositories.</a:t>
            </a:r>
          </a:p>
        </p:txBody>
      </p:sp>
      <p:sp>
        <p:nvSpPr>
          <p:cNvPr id="16" name="Rectangle 15"/>
          <p:cNvSpPr/>
          <p:nvPr/>
        </p:nvSpPr>
        <p:spPr>
          <a:xfrm>
            <a:off x="228600" y="3529584"/>
            <a:ext cx="50292" cy="53035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Two Studies, One Question</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Both ask what a natural-language instruction costs to execute. One varies the skill, the other varies its clarity.</a:t>
            </a:r>
          </a:p>
        </p:txBody>
      </p:sp>
      <p:sp>
        <p:nvSpPr>
          <p:cNvPr id="6" name="Rounded Rectangle 5"/>
          <p:cNvSpPr/>
          <p:nvPr/>
        </p:nvSpPr>
        <p:spPr>
          <a:xfrm>
            <a:off x="228600" y="960120"/>
            <a:ext cx="4160520" cy="1691640"/>
          </a:xfrm>
          <a:prstGeom prst="roundRect">
            <a:avLst>
              <a:gd name="adj" fmla="val 8000"/>
            </a:avLst>
          </a:prstGeom>
          <a:solidFill>
            <a:srgbClr val="EEF3FA"/>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200" b="1">
                <a:solidFill>
                  <a:srgbClr val="1155CC"/>
                </a:solidFill>
                <a:latin typeface="Calibri"/>
              </a:rPr>
              <a:t>STUDY 1 · SKILLBENCH</a:t>
            </a:r>
          </a:p>
          <a:p>
            <a:pPr algn="l">
              <a:spcAft>
                <a:spcPts val="100"/>
              </a:spcAft>
            </a:pPr>
            <a:r>
              <a:rPr sz="1050" b="0">
                <a:solidFill>
                  <a:srgbClr val="002754"/>
                </a:solidFill>
                <a:latin typeface="Calibri"/>
              </a:rPr>
              <a:t>Varies:  which skill is installed</a:t>
            </a:r>
          </a:p>
          <a:p>
            <a:pPr algn="l">
              <a:spcAft>
                <a:spcPts val="100"/>
              </a:spcAft>
            </a:pPr>
            <a:r>
              <a:rPr sz="1050" b="0">
                <a:solidFill>
                  <a:srgbClr val="002754"/>
                </a:solidFill>
                <a:latin typeface="Calibri"/>
              </a:rPr>
              <a:t>Measures:  quality · time · $ per task</a:t>
            </a:r>
          </a:p>
          <a:p>
            <a:pPr algn="l">
              <a:spcAft>
                <a:spcPts val="100"/>
              </a:spcAft>
            </a:pPr>
            <a:r>
              <a:rPr sz="1050" b="0">
                <a:solidFill>
                  <a:srgbClr val="002754"/>
                </a:solidFill>
                <a:latin typeface="Calibri"/>
              </a:rPr>
              <a:t>Unit:  the SKILL</a:t>
            </a:r>
          </a:p>
          <a:p>
            <a:pPr algn="l">
              <a:spcAft>
                <a:spcPts val="100"/>
              </a:spcAft>
            </a:pPr>
            <a:r>
              <a:rPr sz="1050" b="0">
                <a:solidFill>
                  <a:srgbClr val="002754"/>
                </a:solidFill>
                <a:latin typeface="Calibri"/>
              </a:rPr>
              <a:t/>
            </a:r>
          </a:p>
          <a:p>
            <a:pPr algn="l">
              <a:spcAft>
                <a:spcPts val="100"/>
              </a:spcAft>
            </a:pPr>
            <a:r>
              <a:rPr sz="1050" b="0">
                <a:solidFill>
                  <a:srgbClr val="002754"/>
                </a:solidFill>
                <a:latin typeface="Calibri"/>
              </a:rPr>
              <a:t>Answers: which skill should I install?</a:t>
            </a:r>
          </a:p>
        </p:txBody>
      </p:sp>
      <p:sp>
        <p:nvSpPr>
          <p:cNvPr id="7" name="Rectangle 6"/>
          <p:cNvSpPr/>
          <p:nvPr/>
        </p:nvSpPr>
        <p:spPr>
          <a:xfrm>
            <a:off x="228600" y="960120"/>
            <a:ext cx="4160520"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754880" y="960120"/>
            <a:ext cx="4160520" cy="1691640"/>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Aft>
                <a:spcPts val="100"/>
              </a:spcAft>
            </a:pPr>
            <a:r>
              <a:rPr sz="1200" b="1">
                <a:solidFill>
                  <a:srgbClr val="002754"/>
                </a:solidFill>
                <a:latin typeface="Calibri"/>
              </a:rPr>
              <a:t>STUDY 2 · THE AMBIGUITY TAX</a:t>
            </a:r>
          </a:p>
          <a:p>
            <a:pPr algn="l">
              <a:spcAft>
                <a:spcPts val="100"/>
              </a:spcAft>
            </a:pPr>
            <a:r>
              <a:rPr sz="1050" b="0">
                <a:solidFill>
                  <a:srgbClr val="002754"/>
                </a:solidFill>
                <a:latin typeface="Calibri"/>
              </a:rPr>
              <a:t>Varies:  how clear the instruction is</a:t>
            </a:r>
          </a:p>
          <a:p>
            <a:pPr algn="l">
              <a:spcAft>
                <a:spcPts val="100"/>
              </a:spcAft>
            </a:pPr>
            <a:r>
              <a:rPr sz="1050" b="0">
                <a:solidFill>
                  <a:srgbClr val="002754"/>
                </a:solidFill>
                <a:latin typeface="Calibri"/>
              </a:rPr>
              <a:t>Measures:  tokens · latency · $ per success</a:t>
            </a:r>
          </a:p>
          <a:p>
            <a:pPr algn="l">
              <a:spcAft>
                <a:spcPts val="100"/>
              </a:spcAft>
            </a:pPr>
            <a:r>
              <a:rPr sz="1050" b="0">
                <a:solidFill>
                  <a:srgbClr val="002754"/>
                </a:solidFill>
                <a:latin typeface="Calibri"/>
              </a:rPr>
              <a:t>Unit:  the INSTRUCTION</a:t>
            </a:r>
          </a:p>
          <a:p>
            <a:pPr algn="l">
              <a:spcAft>
                <a:spcPts val="100"/>
              </a:spcAft>
            </a:pPr>
            <a:r>
              <a:rPr sz="1050" b="0">
                <a:solidFill>
                  <a:srgbClr val="002754"/>
                </a:solidFill>
                <a:latin typeface="Calibri"/>
              </a:rPr>
              <a:t/>
            </a:r>
          </a:p>
          <a:p>
            <a:pPr algn="l">
              <a:spcAft>
                <a:spcPts val="100"/>
              </a:spcAft>
            </a:pPr>
            <a:r>
              <a:rPr sz="1050" b="0">
                <a:solidFill>
                  <a:srgbClr val="002754"/>
                </a:solidFill>
                <a:latin typeface="Calibri"/>
              </a:rPr>
              <a:t>Answers: what does vagueness cost me?</a:t>
            </a:r>
          </a:p>
        </p:txBody>
      </p:sp>
      <p:sp>
        <p:nvSpPr>
          <p:cNvPr id="9" name="Rectangle 8"/>
          <p:cNvSpPr/>
          <p:nvPr/>
        </p:nvSpPr>
        <p:spPr>
          <a:xfrm>
            <a:off x="4754880" y="960120"/>
            <a:ext cx="4160520"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wn Arrow 9"/>
          <p:cNvSpPr/>
          <p:nvPr/>
        </p:nvSpPr>
        <p:spPr>
          <a:xfrm>
            <a:off x="2103120" y="2743200"/>
            <a:ext cx="201168" cy="274320"/>
          </a:xfrm>
          <a:prstGeom prst="down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6629400" y="2743200"/>
            <a:ext cx="201168" cy="274320"/>
          </a:xfrm>
          <a:prstGeom prst="down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28600" y="3127248"/>
            <a:ext cx="8686800" cy="914400"/>
          </a:xfrm>
          <a:prstGeom prst="roundRect">
            <a:avLst>
              <a:gd name="adj" fmla="val 8000"/>
            </a:avLst>
          </a:prstGeom>
          <a:solidFill>
            <a:srgbClr val="FFFFFF"/>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Aft>
                <a:spcPts val="100"/>
              </a:spcAft>
            </a:pPr>
            <a:r>
              <a:rPr sz="1150" b="1">
                <a:solidFill>
                  <a:srgbClr val="002754"/>
                </a:solidFill>
                <a:latin typeface="Calibri"/>
              </a:rPr>
              <a:t>SHARED SUBSTRATE</a:t>
            </a:r>
          </a:p>
          <a:p>
            <a:pPr algn="ctr">
              <a:spcAft>
                <a:spcPts val="100"/>
              </a:spcAft>
            </a:pPr>
            <a:r>
              <a:rPr sz="1100" b="0">
                <a:solidFill>
                  <a:srgbClr val="5B6472"/>
                </a:solidFill>
                <a:latin typeface="Calibri"/>
              </a:rPr>
              <a:t>Run on verifiable tasks  →  log tokens, wall-clock time and cost per run  →  score against executable ground truth</a:t>
            </a:r>
          </a:p>
        </p:txBody>
      </p:sp>
      <p:sp>
        <p:nvSpPr>
          <p:cNvPr id="13" name="Rectangle 12"/>
          <p:cNvSpPr/>
          <p:nvPr/>
        </p:nvSpPr>
        <p:spPr>
          <a:xfrm>
            <a:off x="228600" y="4169663"/>
            <a:ext cx="8686800" cy="640080"/>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Agent skills are instructions too. A skill written ambiguously pays exactly the cost Study 2 measures, which makes the ambiguity tax a skill-quality metric.</a:t>
            </a:r>
          </a:p>
        </p:txBody>
      </p:sp>
      <p:sp>
        <p:nvSpPr>
          <p:cNvPr id="14" name="Rectangle 13"/>
          <p:cNvSpPr/>
          <p:nvPr/>
        </p:nvSpPr>
        <p:spPr>
          <a:xfrm>
            <a:off x="228600" y="4169663"/>
            <a:ext cx="50292" cy="640080"/>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8558784" y="91440"/>
            <a:ext cx="356616" cy="356616"/>
          </a:xfrm>
          <a:prstGeom prst="rect">
            <a:avLst/>
          </a:prstGeom>
        </p:spPr>
      </p:pic>
      <p:sp>
        <p:nvSpPr>
          <p:cNvPr id="3" name="TextBox 2"/>
          <p:cNvSpPr txBox="1"/>
          <p:nvPr/>
        </p:nvSpPr>
        <p:spPr>
          <a:xfrm>
            <a:off x="228600" y="1691640"/>
            <a:ext cx="8686800" cy="283464"/>
          </a:xfrm>
          <a:prstGeom prst="rect">
            <a:avLst/>
          </a:prstGeom>
          <a:noFill/>
        </p:spPr>
        <p:txBody>
          <a:bodyPr wrap="none">
            <a:spAutoFit/>
          </a:bodyPr>
          <a:lstStyle/>
          <a:p>
            <a:r>
              <a:rPr sz="1100" b="1">
                <a:solidFill>
                  <a:srgbClr val="A5A5A5"/>
                </a:solidFill>
                <a:latin typeface="Calibri"/>
              </a:rPr>
              <a:t>PART II</a:t>
            </a:r>
          </a:p>
        </p:txBody>
      </p:sp>
      <p:sp>
        <p:nvSpPr>
          <p:cNvPr id="4" name="TextBox 3"/>
          <p:cNvSpPr txBox="1"/>
          <p:nvPr/>
        </p:nvSpPr>
        <p:spPr>
          <a:xfrm>
            <a:off x="228600" y="1975104"/>
            <a:ext cx="8686800" cy="731520"/>
          </a:xfrm>
          <a:prstGeom prst="rect">
            <a:avLst/>
          </a:prstGeom>
          <a:noFill/>
        </p:spPr>
        <p:txBody>
          <a:bodyPr wrap="square">
            <a:spAutoFit/>
          </a:bodyPr>
          <a:lstStyle/>
          <a:p>
            <a:r>
              <a:rPr sz="3400" b="1">
                <a:solidFill>
                  <a:srgbClr val="002754"/>
                </a:solidFill>
                <a:latin typeface="Lora"/>
              </a:rPr>
              <a:t>Problem Statement &amp; Literature Review</a:t>
            </a:r>
          </a:p>
        </p:txBody>
      </p:sp>
      <p:cxnSp>
        <p:nvCxnSpPr>
          <p:cNvPr id="5" name="Connector 4"/>
          <p:cNvCxnSpPr/>
          <p:nvPr/>
        </p:nvCxnSpPr>
        <p:spPr>
          <a:xfrm>
            <a:off x="228600" y="278892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28600" y="2889504"/>
            <a:ext cx="8686800" cy="548640"/>
          </a:xfrm>
          <a:prstGeom prst="rect">
            <a:avLst/>
          </a:prstGeom>
          <a:noFill/>
        </p:spPr>
        <p:txBody>
          <a:bodyPr wrap="square">
            <a:spAutoFit/>
          </a:bodyPr>
          <a:lstStyle/>
          <a:p>
            <a:r>
              <a:rPr sz="1500">
                <a:solidFill>
                  <a:srgbClr val="003BA3"/>
                </a:solidFill>
                <a:latin typeface="Calibri"/>
              </a:rPr>
              <a:t>Ambiguity, inference cost, and verifiable tasks: five anchor papers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Problem Statement</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Real instructions are often ambiguous, and the model has to answer anyway. We only count part of what that costs.</a:t>
            </a:r>
          </a:p>
        </p:txBody>
      </p:sp>
      <p:sp>
        <p:nvSpPr>
          <p:cNvPr id="6" name="Rounded Rectangle 5"/>
          <p:cNvSpPr/>
          <p:nvPr/>
        </p:nvSpPr>
        <p:spPr>
          <a:xfrm>
            <a:off x="228600" y="969264"/>
            <a:ext cx="2011680" cy="1188720"/>
          </a:xfrm>
          <a:prstGeom prst="roundRect">
            <a:avLst>
              <a:gd name="adj" fmla="val 8000"/>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5B6472"/>
                </a:solidFill>
                <a:latin typeface="Calibri"/>
              </a:rPr>
              <a:t>A REAL REQUIREMENT</a:t>
            </a:r>
          </a:p>
          <a:p>
            <a:pPr algn="ctr">
              <a:spcAft>
                <a:spcPts val="100"/>
              </a:spcAft>
            </a:pPr>
            <a:r>
              <a:rPr sz="1050" b="0">
                <a:solidFill>
                  <a:srgbClr val="002754"/>
                </a:solidFill>
                <a:latin typeface="Calibri"/>
              </a:rPr>
              <a:t>“Return items</a:t>
            </a:r>
          </a:p>
          <a:p>
            <a:pPr algn="ctr">
              <a:spcAft>
                <a:spcPts val="100"/>
              </a:spcAft>
            </a:pPr>
            <a:r>
              <a:rPr sz="1050" b="0">
                <a:solidFill>
                  <a:srgbClr val="002754"/>
                </a:solidFill>
                <a:latin typeface="Calibri"/>
              </a:rPr>
              <a:t>filtered by</a:t>
            </a:r>
          </a:p>
          <a:p>
            <a:pPr algn="ctr">
              <a:spcAft>
                <a:spcPts val="100"/>
              </a:spcAft>
            </a:pPr>
            <a:r>
              <a:rPr sz="1050" b="0">
                <a:solidFill>
                  <a:srgbClr val="002754"/>
                </a:solidFill>
                <a:latin typeface="Calibri"/>
              </a:rPr>
              <a:t>the threshold”</a:t>
            </a:r>
          </a:p>
        </p:txBody>
      </p:sp>
      <p:sp>
        <p:nvSpPr>
          <p:cNvPr id="7" name="Right Arrow 6"/>
          <p:cNvSpPr/>
          <p:nvPr/>
        </p:nvSpPr>
        <p:spPr>
          <a:xfrm>
            <a:off x="2304288" y="1463040"/>
            <a:ext cx="274320" cy="237744"/>
          </a:xfrm>
          <a:prstGeom prst="rightArrow">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42616" y="969264"/>
            <a:ext cx="2148840" cy="1188720"/>
          </a:xfrm>
          <a:prstGeom prst="roundRect">
            <a:avLst>
              <a:gd name="adj" fmla="val 8000"/>
            </a:avLst>
          </a:prstGeom>
          <a:solidFill>
            <a:srgbClr val="EEF3FA"/>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1155CC"/>
                </a:solidFill>
                <a:latin typeface="Calibri"/>
              </a:rPr>
              <a:t>THE MODEL CANNOT ASK</a:t>
            </a:r>
          </a:p>
          <a:p>
            <a:pPr algn="ctr">
              <a:spcAft>
                <a:spcPts val="100"/>
              </a:spcAft>
            </a:pPr>
            <a:r>
              <a:rPr sz="900" b="0">
                <a:solidFill>
                  <a:srgbClr val="5B6472"/>
                </a:solidFill>
                <a:latin typeface="Calibri"/>
              </a:rPr>
              <a:t>Forced determinism: it must</a:t>
            </a:r>
          </a:p>
          <a:p>
            <a:pPr algn="ctr">
              <a:spcAft>
                <a:spcPts val="100"/>
              </a:spcAft>
            </a:pPr>
            <a:r>
              <a:rPr sz="900" b="0">
                <a:solidFill>
                  <a:srgbClr val="5B6472"/>
                </a:solidFill>
                <a:latin typeface="Calibri"/>
              </a:rPr>
              <a:t>collapse many readings into</a:t>
            </a:r>
          </a:p>
          <a:p>
            <a:pPr algn="ctr">
              <a:spcAft>
                <a:spcPts val="100"/>
              </a:spcAft>
            </a:pPr>
            <a:r>
              <a:rPr sz="900" b="0">
                <a:solidFill>
                  <a:srgbClr val="5B6472"/>
                </a:solidFill>
                <a:latin typeface="Calibri"/>
              </a:rPr>
              <a:t>one executable answer</a:t>
            </a:r>
          </a:p>
        </p:txBody>
      </p:sp>
      <p:sp>
        <p:nvSpPr>
          <p:cNvPr id="9" name="Right Arrow 8"/>
          <p:cNvSpPr/>
          <p:nvPr/>
        </p:nvSpPr>
        <p:spPr>
          <a:xfrm>
            <a:off x="4855464" y="1463040"/>
            <a:ext cx="274320" cy="237744"/>
          </a:xfrm>
          <a:prstGeom prst="rightArrow">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3792" y="969264"/>
            <a:ext cx="1828800" cy="548640"/>
          </a:xfrm>
          <a:prstGeom prst="roundRect">
            <a:avLst>
              <a:gd name="adj" fmla="val 8000"/>
            </a:avLst>
          </a:prstGeom>
          <a:solidFill>
            <a:srgbClr val="ECF6E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50" b="1">
                <a:solidFill>
                  <a:srgbClr val="1E7A3C"/>
                </a:solidFill>
                <a:latin typeface="Calibri"/>
              </a:rPr>
              <a:t>items &gt; threshold</a:t>
            </a:r>
          </a:p>
        </p:txBody>
      </p:sp>
      <p:sp>
        <p:nvSpPr>
          <p:cNvPr id="11" name="Rounded Rectangle 10"/>
          <p:cNvSpPr/>
          <p:nvPr/>
        </p:nvSpPr>
        <p:spPr>
          <a:xfrm>
            <a:off x="5193792" y="1609344"/>
            <a:ext cx="1828800" cy="548640"/>
          </a:xfrm>
          <a:prstGeom prst="roundRect">
            <a:avLst>
              <a:gd name="adj" fmla="val 8000"/>
            </a:avLst>
          </a:prstGeom>
          <a:solidFill>
            <a:srgbClr val="FBEEEE"/>
          </a:solidFill>
          <a:ln w="13970">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50" b="1">
                <a:solidFill>
                  <a:srgbClr val="B03030"/>
                </a:solidFill>
                <a:latin typeface="Calibri"/>
              </a:rPr>
              <a:t>items ≤ threshold</a:t>
            </a:r>
          </a:p>
        </p:txBody>
      </p:sp>
      <p:sp>
        <p:nvSpPr>
          <p:cNvPr id="12" name="Rounded Rectangle 11"/>
          <p:cNvSpPr/>
          <p:nvPr/>
        </p:nvSpPr>
        <p:spPr>
          <a:xfrm>
            <a:off x="7223760" y="969264"/>
            <a:ext cx="1691640" cy="1188720"/>
          </a:xfrm>
          <a:prstGeom prst="roundRect">
            <a:avLst>
              <a:gd name="adj" fmla="val 8000"/>
            </a:avLst>
          </a:prstGeom>
          <a:solidFill>
            <a:srgbClr val="002754"/>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FFFFFF"/>
                </a:solidFill>
                <a:latin typeface="Calibri"/>
              </a:rPr>
              <a:t>THE AGENT PICKS ONE</a:t>
            </a:r>
          </a:p>
          <a:p>
            <a:pPr algn="ctr"/>
          </a:p>
          <a:p>
            <a:pPr algn="ctr"/>
            <a:r>
              <a:rPr sz="850" b="0">
                <a:solidFill>
                  <a:srgbClr val="CCD6E4"/>
                </a:solidFill>
                <a:latin typeface="Calibri"/>
              </a:rPr>
              <a:t>Nothing in the output</a:t>
            </a:r>
          </a:p>
          <a:p>
            <a:pPr algn="ctr"/>
            <a:r>
              <a:rPr sz="850" b="0">
                <a:solidFill>
                  <a:srgbClr val="CCD6E4"/>
                </a:solidFill>
                <a:latin typeface="Calibri"/>
              </a:rPr>
              <a:t>says which reading</a:t>
            </a:r>
          </a:p>
          <a:p>
            <a:pPr algn="ctr"/>
            <a:r>
              <a:rPr sz="850" b="0">
                <a:solidFill>
                  <a:srgbClr val="CCD6E4"/>
                </a:solidFill>
                <a:latin typeface="Calibri"/>
              </a:rPr>
              <a:t>it chose.</a:t>
            </a:r>
          </a:p>
        </p:txBody>
      </p:sp>
      <p:sp>
        <p:nvSpPr>
          <p:cNvPr id="13" name="TextBox 12"/>
          <p:cNvSpPr txBox="1"/>
          <p:nvPr/>
        </p:nvSpPr>
        <p:spPr>
          <a:xfrm>
            <a:off x="228600" y="2340864"/>
            <a:ext cx="8686800" cy="237744"/>
          </a:xfrm>
          <a:prstGeom prst="rect">
            <a:avLst/>
          </a:prstGeom>
          <a:noFill/>
        </p:spPr>
        <p:txBody>
          <a:bodyPr wrap="square">
            <a:spAutoFit/>
          </a:bodyPr>
          <a:lstStyle/>
          <a:p>
            <a:pPr algn="l"/>
            <a:r>
              <a:rPr sz="950" b="1">
                <a:solidFill>
                  <a:srgbClr val="5B6472"/>
                </a:solidFill>
                <a:latin typeface="Calibri"/>
              </a:rPr>
              <a:t>THE THREE CONSEQUENCES</a:t>
            </a:r>
          </a:p>
        </p:txBody>
      </p:sp>
      <p:sp>
        <p:nvSpPr>
          <p:cNvPr id="14" name="Rounded Rectangle 13"/>
          <p:cNvSpPr/>
          <p:nvPr/>
        </p:nvSpPr>
        <p:spPr>
          <a:xfrm>
            <a:off x="228600" y="2615184"/>
            <a:ext cx="2770632" cy="1005840"/>
          </a:xfrm>
          <a:prstGeom prst="roundRect">
            <a:avLst>
              <a:gd name="adj" fmla="val 8000"/>
            </a:avLst>
          </a:prstGeom>
          <a:solidFill>
            <a:srgbClr val="ECF6E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200" b="1">
                <a:solidFill>
                  <a:srgbClr val="002754"/>
                </a:solidFill>
                <a:latin typeface="Calibri"/>
              </a:rPr>
              <a:t>WRONG CODE</a:t>
            </a:r>
          </a:p>
          <a:p>
            <a:pPr algn="ctr">
              <a:spcAft>
                <a:spcPts val="100"/>
              </a:spcAft>
            </a:pPr>
            <a:r>
              <a:rPr sz="950" b="0">
                <a:solidFill>
                  <a:srgbClr val="5B6472"/>
                </a:solidFill>
                <a:latin typeface="Calibri"/>
              </a:rPr>
              <a:t>Pass@1 collapses — up to −67 points</a:t>
            </a:r>
          </a:p>
        </p:txBody>
      </p:sp>
      <p:sp>
        <p:nvSpPr>
          <p:cNvPr id="15" name="Rectangle 14"/>
          <p:cNvSpPr/>
          <p:nvPr/>
        </p:nvSpPr>
        <p:spPr>
          <a:xfrm>
            <a:off x="228600" y="2615184"/>
            <a:ext cx="2770632" cy="50292"/>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2647" y="3675887"/>
            <a:ext cx="2002536" cy="310896"/>
          </a:xfrm>
          <a:prstGeom prst="roundRect">
            <a:avLst>
              <a:gd name="adj" fmla="val 30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FFFFFF"/>
                </a:solidFill>
                <a:latin typeface="Calibri"/>
              </a:rPr>
              <a:t>MEASURED by prior work</a:t>
            </a:r>
          </a:p>
        </p:txBody>
      </p:sp>
      <p:sp>
        <p:nvSpPr>
          <p:cNvPr id="17" name="Rounded Rectangle 16"/>
          <p:cNvSpPr/>
          <p:nvPr/>
        </p:nvSpPr>
        <p:spPr>
          <a:xfrm>
            <a:off x="3163824" y="2615184"/>
            <a:ext cx="2770632" cy="1005840"/>
          </a:xfrm>
          <a:prstGeom prst="roundRect">
            <a:avLst>
              <a:gd name="adj" fmla="val 8000"/>
            </a:avLst>
          </a:prstGeom>
          <a:solidFill>
            <a:srgbClr val="ECF6E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200" b="1">
                <a:solidFill>
                  <a:srgbClr val="002754"/>
                </a:solidFill>
                <a:latin typeface="Calibri"/>
              </a:rPr>
              <a:t>DIVERGENT CODE</a:t>
            </a:r>
          </a:p>
          <a:p>
            <a:pPr algn="ctr">
              <a:spcAft>
                <a:spcPts val="100"/>
              </a:spcAft>
            </a:pPr>
            <a:r>
              <a:rPr sz="950" b="0">
                <a:solidFill>
                  <a:srgbClr val="5B6472"/>
                </a:solidFill>
                <a:latin typeface="Calibri"/>
              </a:rPr>
              <a:t>the same prompt yields incompatible programs</a:t>
            </a:r>
          </a:p>
        </p:txBody>
      </p:sp>
      <p:sp>
        <p:nvSpPr>
          <p:cNvPr id="18" name="Rectangle 17"/>
          <p:cNvSpPr/>
          <p:nvPr/>
        </p:nvSpPr>
        <p:spPr>
          <a:xfrm>
            <a:off x="3163824" y="2615184"/>
            <a:ext cx="2770632" cy="50292"/>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47872" y="3675887"/>
            <a:ext cx="2002536" cy="310896"/>
          </a:xfrm>
          <a:prstGeom prst="roundRect">
            <a:avLst>
              <a:gd name="adj" fmla="val 30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FFFFFF"/>
                </a:solidFill>
                <a:latin typeface="Calibri"/>
              </a:rPr>
              <a:t>MEASURED by prior work</a:t>
            </a:r>
          </a:p>
        </p:txBody>
      </p:sp>
      <p:sp>
        <p:nvSpPr>
          <p:cNvPr id="20" name="Rounded Rectangle 19"/>
          <p:cNvSpPr/>
          <p:nvPr/>
        </p:nvSpPr>
        <p:spPr>
          <a:xfrm>
            <a:off x="6099048" y="2615184"/>
            <a:ext cx="2770632" cy="1005840"/>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200" b="1">
                <a:solidFill>
                  <a:srgbClr val="002754"/>
                </a:solidFill>
                <a:latin typeface="Calibri"/>
              </a:rPr>
              <a:t>WASTED COMPUTE</a:t>
            </a:r>
          </a:p>
          <a:p>
            <a:pPr algn="ctr">
              <a:spcAft>
                <a:spcPts val="100"/>
              </a:spcAft>
            </a:pPr>
            <a:r>
              <a:rPr sz="950" b="0">
                <a:solidFill>
                  <a:srgbClr val="5B6472"/>
                </a:solidFill>
                <a:latin typeface="Calibri"/>
              </a:rPr>
              <a:t>extra tokens and latency, paid even when it succeeds</a:t>
            </a:r>
          </a:p>
        </p:txBody>
      </p:sp>
      <p:sp>
        <p:nvSpPr>
          <p:cNvPr id="21" name="Rectangle 20"/>
          <p:cNvSpPr/>
          <p:nvPr/>
        </p:nvSpPr>
        <p:spPr>
          <a:xfrm>
            <a:off x="6099048" y="2615184"/>
            <a:ext cx="2770632"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83096" y="3675887"/>
            <a:ext cx="2002536" cy="310896"/>
          </a:xfrm>
          <a:prstGeom prst="roundRect">
            <a:avLst>
              <a:gd name="adj" fmla="val 30000"/>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FFFFFF"/>
                </a:solidFill>
                <a:latin typeface="Calibri"/>
              </a:rPr>
              <a:t>NEVER MEASURED</a:t>
            </a:r>
          </a:p>
        </p:txBody>
      </p:sp>
      <p:sp>
        <p:nvSpPr>
          <p:cNvPr id="23" name="Rectangle 22"/>
          <p:cNvSpPr/>
          <p:nvPr/>
        </p:nvSpPr>
        <p:spPr>
          <a:xfrm>
            <a:off x="228600" y="4114800"/>
            <a:ext cx="8686800" cy="713232"/>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Prior work has established that ambiguity makes models wrong. It has not asked what ambiguity costs. If that cost is paid even on successful runs, accuracy-based benchmarks understate the harm.</a:t>
            </a:r>
          </a:p>
        </p:txBody>
      </p:sp>
      <p:sp>
        <p:nvSpPr>
          <p:cNvPr id="24" name="Rectangle 23"/>
          <p:cNvSpPr/>
          <p:nvPr/>
        </p:nvSpPr>
        <p:spPr>
          <a:xfrm>
            <a:off x="228600" y="4114800"/>
            <a:ext cx="50292" cy="71323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The Landscape: Three Literatures That Never Meet</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Each of these fields covers part of the hypothesis. None covers all of it.</a:t>
            </a:r>
          </a:p>
        </p:txBody>
      </p:sp>
      <p:sp>
        <p:nvSpPr>
          <p:cNvPr id="6" name="Rounded Rectangle 5"/>
          <p:cNvSpPr/>
          <p:nvPr/>
        </p:nvSpPr>
        <p:spPr>
          <a:xfrm>
            <a:off x="228600" y="932688"/>
            <a:ext cx="2834640" cy="1481328"/>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50" b="1">
                <a:solidFill>
                  <a:srgbClr val="1155CC"/>
                </a:solidFill>
                <a:latin typeface="Calibri"/>
              </a:rPr>
              <a:t>A · AMBIGUITY → CORRECTNESS</a:t>
            </a:r>
          </a:p>
          <a:p>
            <a:pPr algn="ctr">
              <a:spcAft>
                <a:spcPts val="100"/>
              </a:spcAft>
            </a:pPr>
            <a:r>
              <a:rPr sz="1000" b="0">
                <a:solidFill>
                  <a:srgbClr val="5B6472"/>
                </a:solidFill>
                <a:latin typeface="Calibri"/>
              </a:rPr>
              <a:t>Injects ambiguity into verifiable tasks,</a:t>
            </a:r>
          </a:p>
          <a:p>
            <a:pPr algn="ctr">
              <a:spcAft>
                <a:spcPts val="100"/>
              </a:spcAft>
            </a:pPr>
            <a:r>
              <a:rPr sz="1000" b="0">
                <a:solidFill>
                  <a:srgbClr val="5B6472"/>
                </a:solidFill>
                <a:latin typeface="Calibri"/>
              </a:rPr>
              <a:t>reports pass rates only</a:t>
            </a:r>
          </a:p>
        </p:txBody>
      </p:sp>
      <p:sp>
        <p:nvSpPr>
          <p:cNvPr id="7" name="Rectangle 6"/>
          <p:cNvSpPr/>
          <p:nvPr/>
        </p:nvSpPr>
        <p:spPr>
          <a:xfrm>
            <a:off x="228600" y="932688"/>
            <a:ext cx="2834640"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2487168"/>
            <a:ext cx="2377440" cy="365760"/>
          </a:xfrm>
          <a:prstGeom prst="roundRect">
            <a:avLst>
              <a:gd name="adj" fmla="val 30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5B6472"/>
                </a:solidFill>
                <a:latin typeface="Calibri"/>
              </a:rPr>
              <a:t>Orchid · When Prompts Go Wrong  ·  HumanEvalComm</a:t>
            </a:r>
          </a:p>
        </p:txBody>
      </p:sp>
      <p:sp>
        <p:nvSpPr>
          <p:cNvPr id="9" name="Rounded Rectangle 8"/>
          <p:cNvSpPr/>
          <p:nvPr/>
        </p:nvSpPr>
        <p:spPr>
          <a:xfrm>
            <a:off x="3154680" y="932688"/>
            <a:ext cx="2834640" cy="1481328"/>
          </a:xfrm>
          <a:prstGeom prst="roundRect">
            <a:avLst>
              <a:gd name="adj" fmla="val 8000"/>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50" b="1">
                <a:solidFill>
                  <a:srgbClr val="5B6472"/>
                </a:solidFill>
                <a:latin typeface="Calibri"/>
              </a:rPr>
              <a:t>B · LENGTH → CORRECTNESS</a:t>
            </a:r>
          </a:p>
          <a:p>
            <a:pPr algn="ctr">
              <a:spcAft>
                <a:spcPts val="100"/>
              </a:spcAft>
            </a:pPr>
            <a:r>
              <a:rPr sz="1000" b="0">
                <a:solidFill>
                  <a:srgbClr val="5B6472"/>
                </a:solidFill>
                <a:latin typeface="Calibri"/>
              </a:rPr>
              <a:t>Studies reasoning length and overthinking,</a:t>
            </a:r>
          </a:p>
          <a:p>
            <a:pPr algn="ctr">
              <a:spcAft>
                <a:spcPts val="100"/>
              </a:spcAft>
            </a:pPr>
            <a:r>
              <a:rPr sz="1000" b="0">
                <a:solidFill>
                  <a:srgbClr val="5B6472"/>
                </a:solidFill>
                <a:latin typeface="Calibri"/>
              </a:rPr>
              <a:t>varies difficulty, not clarity</a:t>
            </a:r>
          </a:p>
        </p:txBody>
      </p:sp>
      <p:sp>
        <p:nvSpPr>
          <p:cNvPr id="10" name="Rectangle 9"/>
          <p:cNvSpPr/>
          <p:nvPr/>
        </p:nvSpPr>
        <p:spPr>
          <a:xfrm>
            <a:off x="3154680" y="932688"/>
            <a:ext cx="2834640" cy="5029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83280" y="2487168"/>
            <a:ext cx="2377440" cy="365760"/>
          </a:xfrm>
          <a:prstGeom prst="roundRect">
            <a:avLst>
              <a:gd name="adj" fmla="val 30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5B6472"/>
                </a:solidFill>
                <a:latin typeface="Calibri"/>
              </a:rPr>
              <a:t>Su et al. (2025)</a:t>
            </a:r>
          </a:p>
        </p:txBody>
      </p:sp>
      <p:sp>
        <p:nvSpPr>
          <p:cNvPr id="12" name="Rounded Rectangle 11"/>
          <p:cNvSpPr/>
          <p:nvPr/>
        </p:nvSpPr>
        <p:spPr>
          <a:xfrm>
            <a:off x="6080760" y="932688"/>
            <a:ext cx="2834640" cy="1481328"/>
          </a:xfrm>
          <a:prstGeom prst="roundRect">
            <a:avLst>
              <a:gd name="adj" fmla="val 8000"/>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50" b="1">
                <a:solidFill>
                  <a:srgbClr val="1E7A3C"/>
                </a:solidFill>
                <a:latin typeface="Calibri"/>
              </a:rPr>
              <a:t>C · INFERENCE ECONOMICS</a:t>
            </a:r>
          </a:p>
          <a:p>
            <a:pPr algn="ctr">
              <a:spcAft>
                <a:spcPts val="100"/>
              </a:spcAft>
            </a:pPr>
            <a:r>
              <a:rPr sz="1000" b="0">
                <a:solidFill>
                  <a:srgbClr val="5B6472"/>
                </a:solidFill>
                <a:latin typeface="Calibri"/>
              </a:rPr>
              <a:t>Prices cost per correct answer,</a:t>
            </a:r>
          </a:p>
          <a:p>
            <a:pPr algn="ctr">
              <a:spcAft>
                <a:spcPts val="100"/>
              </a:spcAft>
            </a:pPr>
            <a:r>
              <a:rPr sz="1000" b="0">
                <a:solidFill>
                  <a:srgbClr val="5B6472"/>
                </a:solidFill>
                <a:latin typeface="Calibri"/>
              </a:rPr>
              <a:t>treats the prompt as fixed</a:t>
            </a:r>
          </a:p>
        </p:txBody>
      </p:sp>
      <p:sp>
        <p:nvSpPr>
          <p:cNvPr id="13" name="Rectangle 12"/>
          <p:cNvSpPr/>
          <p:nvPr/>
        </p:nvSpPr>
        <p:spPr>
          <a:xfrm>
            <a:off x="6080760" y="932688"/>
            <a:ext cx="2834640" cy="50292"/>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09360" y="2487168"/>
            <a:ext cx="2377440" cy="365760"/>
          </a:xfrm>
          <a:prstGeom prst="roundRect">
            <a:avLst>
              <a:gd name="adj" fmla="val 30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5B6472"/>
                </a:solidFill>
                <a:latin typeface="Calibri"/>
              </a:rPr>
              <a:t>Cost-of-Pass (ICLR 2026)</a:t>
            </a:r>
          </a:p>
        </p:txBody>
      </p:sp>
      <p:sp>
        <p:nvSpPr>
          <p:cNvPr id="15" name="Down Arrow 14"/>
          <p:cNvSpPr/>
          <p:nvPr/>
        </p:nvSpPr>
        <p:spPr>
          <a:xfrm>
            <a:off x="1545336" y="2944368"/>
            <a:ext cx="201168" cy="310896"/>
          </a:xfrm>
          <a:prstGeom prst="down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wn Arrow 15"/>
          <p:cNvSpPr/>
          <p:nvPr/>
        </p:nvSpPr>
        <p:spPr>
          <a:xfrm>
            <a:off x="4471416" y="2944368"/>
            <a:ext cx="201168" cy="310896"/>
          </a:xfrm>
          <a:prstGeom prst="down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7397496" y="2944368"/>
            <a:ext cx="201168" cy="310896"/>
          </a:xfrm>
          <a:prstGeom prst="down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28600" y="3310128"/>
            <a:ext cx="8686800" cy="749808"/>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200" b="1">
                <a:solidFill>
                  <a:srgbClr val="002754"/>
                </a:solidFill>
                <a:latin typeface="Calibri"/>
              </a:rPr>
              <a:t>THE INTERSECTION: NOBODY WORKS HERE</a:t>
            </a:r>
          </a:p>
          <a:p>
            <a:pPr algn="ctr">
              <a:spcAft>
                <a:spcPts val="100"/>
              </a:spcAft>
            </a:pPr>
            <a:r>
              <a:rPr sz="1150" b="0">
                <a:solidFill>
                  <a:srgbClr val="002754"/>
                </a:solidFill>
                <a:latin typeface="Calibri"/>
              </a:rPr>
              <a:t>Ambiguity controlled  +  verifiable tasks  +  token, latency and cost measured</a:t>
            </a:r>
          </a:p>
        </p:txBody>
      </p:sp>
      <p:sp>
        <p:nvSpPr>
          <p:cNvPr id="19" name="Rectangle 18"/>
          <p:cNvSpPr/>
          <p:nvPr/>
        </p:nvSpPr>
        <p:spPr>
          <a:xfrm>
            <a:off x="228600" y="4187952"/>
            <a:ext cx="8686800" cy="530352"/>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Five papers meet all three criteria used here: executable ground truth, a controlled clear-vs-unclear contrast, and public data or code.</a:t>
            </a:r>
          </a:p>
        </p:txBody>
      </p:sp>
      <p:sp>
        <p:nvSpPr>
          <p:cNvPr id="20" name="Rectangle 19"/>
          <p:cNvSpPr/>
          <p:nvPr/>
        </p:nvSpPr>
        <p:spPr>
          <a:xfrm>
            <a:off x="228600" y="4187952"/>
            <a:ext cx="50292" cy="53035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Orchid: The First Benchmark Built Around Ambiguity</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Yang et al. · East China Normal University · arXiv:2604.21505 (Apr 2026)</a:t>
            </a:r>
          </a:p>
        </p:txBody>
      </p:sp>
      <p:sp>
        <p:nvSpPr>
          <p:cNvPr id="6" name="Rounded Rectangle 5"/>
          <p:cNvSpPr/>
          <p:nvPr/>
        </p:nvSpPr>
        <p:spPr>
          <a:xfrm>
            <a:off x="228600" y="932688"/>
            <a:ext cx="1554480" cy="914400"/>
          </a:xfrm>
          <a:prstGeom prst="roundRect">
            <a:avLst>
              <a:gd name="adj" fmla="val 8000"/>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5B6472"/>
                </a:solidFill>
                <a:latin typeface="Calibri"/>
              </a:rPr>
              <a:t>SOURCE</a:t>
            </a:r>
          </a:p>
          <a:p>
            <a:pPr algn="ctr">
              <a:spcAft>
                <a:spcPts val="100"/>
              </a:spcAft>
            </a:pPr>
            <a:r>
              <a:rPr sz="1000" b="0">
                <a:solidFill>
                  <a:srgbClr val="5B6472"/>
                </a:solidFill>
                <a:latin typeface="Calibri"/>
              </a:rPr>
              <a:t>HumanEval+</a:t>
            </a:r>
          </a:p>
          <a:p>
            <a:pPr algn="ctr">
              <a:spcAft>
                <a:spcPts val="100"/>
              </a:spcAft>
            </a:pPr>
            <a:r>
              <a:rPr sz="1000" b="0">
                <a:solidFill>
                  <a:srgbClr val="5B6472"/>
                </a:solidFill>
                <a:latin typeface="Calibri"/>
              </a:rPr>
              <a:t>BigCodeBench</a:t>
            </a:r>
          </a:p>
        </p:txBody>
      </p:sp>
      <p:sp>
        <p:nvSpPr>
          <p:cNvPr id="7" name="Right Arrow 6"/>
          <p:cNvSpPr/>
          <p:nvPr/>
        </p:nvSpPr>
        <p:spPr>
          <a:xfrm>
            <a:off x="1847088" y="1261872"/>
            <a:ext cx="274320" cy="256032"/>
          </a:xfrm>
          <a:prstGeom prst="rightArrow">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194560" y="877824"/>
            <a:ext cx="3611880" cy="1024128"/>
          </a:xfrm>
          <a:prstGeom prst="roundRect">
            <a:avLst>
              <a:gd name="adj" fmla="val 8000"/>
            </a:avLst>
          </a:prstGeom>
          <a:solidFill>
            <a:srgbClr val="EEF3FA"/>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914400"/>
            <a:ext cx="3611880" cy="237744"/>
          </a:xfrm>
          <a:prstGeom prst="rect">
            <a:avLst/>
          </a:prstGeom>
          <a:noFill/>
        </p:spPr>
        <p:txBody>
          <a:bodyPr wrap="square">
            <a:spAutoFit/>
          </a:bodyPr>
          <a:lstStyle/>
          <a:p>
            <a:pPr algn="ctr"/>
            <a:r>
              <a:rPr sz="850" b="1">
                <a:solidFill>
                  <a:srgbClr val="1155CC"/>
                </a:solidFill>
                <a:latin typeface="Calibri"/>
              </a:rPr>
              <a:t>THREE-AGENT PIPELINE  (DeepSeek-V3)</a:t>
            </a:r>
          </a:p>
        </p:txBody>
      </p:sp>
      <p:sp>
        <p:nvSpPr>
          <p:cNvPr id="10" name="Rounded Rectangle 9"/>
          <p:cNvSpPr/>
          <p:nvPr/>
        </p:nvSpPr>
        <p:spPr>
          <a:xfrm>
            <a:off x="2304288" y="1152144"/>
            <a:ext cx="1060704" cy="640080"/>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1155CC"/>
                </a:solidFill>
                <a:latin typeface="Calibri"/>
              </a:rPr>
              <a:t>Injection</a:t>
            </a:r>
          </a:p>
          <a:p>
            <a:pPr algn="ctr">
              <a:spcAft>
                <a:spcPts val="100"/>
              </a:spcAft>
            </a:pPr>
            <a:r>
              <a:rPr sz="750" b="0">
                <a:solidFill>
                  <a:srgbClr val="5B6472"/>
                </a:solidFill>
                <a:latin typeface="Calibri"/>
              </a:rPr>
              <a:t>writes the</a:t>
            </a:r>
          </a:p>
          <a:p>
            <a:pPr algn="ctr">
              <a:spcAft>
                <a:spcPts val="100"/>
              </a:spcAft>
            </a:pPr>
            <a:r>
              <a:rPr sz="750" b="0">
                <a:solidFill>
                  <a:srgbClr val="5B6472"/>
                </a:solidFill>
                <a:latin typeface="Calibri"/>
              </a:rPr>
              <a:t>ambiguity</a:t>
            </a:r>
          </a:p>
        </p:txBody>
      </p:sp>
      <p:sp>
        <p:nvSpPr>
          <p:cNvPr id="11" name="Rounded Rectangle 10"/>
          <p:cNvSpPr/>
          <p:nvPr/>
        </p:nvSpPr>
        <p:spPr>
          <a:xfrm>
            <a:off x="3456432" y="1152144"/>
            <a:ext cx="1060704" cy="640080"/>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1155CC"/>
                </a:solidFill>
                <a:latin typeface="Calibri"/>
              </a:rPr>
              <a:t>Judge</a:t>
            </a:r>
          </a:p>
          <a:p>
            <a:pPr algn="ctr">
              <a:spcAft>
                <a:spcPts val="100"/>
              </a:spcAft>
            </a:pPr>
            <a:r>
              <a:rPr sz="750" b="0">
                <a:solidFill>
                  <a:srgbClr val="5B6472"/>
                </a:solidFill>
                <a:latin typeface="Calibri"/>
              </a:rPr>
              <a:t>checks plausibility</a:t>
            </a:r>
          </a:p>
          <a:p>
            <a:pPr algn="ctr">
              <a:spcAft>
                <a:spcPts val="100"/>
              </a:spcAft>
            </a:pPr>
            <a:r>
              <a:rPr sz="750" b="0">
                <a:solidFill>
                  <a:srgbClr val="5B6472"/>
                </a:solidFill>
                <a:latin typeface="Calibri"/>
              </a:rPr>
              <a:t>&amp; intent</a:t>
            </a:r>
          </a:p>
        </p:txBody>
      </p:sp>
      <p:sp>
        <p:nvSpPr>
          <p:cNvPr id="12" name="Rounded Rectangle 11"/>
          <p:cNvSpPr/>
          <p:nvPr/>
        </p:nvSpPr>
        <p:spPr>
          <a:xfrm>
            <a:off x="4608576" y="1152144"/>
            <a:ext cx="1060704" cy="640080"/>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1155CC"/>
                </a:solidFill>
                <a:latin typeface="Calibri"/>
              </a:rPr>
              <a:t>Explain</a:t>
            </a:r>
          </a:p>
          <a:p>
            <a:pPr algn="ctr">
              <a:spcAft>
                <a:spcPts val="100"/>
              </a:spcAft>
            </a:pPr>
            <a:r>
              <a:rPr sz="750" b="0">
                <a:solidFill>
                  <a:srgbClr val="5B6472"/>
                </a:solidFill>
                <a:latin typeface="Calibri"/>
              </a:rPr>
              <a:t>documents each</a:t>
            </a:r>
          </a:p>
          <a:p>
            <a:pPr algn="ctr">
              <a:spcAft>
                <a:spcPts val="100"/>
              </a:spcAft>
            </a:pPr>
            <a:r>
              <a:rPr sz="750" b="0">
                <a:solidFill>
                  <a:srgbClr val="5B6472"/>
                </a:solidFill>
                <a:latin typeface="Calibri"/>
              </a:rPr>
              <a:t>reading</a:t>
            </a:r>
          </a:p>
        </p:txBody>
      </p:sp>
      <p:sp>
        <p:nvSpPr>
          <p:cNvPr id="13" name="Right Arrow 12"/>
          <p:cNvSpPr/>
          <p:nvPr/>
        </p:nvSpPr>
        <p:spPr>
          <a:xfrm>
            <a:off x="5870448" y="1261872"/>
            <a:ext cx="274320" cy="256032"/>
          </a:xfrm>
          <a:prstGeom prst="rightArrow">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932688"/>
            <a:ext cx="1325880" cy="914400"/>
          </a:xfrm>
          <a:prstGeom prst="roundRect">
            <a:avLst>
              <a:gd name="adj" fmla="val 8000"/>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002754"/>
                </a:solidFill>
                <a:latin typeface="Calibri"/>
              </a:rPr>
              <a:t>HUMAN</a:t>
            </a:r>
          </a:p>
          <a:p>
            <a:pPr algn="ctr">
              <a:spcAft>
                <a:spcPts val="100"/>
              </a:spcAft>
            </a:pPr>
            <a:r>
              <a:rPr sz="950" b="1">
                <a:solidFill>
                  <a:srgbClr val="002754"/>
                </a:solidFill>
                <a:latin typeface="Calibri"/>
              </a:rPr>
              <a:t>CURATION</a:t>
            </a:r>
          </a:p>
          <a:p>
            <a:pPr algn="ctr">
              <a:spcAft>
                <a:spcPts val="100"/>
              </a:spcAft>
            </a:pPr>
            <a:r>
              <a:rPr sz="900" b="0">
                <a:solidFill>
                  <a:srgbClr val="5B6472"/>
                </a:solidFill>
                <a:latin typeface="Calibri"/>
              </a:rPr>
              <a:t>246 person-hrs</a:t>
            </a:r>
          </a:p>
        </p:txBody>
      </p:sp>
      <p:sp>
        <p:nvSpPr>
          <p:cNvPr id="15" name="Right Arrow 14"/>
          <p:cNvSpPr/>
          <p:nvPr/>
        </p:nvSpPr>
        <p:spPr>
          <a:xfrm>
            <a:off x="7607808" y="1261872"/>
            <a:ext cx="274320" cy="256032"/>
          </a:xfrm>
          <a:prstGeom prst="rightArrow">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55279" y="932688"/>
            <a:ext cx="960120" cy="914400"/>
          </a:xfrm>
          <a:prstGeom prst="roundRect">
            <a:avLst>
              <a:gd name="adj" fmla="val 8000"/>
            </a:avLst>
          </a:prstGeom>
          <a:solidFill>
            <a:srgbClr val="002754"/>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FFFFFF"/>
                </a:solidFill>
                <a:latin typeface="Calibri"/>
              </a:rPr>
              <a:t>ORCHID</a:t>
            </a:r>
          </a:p>
          <a:p>
            <a:pPr algn="ctr">
              <a:spcAft>
                <a:spcPts val="100"/>
              </a:spcAft>
            </a:pPr>
            <a:r>
              <a:rPr sz="800" b="0">
                <a:solidFill>
                  <a:srgbClr val="CCD6E4"/>
                </a:solidFill>
                <a:latin typeface="Calibri"/>
              </a:rPr>
              <a:t>Apache-2.0</a:t>
            </a:r>
          </a:p>
        </p:txBody>
      </p:sp>
      <p:sp>
        <p:nvSpPr>
          <p:cNvPr id="17" name="Rounded Rectangle 16"/>
          <p:cNvSpPr/>
          <p:nvPr/>
        </p:nvSpPr>
        <p:spPr>
          <a:xfrm>
            <a:off x="228600" y="2139696"/>
            <a:ext cx="1554480" cy="658368"/>
          </a:xfrm>
          <a:prstGeom prst="roundRect">
            <a:avLst>
              <a:gd name="adj" fmla="val 8000"/>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1E7A3C"/>
                </a:solidFill>
                <a:latin typeface="Calibri"/>
              </a:rPr>
              <a:t>1 clear requirement</a:t>
            </a:r>
          </a:p>
          <a:p>
            <a:pPr algn="ctr">
              <a:spcAft>
                <a:spcPts val="100"/>
              </a:spcAft>
            </a:pPr>
            <a:r>
              <a:rPr sz="850" b="0">
                <a:solidFill>
                  <a:srgbClr val="5B6472"/>
                </a:solidFill>
                <a:latin typeface="Calibri"/>
              </a:rPr>
              <a:t>+ unit tests</a:t>
            </a:r>
          </a:p>
        </p:txBody>
      </p:sp>
      <p:sp>
        <p:nvSpPr>
          <p:cNvPr id="18" name="Right Arrow 17"/>
          <p:cNvSpPr/>
          <p:nvPr/>
        </p:nvSpPr>
        <p:spPr>
          <a:xfrm>
            <a:off x="1847088" y="2359152"/>
            <a:ext cx="274320" cy="237744"/>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194560" y="2139696"/>
            <a:ext cx="1572768" cy="658368"/>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002754"/>
                </a:solidFill>
                <a:latin typeface="Calibri"/>
              </a:rPr>
              <a:t>LEXICAL</a:t>
            </a:r>
          </a:p>
          <a:p>
            <a:pPr algn="ctr">
              <a:spcAft>
                <a:spcPts val="100"/>
              </a:spcAft>
            </a:pPr>
            <a:r>
              <a:rPr sz="800" b="0">
                <a:solidFill>
                  <a:srgbClr val="5B6472"/>
                </a:solidFill>
                <a:latin typeface="Calibri"/>
              </a:rPr>
              <a:t>one word, two senses</a:t>
            </a:r>
          </a:p>
        </p:txBody>
      </p:sp>
      <p:sp>
        <p:nvSpPr>
          <p:cNvPr id="20" name="Rounded Rectangle 19"/>
          <p:cNvSpPr/>
          <p:nvPr/>
        </p:nvSpPr>
        <p:spPr>
          <a:xfrm>
            <a:off x="3895344" y="2139696"/>
            <a:ext cx="1572768" cy="658368"/>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002754"/>
                </a:solidFill>
                <a:latin typeface="Calibri"/>
              </a:rPr>
              <a:t>SYNTACTIC</a:t>
            </a:r>
          </a:p>
          <a:p>
            <a:pPr algn="ctr">
              <a:spcAft>
                <a:spcPts val="100"/>
              </a:spcAft>
            </a:pPr>
            <a:r>
              <a:rPr sz="800" b="0">
                <a:solidFill>
                  <a:srgbClr val="5B6472"/>
                </a:solidFill>
                <a:latin typeface="Calibri"/>
              </a:rPr>
              <a:t>unclear reference</a:t>
            </a:r>
          </a:p>
        </p:txBody>
      </p:sp>
      <p:sp>
        <p:nvSpPr>
          <p:cNvPr id="21" name="Rounded Rectangle 20"/>
          <p:cNvSpPr/>
          <p:nvPr/>
        </p:nvSpPr>
        <p:spPr>
          <a:xfrm>
            <a:off x="5596128" y="2139696"/>
            <a:ext cx="1572768" cy="658368"/>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002754"/>
                </a:solidFill>
                <a:latin typeface="Calibri"/>
              </a:rPr>
              <a:t>SEMANTIC</a:t>
            </a:r>
          </a:p>
          <a:p>
            <a:pPr algn="ctr">
              <a:spcAft>
                <a:spcPts val="100"/>
              </a:spcAft>
            </a:pPr>
            <a:r>
              <a:rPr sz="800" b="0">
                <a:solidFill>
                  <a:srgbClr val="5B6472"/>
                </a:solidFill>
                <a:latin typeface="Calibri"/>
              </a:rPr>
              <a:t>phrase reads two ways</a:t>
            </a:r>
          </a:p>
        </p:txBody>
      </p:sp>
      <p:sp>
        <p:nvSpPr>
          <p:cNvPr id="22" name="Rounded Rectangle 21"/>
          <p:cNvSpPr/>
          <p:nvPr/>
        </p:nvSpPr>
        <p:spPr>
          <a:xfrm>
            <a:off x="7296912" y="2139696"/>
            <a:ext cx="1572768" cy="658368"/>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002754"/>
                </a:solidFill>
                <a:latin typeface="Calibri"/>
              </a:rPr>
              <a:t>VAGUENESS</a:t>
            </a:r>
          </a:p>
          <a:p>
            <a:pPr algn="ctr">
              <a:spcAft>
                <a:spcPts val="100"/>
              </a:spcAft>
            </a:pPr>
            <a:r>
              <a:rPr sz="800" b="0">
                <a:solidFill>
                  <a:srgbClr val="5B6472"/>
                </a:solidFill>
                <a:latin typeface="Calibri"/>
              </a:rPr>
              <a:t>detail omitted</a:t>
            </a:r>
          </a:p>
        </p:txBody>
      </p:sp>
      <p:sp>
        <p:nvSpPr>
          <p:cNvPr id="23" name="Rounded Rectangle 22"/>
          <p:cNvSpPr/>
          <p:nvPr/>
        </p:nvSpPr>
        <p:spPr>
          <a:xfrm>
            <a:off x="228600" y="2999232"/>
            <a:ext cx="1609344" cy="841248"/>
          </a:xfrm>
          <a:prstGeom prst="roundRect">
            <a:avLst>
              <a:gd name="adj" fmla="val 1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700" b="1">
                <a:solidFill>
                  <a:srgbClr val="002754"/>
                </a:solidFill>
                <a:latin typeface="Lora"/>
              </a:rPr>
              <a:t>1,304</a:t>
            </a:r>
          </a:p>
          <a:p>
            <a:pPr algn="ctr"/>
            <a:r>
              <a:rPr sz="950">
                <a:solidFill>
                  <a:srgbClr val="5B6472"/>
                </a:solidFill>
                <a:latin typeface="Calibri"/>
              </a:rPr>
              <a:t>tasks</a:t>
            </a:r>
          </a:p>
        </p:txBody>
      </p:sp>
      <p:sp>
        <p:nvSpPr>
          <p:cNvPr id="24" name="Rounded Rectangle 23"/>
          <p:cNvSpPr/>
          <p:nvPr/>
        </p:nvSpPr>
        <p:spPr>
          <a:xfrm>
            <a:off x="1984248" y="2999232"/>
            <a:ext cx="1609344" cy="841248"/>
          </a:xfrm>
          <a:prstGeom prst="roundRect">
            <a:avLst>
              <a:gd name="adj" fmla="val 1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700" b="1">
                <a:solidFill>
                  <a:srgbClr val="002754"/>
                </a:solidFill>
                <a:latin typeface="Lora"/>
              </a:rPr>
              <a:t>5,216</a:t>
            </a:r>
          </a:p>
          <a:p>
            <a:pPr algn="ctr"/>
            <a:r>
              <a:rPr sz="950">
                <a:solidFill>
                  <a:srgbClr val="5B6472"/>
                </a:solidFill>
                <a:latin typeface="Calibri"/>
              </a:rPr>
              <a:t>ambiguous variants</a:t>
            </a:r>
          </a:p>
        </p:txBody>
      </p:sp>
      <p:sp>
        <p:nvSpPr>
          <p:cNvPr id="25" name="Rounded Rectangle 24"/>
          <p:cNvSpPr/>
          <p:nvPr/>
        </p:nvSpPr>
        <p:spPr>
          <a:xfrm>
            <a:off x="3739896" y="2999232"/>
            <a:ext cx="1609344" cy="841248"/>
          </a:xfrm>
          <a:prstGeom prst="roundRect">
            <a:avLst>
              <a:gd name="adj" fmla="val 1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700" b="1">
                <a:solidFill>
                  <a:srgbClr val="002754"/>
                </a:solidFill>
                <a:latin typeface="Lora"/>
              </a:rPr>
              <a:t>4</a:t>
            </a:r>
          </a:p>
          <a:p>
            <a:pPr algn="ctr"/>
            <a:r>
              <a:rPr sz="950">
                <a:solidFill>
                  <a:srgbClr val="5B6472"/>
                </a:solidFill>
                <a:latin typeface="Calibri"/>
              </a:rPr>
              <a:t>ambiguity types</a:t>
            </a:r>
          </a:p>
        </p:txBody>
      </p:sp>
      <p:sp>
        <p:nvSpPr>
          <p:cNvPr id="26" name="Rounded Rectangle 25"/>
          <p:cNvSpPr/>
          <p:nvPr/>
        </p:nvSpPr>
        <p:spPr>
          <a:xfrm>
            <a:off x="5495544" y="2999232"/>
            <a:ext cx="1609344" cy="841248"/>
          </a:xfrm>
          <a:prstGeom prst="roundRect">
            <a:avLst>
              <a:gd name="adj" fmla="val 1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700" b="1">
                <a:solidFill>
                  <a:srgbClr val="002754"/>
                </a:solidFill>
                <a:latin typeface="Lora"/>
              </a:rPr>
              <a:t>6</a:t>
            </a:r>
          </a:p>
          <a:p>
            <a:pPr algn="ctr"/>
            <a:r>
              <a:rPr sz="950">
                <a:solidFill>
                  <a:srgbClr val="5B6472"/>
                </a:solidFill>
                <a:latin typeface="Calibri"/>
              </a:rPr>
              <a:t>LLMs evaluated</a:t>
            </a:r>
          </a:p>
        </p:txBody>
      </p:sp>
      <p:sp>
        <p:nvSpPr>
          <p:cNvPr id="27" name="Rounded Rectangle 26"/>
          <p:cNvSpPr/>
          <p:nvPr/>
        </p:nvSpPr>
        <p:spPr>
          <a:xfrm>
            <a:off x="7251192" y="2999232"/>
            <a:ext cx="1609344" cy="841248"/>
          </a:xfrm>
          <a:prstGeom prst="roundRect">
            <a:avLst>
              <a:gd name="adj" fmla="val 1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700" b="1">
                <a:solidFill>
                  <a:srgbClr val="002754"/>
                </a:solidFill>
                <a:latin typeface="Lora"/>
              </a:rPr>
              <a:t>5</a:t>
            </a:r>
          </a:p>
          <a:p>
            <a:pPr algn="ctr"/>
            <a:r>
              <a:rPr sz="950">
                <a:solidFill>
                  <a:srgbClr val="5B6472"/>
                </a:solidFill>
                <a:latin typeface="Calibri"/>
              </a:rPr>
              <a:t>samples per task</a:t>
            </a:r>
          </a:p>
        </p:txBody>
      </p:sp>
      <p:sp>
        <p:nvSpPr>
          <p:cNvPr id="28" name="Rectangle 27"/>
          <p:cNvSpPr/>
          <p:nvPr/>
        </p:nvSpPr>
        <p:spPr>
          <a:xfrm>
            <a:off x="228600" y="4005072"/>
            <a:ext cx="8686800" cy="512064"/>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Metrics: Pass@k, Conflict Rate (functional divergence across samples), and Ambiguity Recognition on four levels: unaware → detection → localization → tackling.</a:t>
            </a:r>
          </a:p>
        </p:txBody>
      </p:sp>
      <p:sp>
        <p:nvSpPr>
          <p:cNvPr id="29" name="Rectangle 28"/>
          <p:cNvSpPr/>
          <p:nvPr/>
        </p:nvSpPr>
        <p:spPr>
          <a:xfrm>
            <a:off x="228600" y="4005072"/>
            <a:ext cx="50292" cy="512064"/>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8600" y="4828032"/>
            <a:ext cx="8686800" cy="237744"/>
          </a:xfrm>
          <a:prstGeom prst="rect">
            <a:avLst/>
          </a:prstGeom>
          <a:noFill/>
        </p:spPr>
        <p:txBody>
          <a:bodyPr wrap="none">
            <a:spAutoFit/>
          </a:bodyPr>
          <a:lstStyle/>
          <a:p>
            <a:r>
              <a:rPr sz="900" i="1">
                <a:solidFill>
                  <a:srgbClr val="A5A5A5"/>
                </a:solidFill>
                <a:latin typeface="Calibri"/>
              </a:rPr>
              <a:t>huggingface.co/datasets/SII-YDD/Orchid  ·  Orchid-HEval 164  ·  Orchid-BCB 164  ·  Orchid-BCB-Expand 976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Orchid: What It Found, and What It Left Out</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Six models · temperature 0.8 · max length 1,024 tokens</a:t>
            </a:r>
          </a:p>
        </p:txBody>
      </p:sp>
      <p:sp>
        <p:nvSpPr>
          <p:cNvPr id="6" name="Rounded Rectangle 5"/>
          <p:cNvSpPr/>
          <p:nvPr/>
        </p:nvSpPr>
        <p:spPr>
          <a:xfrm>
            <a:off x="228600" y="914400"/>
            <a:ext cx="1609344" cy="822960"/>
          </a:xfrm>
          <a:prstGeom prst="roundRect">
            <a:avLst>
              <a:gd name="adj" fmla="val 10000"/>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500" b="1">
                <a:solidFill>
                  <a:srgbClr val="B03030"/>
                </a:solidFill>
                <a:latin typeface="Lora"/>
              </a:rPr>
              <a:t>−7.22 pp</a:t>
            </a:r>
          </a:p>
          <a:p>
            <a:pPr algn="ctr"/>
            <a:r>
              <a:rPr sz="950">
                <a:solidFill>
                  <a:srgbClr val="5B6472"/>
                </a:solidFill>
                <a:latin typeface="Calibri"/>
              </a:rPr>
              <a:t>mean Pass@1 drop</a:t>
            </a:r>
          </a:p>
        </p:txBody>
      </p:sp>
      <p:sp>
        <p:nvSpPr>
          <p:cNvPr id="7" name="Rounded Rectangle 6"/>
          <p:cNvSpPr/>
          <p:nvPr/>
        </p:nvSpPr>
        <p:spPr>
          <a:xfrm>
            <a:off x="1984248" y="914400"/>
            <a:ext cx="1609344" cy="822960"/>
          </a:xfrm>
          <a:prstGeom prst="roundRect">
            <a:avLst>
              <a:gd name="adj" fmla="val 10000"/>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500" b="1">
                <a:solidFill>
                  <a:srgbClr val="B03030"/>
                </a:solidFill>
                <a:latin typeface="Lora"/>
              </a:rPr>
              <a:t>−31.10 pp</a:t>
            </a:r>
          </a:p>
          <a:p>
            <a:pPr algn="ctr"/>
            <a:r>
              <a:rPr sz="950">
                <a:solidFill>
                  <a:srgbClr val="5B6472"/>
                </a:solidFill>
                <a:latin typeface="Calibri"/>
              </a:rPr>
              <a:t>worst-case drop</a:t>
            </a:r>
          </a:p>
        </p:txBody>
      </p:sp>
      <p:sp>
        <p:nvSpPr>
          <p:cNvPr id="8" name="Rounded Rectangle 7"/>
          <p:cNvSpPr/>
          <p:nvPr/>
        </p:nvSpPr>
        <p:spPr>
          <a:xfrm>
            <a:off x="3739896" y="914400"/>
            <a:ext cx="1609344" cy="822960"/>
          </a:xfrm>
          <a:prstGeom prst="roundRect">
            <a:avLst>
              <a:gd name="adj" fmla="val 10000"/>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500" b="1">
                <a:solidFill>
                  <a:srgbClr val="B03030"/>
                </a:solidFill>
                <a:latin typeface="Lora"/>
              </a:rPr>
              <a:t>14% → 28%</a:t>
            </a:r>
          </a:p>
          <a:p>
            <a:pPr algn="ctr"/>
            <a:r>
              <a:rPr sz="950">
                <a:solidFill>
                  <a:srgbClr val="5B6472"/>
                </a:solidFill>
                <a:latin typeface="Calibri"/>
              </a:rPr>
              <a:t>GPT-4 conflict rate</a:t>
            </a:r>
          </a:p>
        </p:txBody>
      </p:sp>
      <p:sp>
        <p:nvSpPr>
          <p:cNvPr id="9" name="Rounded Rectangle 8"/>
          <p:cNvSpPr/>
          <p:nvPr/>
        </p:nvSpPr>
        <p:spPr>
          <a:xfrm>
            <a:off x="5495544" y="914400"/>
            <a:ext cx="1609344" cy="822960"/>
          </a:xfrm>
          <a:prstGeom prst="roundRect">
            <a:avLst>
              <a:gd name="adj" fmla="val 10000"/>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500" b="1">
                <a:solidFill>
                  <a:srgbClr val="DAAA01"/>
                </a:solidFill>
                <a:latin typeface="Lora"/>
              </a:rPr>
              <a:t>≈50%</a:t>
            </a:r>
          </a:p>
          <a:p>
            <a:pPr algn="ctr"/>
            <a:r>
              <a:rPr sz="950">
                <a:solidFill>
                  <a:srgbClr val="5B6472"/>
                </a:solidFill>
                <a:latin typeface="Calibri"/>
              </a:rPr>
              <a:t>recognition precision</a:t>
            </a:r>
          </a:p>
        </p:txBody>
      </p:sp>
      <p:sp>
        <p:nvSpPr>
          <p:cNvPr id="10" name="Rounded Rectangle 9"/>
          <p:cNvSpPr/>
          <p:nvPr/>
        </p:nvSpPr>
        <p:spPr>
          <a:xfrm>
            <a:off x="7251192" y="914400"/>
            <a:ext cx="1609344" cy="822960"/>
          </a:xfrm>
          <a:prstGeom prst="roundRect">
            <a:avLst>
              <a:gd name="adj" fmla="val 10000"/>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500" b="1">
                <a:solidFill>
                  <a:srgbClr val="B03030"/>
                </a:solidFill>
                <a:latin typeface="Lora"/>
              </a:rPr>
              <a:t>&lt;23%</a:t>
            </a:r>
          </a:p>
          <a:p>
            <a:pPr algn="ctr"/>
            <a:r>
              <a:rPr sz="950">
                <a:solidFill>
                  <a:srgbClr val="5B6472"/>
                </a:solidFill>
                <a:latin typeface="Calibri"/>
              </a:rPr>
              <a:t>can localize it</a:t>
            </a:r>
          </a:p>
        </p:txBody>
      </p:sp>
      <p:sp>
        <p:nvSpPr>
          <p:cNvPr id="11" name="Rounded Rectangle 10"/>
          <p:cNvSpPr/>
          <p:nvPr/>
        </p:nvSpPr>
        <p:spPr>
          <a:xfrm>
            <a:off x="228600" y="1883664"/>
            <a:ext cx="4251960" cy="1572768"/>
          </a:xfrm>
          <a:prstGeom prst="roundRect">
            <a:avLst>
              <a:gd name="adj" fmla="val 8000"/>
            </a:avLst>
          </a:prstGeom>
          <a:solidFill>
            <a:srgbClr val="ECF6E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100" b="1">
                <a:solidFill>
                  <a:srgbClr val="1E7A3C"/>
                </a:solidFill>
                <a:latin typeface="Calibri"/>
              </a:rPr>
              <a:t>WHAT ORCHID RECORDS</a:t>
            </a:r>
          </a:p>
          <a:p>
            <a:pPr algn="l">
              <a:spcAft>
                <a:spcPts val="100"/>
              </a:spcAft>
            </a:pPr>
            <a:r>
              <a:rPr sz="1050" b="0">
                <a:solidFill>
                  <a:srgbClr val="002754"/>
                </a:solidFill>
                <a:latin typeface="Calibri"/>
              </a:rPr>
              <a:t>✓  Pass@k on real unit tests</a:t>
            </a:r>
          </a:p>
          <a:p>
            <a:pPr algn="l">
              <a:spcAft>
                <a:spcPts val="100"/>
              </a:spcAft>
            </a:pPr>
            <a:r>
              <a:rPr sz="1050" b="0">
                <a:solidFill>
                  <a:srgbClr val="002754"/>
                </a:solidFill>
                <a:latin typeface="Calibri"/>
              </a:rPr>
              <a:t>✓  Functional divergence across samples</a:t>
            </a:r>
          </a:p>
          <a:p>
            <a:pPr algn="l">
              <a:spcAft>
                <a:spcPts val="100"/>
              </a:spcAft>
            </a:pPr>
            <a:r>
              <a:rPr sz="1050" b="0">
                <a:solidFill>
                  <a:srgbClr val="002754"/>
                </a:solidFill>
                <a:latin typeface="Calibri"/>
              </a:rPr>
              <a:t>✓  Whether the model notices the ambiguity</a:t>
            </a:r>
          </a:p>
          <a:p>
            <a:pPr algn="l">
              <a:spcAft>
                <a:spcPts val="100"/>
              </a:spcAft>
            </a:pPr>
            <a:r>
              <a:rPr sz="1050" b="0">
                <a:solidFill>
                  <a:srgbClr val="002754"/>
                </a:solidFill>
                <a:latin typeface="Calibri"/>
              </a:rPr>
              <a:t>✓  Requirement token length &amp; perplexity</a:t>
            </a:r>
          </a:p>
        </p:txBody>
      </p:sp>
      <p:sp>
        <p:nvSpPr>
          <p:cNvPr id="12" name="Rounded Rectangle 11"/>
          <p:cNvSpPr/>
          <p:nvPr/>
        </p:nvSpPr>
        <p:spPr>
          <a:xfrm>
            <a:off x="4663440" y="1883664"/>
            <a:ext cx="4251960" cy="1572768"/>
          </a:xfrm>
          <a:prstGeom prst="roundRect">
            <a:avLst>
              <a:gd name="adj" fmla="val 8000"/>
            </a:avLst>
          </a:prstGeom>
          <a:solidFill>
            <a:srgbClr val="FBEEEE"/>
          </a:solidFill>
          <a:ln w="13970">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100" b="1">
                <a:solidFill>
                  <a:srgbClr val="B03030"/>
                </a:solidFill>
                <a:latin typeface="Calibri"/>
              </a:rPr>
              <a:t>WHAT IT NEVER RECORDS</a:t>
            </a:r>
          </a:p>
          <a:p>
            <a:pPr algn="l">
              <a:spcAft>
                <a:spcPts val="100"/>
              </a:spcAft>
            </a:pPr>
            <a:r>
              <a:rPr sz="1050" b="0">
                <a:solidFill>
                  <a:srgbClr val="002754"/>
                </a:solidFill>
                <a:latin typeface="Calibri"/>
              </a:rPr>
              <a:t>✗  Output / completion tokens</a:t>
            </a:r>
          </a:p>
          <a:p>
            <a:pPr algn="l">
              <a:spcAft>
                <a:spcPts val="100"/>
              </a:spcAft>
            </a:pPr>
            <a:r>
              <a:rPr sz="1050" b="0">
                <a:solidFill>
                  <a:srgbClr val="002754"/>
                </a:solidFill>
                <a:latin typeface="Calibri"/>
              </a:rPr>
              <a:t>✗  Wall-clock latency</a:t>
            </a:r>
          </a:p>
          <a:p>
            <a:pPr algn="l">
              <a:spcAft>
                <a:spcPts val="100"/>
              </a:spcAft>
            </a:pPr>
            <a:r>
              <a:rPr sz="1050" b="0">
                <a:solidFill>
                  <a:srgbClr val="002754"/>
                </a:solidFill>
                <a:latin typeface="Calibri"/>
              </a:rPr>
              <a:t>✗  Cost per successful solution</a:t>
            </a:r>
          </a:p>
          <a:p>
            <a:pPr algn="l">
              <a:spcAft>
                <a:spcPts val="100"/>
              </a:spcAft>
            </a:pPr>
            <a:r>
              <a:rPr sz="1050" b="0">
                <a:solidFill>
                  <a:srgbClr val="002754"/>
                </a:solidFill>
                <a:latin typeface="Calibri"/>
              </a:rPr>
              <a:t>✗  Any cost conditional on succeeding</a:t>
            </a:r>
          </a:p>
        </p:txBody>
      </p:sp>
      <p:sp>
        <p:nvSpPr>
          <p:cNvPr id="13" name="Rounded Rectangle 12"/>
          <p:cNvSpPr/>
          <p:nvPr/>
        </p:nvSpPr>
        <p:spPr>
          <a:xfrm>
            <a:off x="228600" y="3584448"/>
            <a:ext cx="8686800" cy="658368"/>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50" b="1">
                <a:solidFill>
                  <a:srgbClr val="002754"/>
                </a:solidFill>
                <a:latin typeface="Calibri"/>
              </a:rPr>
              <a:t>USEFUL FOR OUR DESIGN:  ambiguous requirements are SHORTER  (−0.6% to −2.6% input tokens)  but carry more uncertainty  (+4.5% to +17.8% perplexity)</a:t>
            </a:r>
          </a:p>
          <a:p>
            <a:pPr algn="ctr">
              <a:spcAft>
                <a:spcPts val="100"/>
              </a:spcAft>
            </a:pPr>
            <a:r>
              <a:rPr sz="1050" b="0">
                <a:solidFill>
                  <a:srgbClr val="5B6472"/>
                </a:solidFill>
                <a:latin typeface="Calibri"/>
              </a:rPr>
              <a:t>So if output length goes up, a longer prompt cannot be the explanation.</a:t>
            </a:r>
          </a:p>
        </p:txBody>
      </p:sp>
      <p:sp>
        <p:nvSpPr>
          <p:cNvPr id="14" name="Rectangle 13"/>
          <p:cNvSpPr/>
          <p:nvPr/>
        </p:nvSpPr>
        <p:spPr>
          <a:xfrm>
            <a:off x="228600" y="4352544"/>
            <a:ext cx="8686800" cy="47548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Doing well on clear requirements does not predict stability under ambiguity: GPT-4 loses 28+ points on Orchid-BCB, Qwen2.5-Coder about 8.</a:t>
            </a:r>
          </a:p>
        </p:txBody>
      </p:sp>
      <p:sp>
        <p:nvSpPr>
          <p:cNvPr id="15" name="Rectangle 14"/>
          <p:cNvSpPr/>
          <p:nvPr/>
        </p:nvSpPr>
        <p:spPr>
          <a:xfrm>
            <a:off x="228600" y="4352544"/>
            <a:ext cx="50292" cy="475488"/>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When Prompts Go Wrong: Defective Task Descriptions</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Larbi et al. · University of Luxembourg &amp; UCL · arXiv:2507.20439 (Jul 2025)</a:t>
            </a:r>
          </a:p>
        </p:txBody>
      </p:sp>
      <p:sp>
        <p:nvSpPr>
          <p:cNvPr id="6" name="Rounded Rectangle 5"/>
          <p:cNvSpPr/>
          <p:nvPr/>
        </p:nvSpPr>
        <p:spPr>
          <a:xfrm>
            <a:off x="228600" y="1188720"/>
            <a:ext cx="1417320" cy="960120"/>
          </a:xfrm>
          <a:prstGeom prst="roundRect">
            <a:avLst>
              <a:gd name="adj" fmla="val 8000"/>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5B6472"/>
                </a:solidFill>
                <a:latin typeface="Calibri"/>
              </a:rPr>
              <a:t>HumanEval</a:t>
            </a:r>
          </a:p>
          <a:p>
            <a:pPr algn="ctr">
              <a:spcAft>
                <a:spcPts val="100"/>
              </a:spcAft>
            </a:pPr>
            <a:r>
              <a:rPr sz="1000" b="1">
                <a:solidFill>
                  <a:srgbClr val="5B6472"/>
                </a:solidFill>
                <a:latin typeface="Calibri"/>
              </a:rPr>
              <a:t>+ MBPP</a:t>
            </a:r>
          </a:p>
          <a:p>
            <a:pPr algn="ctr">
              <a:spcAft>
                <a:spcPts val="100"/>
              </a:spcAft>
            </a:pPr>
            <a:r>
              <a:rPr sz="850" b="0">
                <a:solidFill>
                  <a:srgbClr val="5B6472"/>
                </a:solidFill>
                <a:latin typeface="Calibri"/>
              </a:rPr>
              <a:t>164 + 974 tasks</a:t>
            </a:r>
          </a:p>
        </p:txBody>
      </p:sp>
      <p:sp>
        <p:nvSpPr>
          <p:cNvPr id="7" name="Right Arrow 6"/>
          <p:cNvSpPr/>
          <p:nvPr/>
        </p:nvSpPr>
        <p:spPr>
          <a:xfrm>
            <a:off x="1709928" y="1554480"/>
            <a:ext cx="256032" cy="237744"/>
          </a:xfrm>
          <a:prstGeom prst="rightArrow">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029968" y="1188720"/>
            <a:ext cx="1417320" cy="960120"/>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1155CC"/>
                </a:solidFill>
                <a:latin typeface="Calibri"/>
              </a:rPr>
              <a:t>GPT-4</a:t>
            </a:r>
          </a:p>
          <a:p>
            <a:pPr algn="ctr">
              <a:spcAft>
                <a:spcPts val="100"/>
              </a:spcAft>
            </a:pPr>
            <a:r>
              <a:rPr sz="1000" b="1">
                <a:solidFill>
                  <a:srgbClr val="1155CC"/>
                </a:solidFill>
                <a:latin typeface="Calibri"/>
              </a:rPr>
              <a:t>MUTATION</a:t>
            </a:r>
          </a:p>
          <a:p>
            <a:pPr algn="ctr">
              <a:spcAft>
                <a:spcPts val="100"/>
              </a:spcAft>
            </a:pPr>
            <a:r>
              <a:rPr sz="850" b="0">
                <a:solidFill>
                  <a:srgbClr val="5B6472"/>
                </a:solidFill>
                <a:latin typeface="Calibri"/>
              </a:rPr>
              <a:t>guided by explicit</a:t>
            </a:r>
          </a:p>
          <a:p>
            <a:pPr algn="ctr">
              <a:spcAft>
                <a:spcPts val="100"/>
              </a:spcAft>
            </a:pPr>
            <a:r>
              <a:rPr sz="850" b="0">
                <a:solidFill>
                  <a:srgbClr val="5B6472"/>
                </a:solidFill>
                <a:latin typeface="Calibri"/>
              </a:rPr>
              <a:t>mutation rules</a:t>
            </a:r>
          </a:p>
        </p:txBody>
      </p:sp>
      <p:sp>
        <p:nvSpPr>
          <p:cNvPr id="9" name="Right Arrow 8"/>
          <p:cNvSpPr/>
          <p:nvPr/>
        </p:nvSpPr>
        <p:spPr>
          <a:xfrm>
            <a:off x="3511296" y="1554480"/>
            <a:ext cx="256032" cy="237744"/>
          </a:xfrm>
          <a:prstGeom prst="rightArrow">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831336" y="969264"/>
            <a:ext cx="2148840" cy="420624"/>
          </a:xfrm>
          <a:prstGeom prst="roundRect">
            <a:avLst>
              <a:gd name="adj" fmla="val 8000"/>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DAAA01"/>
                </a:solidFill>
                <a:latin typeface="Calibri"/>
              </a:rPr>
              <a:t>AMBIGUOUS</a:t>
            </a:r>
          </a:p>
          <a:p>
            <a:pPr algn="ctr">
              <a:spcAft>
                <a:spcPts val="100"/>
              </a:spcAft>
            </a:pPr>
            <a:r>
              <a:rPr sz="700" b="0">
                <a:solidFill>
                  <a:srgbClr val="5B6472"/>
                </a:solidFill>
                <a:latin typeface="Calibri"/>
              </a:rPr>
              <a:t>replace precise terms with general ones</a:t>
            </a:r>
          </a:p>
        </p:txBody>
      </p:sp>
      <p:sp>
        <p:nvSpPr>
          <p:cNvPr id="11" name="Rounded Rectangle 10"/>
          <p:cNvSpPr/>
          <p:nvPr/>
        </p:nvSpPr>
        <p:spPr>
          <a:xfrm>
            <a:off x="3831336" y="1426464"/>
            <a:ext cx="2148840" cy="420624"/>
          </a:xfrm>
          <a:prstGeom prst="roundRect">
            <a:avLst>
              <a:gd name="adj" fmla="val 8000"/>
            </a:avLst>
          </a:prstGeom>
          <a:solidFill>
            <a:srgbClr val="FFFFFF"/>
          </a:solidFill>
          <a:ln w="13970">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B03030"/>
                </a:solidFill>
                <a:latin typeface="Calibri"/>
              </a:rPr>
              <a:t>CONTRADICTORY</a:t>
            </a:r>
          </a:p>
          <a:p>
            <a:pPr algn="ctr">
              <a:spcAft>
                <a:spcPts val="100"/>
              </a:spcAft>
            </a:pPr>
            <a:r>
              <a:rPr sz="700" b="0">
                <a:solidFill>
                  <a:srgbClr val="5B6472"/>
                </a:solidFill>
                <a:latin typeface="Calibri"/>
              </a:rPr>
              <a:t>add a conflicting constraint</a:t>
            </a:r>
          </a:p>
        </p:txBody>
      </p:sp>
      <p:sp>
        <p:nvSpPr>
          <p:cNvPr id="12" name="Rounded Rectangle 11"/>
          <p:cNvSpPr/>
          <p:nvPr/>
        </p:nvSpPr>
        <p:spPr>
          <a:xfrm>
            <a:off x="3831336" y="1883664"/>
            <a:ext cx="2148840" cy="420624"/>
          </a:xfrm>
          <a:prstGeom prst="roundRect">
            <a:avLst>
              <a:gd name="adj" fmla="val 8000"/>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5B6472"/>
                </a:solidFill>
                <a:latin typeface="Calibri"/>
              </a:rPr>
              <a:t>INCOMPLETE</a:t>
            </a:r>
          </a:p>
          <a:p>
            <a:pPr algn="ctr">
              <a:spcAft>
                <a:spcPts val="100"/>
              </a:spcAft>
            </a:pPr>
            <a:r>
              <a:rPr sz="700" b="0">
                <a:solidFill>
                  <a:srgbClr val="5B6472"/>
                </a:solidFill>
                <a:latin typeface="Calibri"/>
              </a:rPr>
              <a:t>omit a parameter or edge case</a:t>
            </a:r>
          </a:p>
        </p:txBody>
      </p:sp>
      <p:sp>
        <p:nvSpPr>
          <p:cNvPr id="13" name="Right Arrow 12"/>
          <p:cNvSpPr/>
          <p:nvPr/>
        </p:nvSpPr>
        <p:spPr>
          <a:xfrm>
            <a:off x="6044184" y="1554480"/>
            <a:ext cx="256032" cy="237744"/>
          </a:xfrm>
          <a:prstGeom prst="rightArrow">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64224" y="1188720"/>
            <a:ext cx="1298448" cy="960120"/>
          </a:xfrm>
          <a:prstGeom prst="roundRect">
            <a:avLst>
              <a:gd name="adj" fmla="val 8000"/>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002754"/>
                </a:solidFill>
                <a:latin typeface="Calibri"/>
              </a:rPr>
              <a:t>EXPERT</a:t>
            </a:r>
          </a:p>
          <a:p>
            <a:pPr algn="ctr">
              <a:spcAft>
                <a:spcPts val="100"/>
              </a:spcAft>
            </a:pPr>
            <a:r>
              <a:rPr sz="1000" b="1">
                <a:solidFill>
                  <a:srgbClr val="002754"/>
                </a:solidFill>
                <a:latin typeface="Calibri"/>
              </a:rPr>
              <a:t>VALIDATION</a:t>
            </a:r>
          </a:p>
          <a:p>
            <a:pPr algn="ctr">
              <a:spcAft>
                <a:spcPts val="100"/>
              </a:spcAft>
            </a:pPr>
            <a:r>
              <a:rPr sz="850" b="0">
                <a:solidFill>
                  <a:srgbClr val="5B6472"/>
                </a:solidFill>
                <a:latin typeface="Calibri"/>
              </a:rPr>
              <a:t>5 researchers</a:t>
            </a:r>
          </a:p>
        </p:txBody>
      </p:sp>
      <p:sp>
        <p:nvSpPr>
          <p:cNvPr id="15" name="Right Arrow 14"/>
          <p:cNvSpPr/>
          <p:nvPr/>
        </p:nvSpPr>
        <p:spPr>
          <a:xfrm>
            <a:off x="7726679" y="1554480"/>
            <a:ext cx="256032" cy="237744"/>
          </a:xfrm>
          <a:prstGeom prst="rightArrow">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0" y="1188720"/>
            <a:ext cx="868680" cy="960120"/>
          </a:xfrm>
          <a:prstGeom prst="roundRect">
            <a:avLst>
              <a:gd name="adj" fmla="val 8000"/>
            </a:avLst>
          </a:prstGeom>
          <a:solidFill>
            <a:srgbClr val="002754"/>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FFFFFF"/>
                </a:solidFill>
                <a:latin typeface="Calibri"/>
              </a:rPr>
              <a:t>DEFECT</a:t>
            </a:r>
          </a:p>
          <a:p>
            <a:pPr algn="ctr">
              <a:spcAft>
                <a:spcPts val="100"/>
              </a:spcAft>
            </a:pPr>
            <a:r>
              <a:rPr sz="950" b="1">
                <a:solidFill>
                  <a:srgbClr val="FFFFFF"/>
                </a:solidFill>
                <a:latin typeface="Calibri"/>
              </a:rPr>
              <a:t>DATASET</a:t>
            </a:r>
          </a:p>
        </p:txBody>
      </p:sp>
      <p:sp>
        <p:nvSpPr>
          <p:cNvPr id="17" name="Rounded Rectangle 16"/>
          <p:cNvSpPr/>
          <p:nvPr/>
        </p:nvSpPr>
        <p:spPr>
          <a:xfrm>
            <a:off x="228600" y="2395728"/>
            <a:ext cx="2057400" cy="804672"/>
          </a:xfrm>
          <a:prstGeom prst="roundRect">
            <a:avLst>
              <a:gd name="adj" fmla="val 10000"/>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600" b="1">
                <a:solidFill>
                  <a:srgbClr val="1E7A3C"/>
                </a:solidFill>
                <a:latin typeface="Lora"/>
              </a:rPr>
              <a:t>85%</a:t>
            </a:r>
          </a:p>
          <a:p>
            <a:pPr algn="ctr"/>
            <a:r>
              <a:rPr sz="950">
                <a:solidFill>
                  <a:srgbClr val="5B6472"/>
                </a:solidFill>
                <a:latin typeface="Calibri"/>
              </a:rPr>
              <a:t>rated natural by reviewers</a:t>
            </a:r>
          </a:p>
        </p:txBody>
      </p:sp>
      <p:sp>
        <p:nvSpPr>
          <p:cNvPr id="18" name="Rounded Rectangle 17"/>
          <p:cNvSpPr/>
          <p:nvPr/>
        </p:nvSpPr>
        <p:spPr>
          <a:xfrm>
            <a:off x="2432304" y="2395728"/>
            <a:ext cx="2057400" cy="804672"/>
          </a:xfrm>
          <a:prstGeom prst="roundRect">
            <a:avLst>
              <a:gd name="adj" fmla="val 10000"/>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600" b="1">
                <a:solidFill>
                  <a:srgbClr val="1E7A3C"/>
                </a:solidFill>
                <a:latin typeface="Lora"/>
              </a:rPr>
              <a:t>93%</a:t>
            </a:r>
          </a:p>
          <a:p>
            <a:pPr algn="ctr"/>
            <a:r>
              <a:rPr sz="950">
                <a:solidFill>
                  <a:srgbClr val="5B6472"/>
                </a:solidFill>
                <a:latin typeface="Calibri"/>
              </a:rPr>
              <a:t>contain a valid defect instance</a:t>
            </a:r>
          </a:p>
        </p:txBody>
      </p:sp>
      <p:sp>
        <p:nvSpPr>
          <p:cNvPr id="19" name="Rounded Rectangle 18"/>
          <p:cNvSpPr/>
          <p:nvPr/>
        </p:nvSpPr>
        <p:spPr>
          <a:xfrm>
            <a:off x="4636008" y="2395728"/>
            <a:ext cx="2057400" cy="804672"/>
          </a:xfrm>
          <a:prstGeom prst="roundRect">
            <a:avLst>
              <a:gd name="adj" fmla="val 1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600" b="1">
                <a:solidFill>
                  <a:srgbClr val="002754"/>
                </a:solidFill>
                <a:latin typeface="Lora"/>
              </a:rPr>
              <a:t>4 models</a:t>
            </a:r>
          </a:p>
          <a:p>
            <a:pPr algn="ctr"/>
            <a:r>
              <a:rPr sz="950">
                <a:solidFill>
                  <a:srgbClr val="5B6472"/>
                </a:solidFill>
                <a:latin typeface="Calibri"/>
              </a:rPr>
              <a:t>at 6–7B and 32–34B scale</a:t>
            </a:r>
          </a:p>
        </p:txBody>
      </p:sp>
      <p:sp>
        <p:nvSpPr>
          <p:cNvPr id="20" name="Rounded Rectangle 19"/>
          <p:cNvSpPr/>
          <p:nvPr/>
        </p:nvSpPr>
        <p:spPr>
          <a:xfrm>
            <a:off x="6839712" y="2395728"/>
            <a:ext cx="2057400" cy="804672"/>
          </a:xfrm>
          <a:prstGeom prst="roundRect">
            <a:avLst>
              <a:gd name="adj" fmla="val 1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0"/>
              </a:spcAft>
            </a:pPr>
            <a:r>
              <a:rPr sz="1600" b="1">
                <a:solidFill>
                  <a:srgbClr val="5B6472"/>
                </a:solidFill>
                <a:latin typeface="Lora"/>
              </a:rPr>
              <a:t>512</a:t>
            </a:r>
          </a:p>
          <a:p>
            <a:pPr algn="ctr"/>
            <a:r>
              <a:rPr sz="950">
                <a:solidFill>
                  <a:srgbClr val="5B6472"/>
                </a:solidFill>
                <a:latin typeface="Calibri"/>
              </a:rPr>
              <a:t>max sequence length (tokens)</a:t>
            </a:r>
          </a:p>
        </p:txBody>
      </p:sp>
      <p:sp>
        <p:nvSpPr>
          <p:cNvPr id="21" name="Rounded Rectangle 20"/>
          <p:cNvSpPr/>
          <p:nvPr/>
        </p:nvSpPr>
        <p:spPr>
          <a:xfrm>
            <a:off x="228600" y="3383280"/>
            <a:ext cx="8686800" cy="621792"/>
          </a:xfrm>
          <a:prstGeom prst="roundRect">
            <a:avLst>
              <a:gd name="adj" fmla="val 8000"/>
            </a:avLst>
          </a:prstGeom>
          <a:solidFill>
            <a:srgbClr val="EEF3FA"/>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1155CC"/>
                </a:solidFill>
                <a:latin typeface="Calibri"/>
              </a:rPr>
              <a:t>METRICS</a:t>
            </a:r>
          </a:p>
          <a:p>
            <a:pPr algn="ctr">
              <a:spcAft>
                <a:spcPts val="100"/>
              </a:spcAft>
            </a:pPr>
            <a:r>
              <a:rPr sz="1100" b="0">
                <a:solidFill>
                  <a:srgbClr val="5B6472"/>
                </a:solidFill>
                <a:latin typeface="Calibri"/>
              </a:rPr>
              <a:t>MCC  (can the model tell clear from unclear?)   ·   Pass@1   ·   Successful Execution Rate   ·   Runnable but Incorrect Rate</a:t>
            </a:r>
          </a:p>
        </p:txBody>
      </p:sp>
      <p:sp>
        <p:nvSpPr>
          <p:cNvPr id="22" name="Rectangle 21"/>
          <p:cNvSpPr/>
          <p:nvPr/>
        </p:nvSpPr>
        <p:spPr>
          <a:xfrm>
            <a:off x="228600" y="4114800"/>
            <a:ext cx="8686800" cy="47548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5B6472"/>
                </a:solidFill>
                <a:latin typeface="Calibri"/>
              </a:rPr>
              <a:t>Items that failed validation were repaired by hand, so each one is a realistic instance of its defect class.</a:t>
            </a:r>
          </a:p>
        </p:txBody>
      </p:sp>
      <p:sp>
        <p:nvSpPr>
          <p:cNvPr id="23" name="Rectangle 22"/>
          <p:cNvSpPr/>
          <p:nvPr/>
        </p:nvSpPr>
        <p:spPr>
          <a:xfrm>
            <a:off x="228600" y="4114800"/>
            <a:ext cx="50292" cy="475488"/>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When Prompts Go Wrong: Code That Runs and Is Wrong</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GPT-4 on HumanEval, by task-description condition</a:t>
            </a:r>
          </a:p>
        </p:txBody>
      </p:sp>
      <p:sp>
        <p:nvSpPr>
          <p:cNvPr id="6" name="TextBox 5"/>
          <p:cNvSpPr txBox="1"/>
          <p:nvPr/>
        </p:nvSpPr>
        <p:spPr>
          <a:xfrm>
            <a:off x="228600" y="914400"/>
            <a:ext cx="8686800" cy="237744"/>
          </a:xfrm>
          <a:prstGeom prst="rect">
            <a:avLst/>
          </a:prstGeom>
          <a:noFill/>
        </p:spPr>
        <p:txBody>
          <a:bodyPr wrap="square">
            <a:spAutoFit/>
          </a:bodyPr>
          <a:lstStyle/>
          <a:p>
            <a:pPr algn="l"/>
            <a:r>
              <a:rPr sz="1000" b="1">
                <a:solidFill>
                  <a:srgbClr val="1155CC"/>
                </a:solidFill>
                <a:latin typeface="Calibri"/>
              </a:rPr>
              <a:t>PASS@1  ·  correctness collapses</a:t>
            </a:r>
          </a:p>
        </p:txBody>
      </p:sp>
      <p:sp>
        <p:nvSpPr>
          <p:cNvPr id="7" name="TextBox 6"/>
          <p:cNvSpPr txBox="1"/>
          <p:nvPr/>
        </p:nvSpPr>
        <p:spPr>
          <a:xfrm>
            <a:off x="228600" y="1170432"/>
            <a:ext cx="1417320" cy="256031"/>
          </a:xfrm>
          <a:prstGeom prst="rect">
            <a:avLst/>
          </a:prstGeom>
          <a:noFill/>
        </p:spPr>
        <p:txBody>
          <a:bodyPr wrap="square" anchor="ctr">
            <a:spAutoFit/>
          </a:bodyPr>
          <a:lstStyle/>
          <a:p>
            <a:pPr algn="r"/>
            <a:r>
              <a:rPr sz="1000">
                <a:solidFill>
                  <a:srgbClr val="5B6472"/>
                </a:solidFill>
                <a:latin typeface="Calibri"/>
              </a:rPr>
              <a:t>Original</a:t>
            </a:r>
          </a:p>
        </p:txBody>
      </p:sp>
      <p:sp>
        <p:nvSpPr>
          <p:cNvPr id="8" name="Rectangle 7"/>
          <p:cNvSpPr/>
          <p:nvPr/>
        </p:nvSpPr>
        <p:spPr>
          <a:xfrm>
            <a:off x="1737360" y="1188720"/>
            <a:ext cx="4754880" cy="219456"/>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37360" y="1188720"/>
            <a:ext cx="3509101" cy="219456"/>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47104" y="1170432"/>
            <a:ext cx="960120" cy="256031"/>
          </a:xfrm>
          <a:prstGeom prst="rect">
            <a:avLst/>
          </a:prstGeom>
          <a:noFill/>
        </p:spPr>
        <p:txBody>
          <a:bodyPr wrap="none" anchor="ctr">
            <a:spAutoFit/>
          </a:bodyPr>
          <a:lstStyle/>
          <a:p>
            <a:pPr algn="l"/>
            <a:r>
              <a:rPr sz="1000" b="1">
                <a:solidFill>
                  <a:srgbClr val="1155CC"/>
                </a:solidFill>
                <a:latin typeface="Calibri"/>
              </a:rPr>
              <a:t>73.8</a:t>
            </a:r>
          </a:p>
        </p:txBody>
      </p:sp>
      <p:sp>
        <p:nvSpPr>
          <p:cNvPr id="11" name="TextBox 10"/>
          <p:cNvSpPr txBox="1"/>
          <p:nvPr/>
        </p:nvSpPr>
        <p:spPr>
          <a:xfrm>
            <a:off x="228600" y="1453896"/>
            <a:ext cx="1417320" cy="256031"/>
          </a:xfrm>
          <a:prstGeom prst="rect">
            <a:avLst/>
          </a:prstGeom>
          <a:noFill/>
        </p:spPr>
        <p:txBody>
          <a:bodyPr wrap="square" anchor="ctr">
            <a:spAutoFit/>
          </a:bodyPr>
          <a:lstStyle/>
          <a:p>
            <a:pPr algn="r"/>
            <a:r>
              <a:rPr sz="1000">
                <a:solidFill>
                  <a:srgbClr val="5B6472"/>
                </a:solidFill>
                <a:latin typeface="Calibri"/>
              </a:rPr>
              <a:t>Incomplete</a:t>
            </a:r>
          </a:p>
        </p:txBody>
      </p:sp>
      <p:sp>
        <p:nvSpPr>
          <p:cNvPr id="12" name="Rectangle 11"/>
          <p:cNvSpPr/>
          <p:nvPr/>
        </p:nvSpPr>
        <p:spPr>
          <a:xfrm>
            <a:off x="1737360" y="1472184"/>
            <a:ext cx="4754880" cy="219456"/>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737360" y="1472184"/>
            <a:ext cx="2144450" cy="219456"/>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7104" y="1453896"/>
            <a:ext cx="960120" cy="256031"/>
          </a:xfrm>
          <a:prstGeom prst="rect">
            <a:avLst/>
          </a:prstGeom>
          <a:noFill/>
        </p:spPr>
        <p:txBody>
          <a:bodyPr wrap="none" anchor="ctr">
            <a:spAutoFit/>
          </a:bodyPr>
          <a:lstStyle/>
          <a:p>
            <a:pPr algn="l"/>
            <a:r>
              <a:rPr sz="1000" b="1">
                <a:solidFill>
                  <a:srgbClr val="1155CC"/>
                </a:solidFill>
                <a:latin typeface="Calibri"/>
              </a:rPr>
              <a:t>45.1</a:t>
            </a:r>
          </a:p>
        </p:txBody>
      </p:sp>
      <p:sp>
        <p:nvSpPr>
          <p:cNvPr id="15" name="TextBox 14"/>
          <p:cNvSpPr txBox="1"/>
          <p:nvPr/>
        </p:nvSpPr>
        <p:spPr>
          <a:xfrm>
            <a:off x="228600" y="1737360"/>
            <a:ext cx="1417320" cy="256031"/>
          </a:xfrm>
          <a:prstGeom prst="rect">
            <a:avLst/>
          </a:prstGeom>
          <a:noFill/>
        </p:spPr>
        <p:txBody>
          <a:bodyPr wrap="square" anchor="ctr">
            <a:spAutoFit/>
          </a:bodyPr>
          <a:lstStyle/>
          <a:p>
            <a:pPr algn="r"/>
            <a:r>
              <a:rPr sz="1000">
                <a:solidFill>
                  <a:srgbClr val="5B6472"/>
                </a:solidFill>
                <a:latin typeface="Calibri"/>
              </a:rPr>
              <a:t>Ambiguous</a:t>
            </a:r>
          </a:p>
        </p:txBody>
      </p:sp>
      <p:sp>
        <p:nvSpPr>
          <p:cNvPr id="16" name="Rectangle 15"/>
          <p:cNvSpPr/>
          <p:nvPr/>
        </p:nvSpPr>
        <p:spPr>
          <a:xfrm>
            <a:off x="1737360" y="1755648"/>
            <a:ext cx="4754880" cy="219456"/>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737360" y="1755648"/>
            <a:ext cx="1654698" cy="219456"/>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4" y="1737360"/>
            <a:ext cx="960120" cy="256031"/>
          </a:xfrm>
          <a:prstGeom prst="rect">
            <a:avLst/>
          </a:prstGeom>
          <a:noFill/>
        </p:spPr>
        <p:txBody>
          <a:bodyPr wrap="none" anchor="ctr">
            <a:spAutoFit/>
          </a:bodyPr>
          <a:lstStyle/>
          <a:p>
            <a:pPr algn="l"/>
            <a:r>
              <a:rPr sz="1000" b="1">
                <a:solidFill>
                  <a:srgbClr val="1155CC"/>
                </a:solidFill>
                <a:latin typeface="Calibri"/>
              </a:rPr>
              <a:t>34.8</a:t>
            </a:r>
          </a:p>
        </p:txBody>
      </p:sp>
      <p:sp>
        <p:nvSpPr>
          <p:cNvPr id="19" name="TextBox 18"/>
          <p:cNvSpPr txBox="1"/>
          <p:nvPr/>
        </p:nvSpPr>
        <p:spPr>
          <a:xfrm>
            <a:off x="228600" y="2020824"/>
            <a:ext cx="1417320" cy="256031"/>
          </a:xfrm>
          <a:prstGeom prst="rect">
            <a:avLst/>
          </a:prstGeom>
          <a:noFill/>
        </p:spPr>
        <p:txBody>
          <a:bodyPr wrap="square" anchor="ctr">
            <a:spAutoFit/>
          </a:bodyPr>
          <a:lstStyle/>
          <a:p>
            <a:pPr algn="r"/>
            <a:r>
              <a:rPr sz="1000">
                <a:solidFill>
                  <a:srgbClr val="5B6472"/>
                </a:solidFill>
                <a:latin typeface="Calibri"/>
              </a:rPr>
              <a:t>Contradictory</a:t>
            </a:r>
          </a:p>
        </p:txBody>
      </p:sp>
      <p:sp>
        <p:nvSpPr>
          <p:cNvPr id="20" name="Rectangle 19"/>
          <p:cNvSpPr/>
          <p:nvPr/>
        </p:nvSpPr>
        <p:spPr>
          <a:xfrm>
            <a:off x="1737360" y="2039112"/>
            <a:ext cx="4754880" cy="219456"/>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737360" y="2039112"/>
            <a:ext cx="318576" cy="219456"/>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47104" y="2020824"/>
            <a:ext cx="960120" cy="256031"/>
          </a:xfrm>
          <a:prstGeom prst="rect">
            <a:avLst/>
          </a:prstGeom>
          <a:noFill/>
        </p:spPr>
        <p:txBody>
          <a:bodyPr wrap="none" anchor="ctr">
            <a:spAutoFit/>
          </a:bodyPr>
          <a:lstStyle/>
          <a:p>
            <a:pPr algn="l"/>
            <a:r>
              <a:rPr sz="1000" b="1">
                <a:solidFill>
                  <a:srgbClr val="1155CC"/>
                </a:solidFill>
                <a:latin typeface="Calibri"/>
              </a:rPr>
              <a:t>6.7</a:t>
            </a:r>
          </a:p>
        </p:txBody>
      </p:sp>
      <p:sp>
        <p:nvSpPr>
          <p:cNvPr id="23" name="TextBox 22"/>
          <p:cNvSpPr txBox="1"/>
          <p:nvPr/>
        </p:nvSpPr>
        <p:spPr>
          <a:xfrm>
            <a:off x="228600" y="2468880"/>
            <a:ext cx="8686800" cy="237744"/>
          </a:xfrm>
          <a:prstGeom prst="rect">
            <a:avLst/>
          </a:prstGeom>
          <a:noFill/>
        </p:spPr>
        <p:txBody>
          <a:bodyPr wrap="square">
            <a:spAutoFit/>
          </a:bodyPr>
          <a:lstStyle/>
          <a:p>
            <a:pPr algn="l"/>
            <a:r>
              <a:rPr sz="1000" b="1">
                <a:solidFill>
                  <a:srgbClr val="B03030"/>
                </a:solidFill>
                <a:latin typeface="Calibri"/>
              </a:rPr>
              <a:t>RUNNABLE BUT INCORRECT  ·  the code still runs</a:t>
            </a:r>
          </a:p>
        </p:txBody>
      </p:sp>
      <p:sp>
        <p:nvSpPr>
          <p:cNvPr id="24" name="TextBox 23"/>
          <p:cNvSpPr txBox="1"/>
          <p:nvPr/>
        </p:nvSpPr>
        <p:spPr>
          <a:xfrm>
            <a:off x="228600" y="2724912"/>
            <a:ext cx="1417320" cy="256031"/>
          </a:xfrm>
          <a:prstGeom prst="rect">
            <a:avLst/>
          </a:prstGeom>
          <a:noFill/>
        </p:spPr>
        <p:txBody>
          <a:bodyPr wrap="square" anchor="ctr">
            <a:spAutoFit/>
          </a:bodyPr>
          <a:lstStyle/>
          <a:p>
            <a:pPr algn="r"/>
            <a:r>
              <a:rPr sz="1000">
                <a:solidFill>
                  <a:srgbClr val="5B6472"/>
                </a:solidFill>
                <a:latin typeface="Calibri"/>
              </a:rPr>
              <a:t>Original</a:t>
            </a:r>
          </a:p>
        </p:txBody>
      </p:sp>
      <p:sp>
        <p:nvSpPr>
          <p:cNvPr id="25" name="Rectangle 24"/>
          <p:cNvSpPr/>
          <p:nvPr/>
        </p:nvSpPr>
        <p:spPr>
          <a:xfrm>
            <a:off x="1737360" y="2743200"/>
            <a:ext cx="4754880" cy="219456"/>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37360" y="2743200"/>
            <a:ext cx="1160190" cy="219456"/>
          </a:xfrm>
          <a:prstGeom prst="rect">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47104" y="2724912"/>
            <a:ext cx="960120" cy="256031"/>
          </a:xfrm>
          <a:prstGeom prst="rect">
            <a:avLst/>
          </a:prstGeom>
          <a:noFill/>
        </p:spPr>
        <p:txBody>
          <a:bodyPr wrap="none" anchor="ctr">
            <a:spAutoFit/>
          </a:bodyPr>
          <a:lstStyle/>
          <a:p>
            <a:pPr algn="l"/>
            <a:r>
              <a:rPr sz="1000" b="1">
                <a:solidFill>
                  <a:srgbClr val="B03030"/>
                </a:solidFill>
                <a:latin typeface="Calibri"/>
              </a:rPr>
              <a:t>24.4</a:t>
            </a:r>
          </a:p>
        </p:txBody>
      </p:sp>
      <p:sp>
        <p:nvSpPr>
          <p:cNvPr id="28" name="TextBox 27"/>
          <p:cNvSpPr txBox="1"/>
          <p:nvPr/>
        </p:nvSpPr>
        <p:spPr>
          <a:xfrm>
            <a:off x="228600" y="3008376"/>
            <a:ext cx="1417320" cy="256031"/>
          </a:xfrm>
          <a:prstGeom prst="rect">
            <a:avLst/>
          </a:prstGeom>
          <a:noFill/>
        </p:spPr>
        <p:txBody>
          <a:bodyPr wrap="square" anchor="ctr">
            <a:spAutoFit/>
          </a:bodyPr>
          <a:lstStyle/>
          <a:p>
            <a:pPr algn="r"/>
            <a:r>
              <a:rPr sz="1000">
                <a:solidFill>
                  <a:srgbClr val="5B6472"/>
                </a:solidFill>
                <a:latin typeface="Calibri"/>
              </a:rPr>
              <a:t>Incomplete</a:t>
            </a:r>
          </a:p>
        </p:txBody>
      </p:sp>
      <p:sp>
        <p:nvSpPr>
          <p:cNvPr id="29" name="Rectangle 28"/>
          <p:cNvSpPr/>
          <p:nvPr/>
        </p:nvSpPr>
        <p:spPr>
          <a:xfrm>
            <a:off x="1737360" y="3026664"/>
            <a:ext cx="4754880" cy="219456"/>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737360" y="3026664"/>
            <a:ext cx="2553370" cy="219456"/>
          </a:xfrm>
          <a:prstGeom prst="rect">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47104" y="3008376"/>
            <a:ext cx="960120" cy="256031"/>
          </a:xfrm>
          <a:prstGeom prst="rect">
            <a:avLst/>
          </a:prstGeom>
          <a:noFill/>
        </p:spPr>
        <p:txBody>
          <a:bodyPr wrap="none" anchor="ctr">
            <a:spAutoFit/>
          </a:bodyPr>
          <a:lstStyle/>
          <a:p>
            <a:pPr algn="l"/>
            <a:r>
              <a:rPr sz="1000" b="1">
                <a:solidFill>
                  <a:srgbClr val="B03030"/>
                </a:solidFill>
                <a:latin typeface="Calibri"/>
              </a:rPr>
              <a:t>53.7</a:t>
            </a:r>
          </a:p>
        </p:txBody>
      </p:sp>
      <p:sp>
        <p:nvSpPr>
          <p:cNvPr id="32" name="TextBox 31"/>
          <p:cNvSpPr txBox="1"/>
          <p:nvPr/>
        </p:nvSpPr>
        <p:spPr>
          <a:xfrm>
            <a:off x="228600" y="3291840"/>
            <a:ext cx="1417320" cy="256031"/>
          </a:xfrm>
          <a:prstGeom prst="rect">
            <a:avLst/>
          </a:prstGeom>
          <a:noFill/>
        </p:spPr>
        <p:txBody>
          <a:bodyPr wrap="square" anchor="ctr">
            <a:spAutoFit/>
          </a:bodyPr>
          <a:lstStyle/>
          <a:p>
            <a:pPr algn="r"/>
            <a:r>
              <a:rPr sz="1000">
                <a:solidFill>
                  <a:srgbClr val="5B6472"/>
                </a:solidFill>
                <a:latin typeface="Calibri"/>
              </a:rPr>
              <a:t>Ambiguous</a:t>
            </a:r>
          </a:p>
        </p:txBody>
      </p:sp>
      <p:sp>
        <p:nvSpPr>
          <p:cNvPr id="33" name="Rectangle 32"/>
          <p:cNvSpPr/>
          <p:nvPr/>
        </p:nvSpPr>
        <p:spPr>
          <a:xfrm>
            <a:off x="1737360" y="3310128"/>
            <a:ext cx="4754880" cy="219456"/>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737360" y="3310128"/>
            <a:ext cx="3071652" cy="219456"/>
          </a:xfrm>
          <a:prstGeom prst="rect">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291840"/>
            <a:ext cx="960120" cy="256031"/>
          </a:xfrm>
          <a:prstGeom prst="rect">
            <a:avLst/>
          </a:prstGeom>
          <a:noFill/>
        </p:spPr>
        <p:txBody>
          <a:bodyPr wrap="none" anchor="ctr">
            <a:spAutoFit/>
          </a:bodyPr>
          <a:lstStyle/>
          <a:p>
            <a:pPr algn="l"/>
            <a:r>
              <a:rPr sz="1000" b="1">
                <a:solidFill>
                  <a:srgbClr val="B03030"/>
                </a:solidFill>
                <a:latin typeface="Calibri"/>
              </a:rPr>
              <a:t>64.6</a:t>
            </a:r>
          </a:p>
        </p:txBody>
      </p:sp>
      <p:sp>
        <p:nvSpPr>
          <p:cNvPr id="36" name="TextBox 35"/>
          <p:cNvSpPr txBox="1"/>
          <p:nvPr/>
        </p:nvSpPr>
        <p:spPr>
          <a:xfrm>
            <a:off x="228600" y="3575303"/>
            <a:ext cx="1417320" cy="256031"/>
          </a:xfrm>
          <a:prstGeom prst="rect">
            <a:avLst/>
          </a:prstGeom>
          <a:noFill/>
        </p:spPr>
        <p:txBody>
          <a:bodyPr wrap="square" anchor="ctr">
            <a:spAutoFit/>
          </a:bodyPr>
          <a:lstStyle/>
          <a:p>
            <a:pPr algn="r"/>
            <a:r>
              <a:rPr sz="1000">
                <a:solidFill>
                  <a:srgbClr val="5B6472"/>
                </a:solidFill>
                <a:latin typeface="Calibri"/>
              </a:rPr>
              <a:t>Contradictory</a:t>
            </a:r>
          </a:p>
        </p:txBody>
      </p:sp>
      <p:sp>
        <p:nvSpPr>
          <p:cNvPr id="37" name="Rectangle 36"/>
          <p:cNvSpPr/>
          <p:nvPr/>
        </p:nvSpPr>
        <p:spPr>
          <a:xfrm>
            <a:off x="1737360" y="3593591"/>
            <a:ext cx="4754880" cy="219456"/>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737360" y="3593591"/>
            <a:ext cx="4231843" cy="219456"/>
          </a:xfrm>
          <a:prstGeom prst="rect">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47104" y="3575303"/>
            <a:ext cx="960120" cy="256031"/>
          </a:xfrm>
          <a:prstGeom prst="rect">
            <a:avLst/>
          </a:prstGeom>
          <a:noFill/>
        </p:spPr>
        <p:txBody>
          <a:bodyPr wrap="none" anchor="ctr">
            <a:spAutoFit/>
          </a:bodyPr>
          <a:lstStyle/>
          <a:p>
            <a:pPr algn="l"/>
            <a:r>
              <a:rPr sz="1000" b="1">
                <a:solidFill>
                  <a:srgbClr val="B03030"/>
                </a:solidFill>
                <a:latin typeface="Calibri"/>
              </a:rPr>
              <a:t>89.0</a:t>
            </a:r>
          </a:p>
        </p:txBody>
      </p:sp>
      <p:sp>
        <p:nvSpPr>
          <p:cNvPr id="40" name="Rounded Rectangle 39"/>
          <p:cNvSpPr/>
          <p:nvPr/>
        </p:nvSpPr>
        <p:spPr>
          <a:xfrm>
            <a:off x="7635240" y="1170432"/>
            <a:ext cx="1280160" cy="1161288"/>
          </a:xfrm>
          <a:prstGeom prst="roundRect">
            <a:avLst>
              <a:gd name="adj" fmla="val 8000"/>
            </a:avLst>
          </a:prstGeom>
          <a:solidFill>
            <a:srgbClr val="ECF6E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200" b="1">
                <a:solidFill>
                  <a:srgbClr val="1E7A3C"/>
                </a:solidFill>
                <a:latin typeface="Calibri"/>
              </a:rPr>
              <a:t>SER</a:t>
            </a:r>
          </a:p>
          <a:p>
            <a:pPr algn="ctr">
              <a:spcAft>
                <a:spcPts val="100"/>
              </a:spcAft>
            </a:pPr>
            <a:r>
              <a:rPr sz="900" b="0">
                <a:solidFill>
                  <a:srgbClr val="002754"/>
                </a:solidFill>
                <a:latin typeface="Calibri"/>
              </a:rPr>
              <a:t>95 – 98%</a:t>
            </a:r>
          </a:p>
          <a:p>
            <a:pPr algn="ctr">
              <a:spcAft>
                <a:spcPts val="100"/>
              </a:spcAft>
            </a:pPr>
            <a:r>
              <a:rPr sz="900" b="0">
                <a:solidFill>
                  <a:srgbClr val="002754"/>
                </a:solidFill>
                <a:latin typeface="Calibri"/>
              </a:rPr>
              <a:t>unchanged</a:t>
            </a:r>
          </a:p>
          <a:p>
            <a:pPr algn="ctr">
              <a:spcAft>
                <a:spcPts val="100"/>
              </a:spcAft>
            </a:pPr>
            <a:r>
              <a:rPr sz="900" b="0">
                <a:solidFill>
                  <a:srgbClr val="002754"/>
                </a:solidFill>
                <a:latin typeface="Calibri"/>
              </a:rPr>
              <a:t>across all</a:t>
            </a:r>
          </a:p>
          <a:p>
            <a:pPr algn="ctr">
              <a:spcAft>
                <a:spcPts val="100"/>
              </a:spcAft>
            </a:pPr>
            <a:r>
              <a:rPr sz="900" b="0">
                <a:solidFill>
                  <a:srgbClr val="002754"/>
                </a:solidFill>
                <a:latin typeface="Calibri"/>
              </a:rPr>
              <a:t>conditions</a:t>
            </a:r>
          </a:p>
        </p:txBody>
      </p:sp>
      <p:sp>
        <p:nvSpPr>
          <p:cNvPr id="41" name="Rounded Rectangle 40"/>
          <p:cNvSpPr/>
          <p:nvPr/>
        </p:nvSpPr>
        <p:spPr>
          <a:xfrm>
            <a:off x="7635240" y="2724912"/>
            <a:ext cx="1280160" cy="1161288"/>
          </a:xfrm>
          <a:prstGeom prst="roundRect">
            <a:avLst>
              <a:gd name="adj" fmla="val 8000"/>
            </a:avLst>
          </a:prstGeom>
          <a:solidFill>
            <a:srgbClr val="FBEEEE"/>
          </a:solidFill>
          <a:ln w="13970">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200" b="1">
                <a:solidFill>
                  <a:srgbClr val="B03030"/>
                </a:solidFill>
                <a:latin typeface="Calibri"/>
              </a:rPr>
              <a:t>MCC</a:t>
            </a:r>
          </a:p>
          <a:p>
            <a:pPr algn="ctr">
              <a:spcAft>
                <a:spcPts val="100"/>
              </a:spcAft>
            </a:pPr>
            <a:r>
              <a:rPr sz="900" b="0">
                <a:solidFill>
                  <a:srgbClr val="002754"/>
                </a:solidFill>
                <a:latin typeface="Calibri"/>
              </a:rPr>
              <a:t>−0.1 to 0.55</a:t>
            </a:r>
          </a:p>
          <a:p>
            <a:pPr algn="ctr">
              <a:spcAft>
                <a:spcPts val="100"/>
              </a:spcAft>
            </a:pPr>
            <a:r>
              <a:rPr sz="900" b="0">
                <a:solidFill>
                  <a:srgbClr val="002754"/>
                </a:solidFill>
                <a:latin typeface="Calibri"/>
              </a:rPr>
              <a:t>models cannot</a:t>
            </a:r>
          </a:p>
          <a:p>
            <a:pPr algn="ctr">
              <a:spcAft>
                <a:spcPts val="100"/>
              </a:spcAft>
            </a:pPr>
            <a:r>
              <a:rPr sz="900" b="0">
                <a:solidFill>
                  <a:srgbClr val="002754"/>
                </a:solidFill>
                <a:latin typeface="Calibri"/>
              </a:rPr>
              <a:t>tell clear from</a:t>
            </a:r>
          </a:p>
          <a:p>
            <a:pPr algn="ctr">
              <a:spcAft>
                <a:spcPts val="100"/>
              </a:spcAft>
            </a:pPr>
            <a:r>
              <a:rPr sz="900" b="0">
                <a:solidFill>
                  <a:srgbClr val="002754"/>
                </a:solidFill>
                <a:latin typeface="Calibri"/>
              </a:rPr>
              <a:t>unclear</a:t>
            </a:r>
          </a:p>
        </p:txBody>
      </p:sp>
      <p:sp>
        <p:nvSpPr>
          <p:cNvPr id="42" name="Rectangle 41"/>
          <p:cNvSpPr/>
          <p:nvPr/>
        </p:nvSpPr>
        <p:spPr>
          <a:xfrm>
            <a:off x="228600" y="4114800"/>
            <a:ext cx="8686800" cy="603504"/>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Models do not refuse these prompts. They return code that runs and gives the wrong answer: execution stays near-perfect while correctness collapses. Larger models help only slightly. No token, latency or cost figure is reported.</a:t>
            </a:r>
          </a:p>
        </p:txBody>
      </p:sp>
      <p:sp>
        <p:nvSpPr>
          <p:cNvPr id="43" name="Rectangle 42"/>
          <p:cNvSpPr/>
          <p:nvPr/>
        </p:nvSpPr>
        <p:spPr>
          <a:xfrm>
            <a:off x="228600" y="4114800"/>
            <a:ext cx="50292" cy="603504"/>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HumanEvalComm: Do Models Ask Before They Answer?</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Wu &amp; Fard · University of British Columbia · ACM TOSEM 2025 · arXiv:2406.00215</a:t>
            </a:r>
          </a:p>
        </p:txBody>
      </p:sp>
      <p:sp>
        <p:nvSpPr>
          <p:cNvPr id="6" name="Rounded Rectangle 5"/>
          <p:cNvSpPr/>
          <p:nvPr/>
        </p:nvSpPr>
        <p:spPr>
          <a:xfrm>
            <a:off x="228600" y="1417320"/>
            <a:ext cx="1600200" cy="868680"/>
          </a:xfrm>
          <a:prstGeom prst="roundRect">
            <a:avLst>
              <a:gd name="adj" fmla="val 8000"/>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002754"/>
                </a:solidFill>
                <a:latin typeface="Calibri"/>
              </a:rPr>
              <a:t>762 modified</a:t>
            </a:r>
          </a:p>
          <a:p>
            <a:pPr algn="ctr">
              <a:spcAft>
                <a:spcPts val="100"/>
              </a:spcAft>
            </a:pPr>
            <a:r>
              <a:rPr sz="1000" b="1">
                <a:solidFill>
                  <a:srgbClr val="002754"/>
                </a:solidFill>
                <a:latin typeface="Calibri"/>
              </a:rPr>
              <a:t>problems</a:t>
            </a:r>
          </a:p>
          <a:p>
            <a:pPr algn="ctr">
              <a:spcAft>
                <a:spcPts val="100"/>
              </a:spcAft>
            </a:pPr>
            <a:r>
              <a:rPr sz="800" b="0">
                <a:solidFill>
                  <a:srgbClr val="5B6472"/>
                </a:solidFill>
                <a:latin typeface="Calibri"/>
              </a:rPr>
              <a:t>ambiguity · inconsistency</a:t>
            </a:r>
          </a:p>
          <a:p>
            <a:pPr algn="ctr">
              <a:spcAft>
                <a:spcPts val="100"/>
              </a:spcAft>
            </a:pPr>
            <a:r>
              <a:rPr sz="800" b="0">
                <a:solidFill>
                  <a:srgbClr val="5B6472"/>
                </a:solidFill>
                <a:latin typeface="Calibri"/>
              </a:rPr>
              <a:t>incompleteness + combos</a:t>
            </a:r>
          </a:p>
        </p:txBody>
      </p:sp>
      <p:sp>
        <p:nvSpPr>
          <p:cNvPr id="7" name="Right Arrow 6"/>
          <p:cNvSpPr/>
          <p:nvPr/>
        </p:nvSpPr>
        <p:spPr>
          <a:xfrm>
            <a:off x="1892807" y="1737360"/>
            <a:ext cx="256032" cy="237744"/>
          </a:xfrm>
          <a:prstGeom prst="rightArrow">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212848" y="1417320"/>
            <a:ext cx="1188720" cy="868680"/>
          </a:xfrm>
          <a:prstGeom prst="roundRect">
            <a:avLst>
              <a:gd name="adj" fmla="val 8000"/>
            </a:avLst>
          </a:prstGeom>
          <a:solidFill>
            <a:srgbClr val="EEF3FA"/>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100" b="1">
                <a:solidFill>
                  <a:srgbClr val="1155CC"/>
                </a:solidFill>
                <a:latin typeface="Calibri"/>
              </a:rPr>
              <a:t>CODE LLM</a:t>
            </a:r>
          </a:p>
        </p:txBody>
      </p:sp>
      <p:sp>
        <p:nvSpPr>
          <p:cNvPr id="9" name="Right Arrow 8"/>
          <p:cNvSpPr/>
          <p:nvPr/>
        </p:nvSpPr>
        <p:spPr>
          <a:xfrm>
            <a:off x="3465576" y="1417320"/>
            <a:ext cx="237744" cy="237744"/>
          </a:xfrm>
          <a:prstGeom prst="rightArrow">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3465576" y="2011680"/>
            <a:ext cx="237744" cy="237744"/>
          </a:xfrm>
          <a:prstGeom prst="rightArrow">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67328" y="1115568"/>
            <a:ext cx="2331720" cy="804672"/>
          </a:xfrm>
          <a:prstGeom prst="roundRect">
            <a:avLst>
              <a:gd name="adj" fmla="val 8000"/>
            </a:avLst>
          </a:prstGeom>
          <a:solidFill>
            <a:srgbClr val="ECF6E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1E7A3C"/>
                </a:solidFill>
                <a:latin typeface="Calibri"/>
              </a:rPr>
              <a:t>ASKS A CLARIFYING QUESTION</a:t>
            </a:r>
          </a:p>
          <a:p>
            <a:pPr algn="ctr">
              <a:spcAft>
                <a:spcPts val="100"/>
              </a:spcAft>
            </a:pPr>
            <a:r>
              <a:rPr sz="950" b="0">
                <a:solidFill>
                  <a:srgbClr val="002754"/>
                </a:solidFill>
                <a:latin typeface="Calibri"/>
              </a:rPr>
              <a:t>fewer than 40% of responses</a:t>
            </a:r>
          </a:p>
        </p:txBody>
      </p:sp>
      <p:sp>
        <p:nvSpPr>
          <p:cNvPr id="12" name="Rounded Rectangle 11"/>
          <p:cNvSpPr/>
          <p:nvPr/>
        </p:nvSpPr>
        <p:spPr>
          <a:xfrm>
            <a:off x="3767328" y="2011680"/>
            <a:ext cx="2331720" cy="804672"/>
          </a:xfrm>
          <a:prstGeom prst="roundRect">
            <a:avLst>
              <a:gd name="adj" fmla="val 8000"/>
            </a:avLst>
          </a:prstGeom>
          <a:solidFill>
            <a:srgbClr val="FBEEEE"/>
          </a:solidFill>
          <a:ln w="13970">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B03030"/>
                </a:solidFill>
                <a:latin typeface="Calibri"/>
              </a:rPr>
              <a:t>GENERATES CODE ANYWAY</a:t>
            </a:r>
          </a:p>
          <a:p>
            <a:pPr algn="ctr">
              <a:spcAft>
                <a:spcPts val="100"/>
              </a:spcAft>
            </a:pPr>
            <a:r>
              <a:rPr sz="950" b="0">
                <a:solidFill>
                  <a:srgbClr val="002754"/>
                </a:solidFill>
                <a:latin typeface="Calibri"/>
              </a:rPr>
              <a:t>over 60% of responses</a:t>
            </a:r>
          </a:p>
        </p:txBody>
      </p:sp>
      <p:sp>
        <p:nvSpPr>
          <p:cNvPr id="13" name="Right Arrow 12"/>
          <p:cNvSpPr/>
          <p:nvPr/>
        </p:nvSpPr>
        <p:spPr>
          <a:xfrm>
            <a:off x="6163056" y="1737360"/>
            <a:ext cx="256032" cy="237744"/>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92240" y="1115568"/>
            <a:ext cx="2423160" cy="1700784"/>
          </a:xfrm>
          <a:prstGeom prst="roundRect">
            <a:avLst>
              <a:gd name="adj" fmla="val 8000"/>
            </a:avLst>
          </a:prstGeom>
          <a:solidFill>
            <a:srgbClr val="FFFFFF"/>
          </a:solidFill>
          <a:ln w="13970">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100" b="1">
                <a:solidFill>
                  <a:srgbClr val="B03030"/>
                </a:solidFill>
                <a:latin typeface="Calibri"/>
              </a:rPr>
              <a:t>OUTCOME</a:t>
            </a:r>
          </a:p>
          <a:p>
            <a:pPr algn="ctr">
              <a:spcAft>
                <a:spcPts val="100"/>
              </a:spcAft>
            </a:pPr>
            <a:r>
              <a:rPr sz="950" b="0">
                <a:solidFill>
                  <a:srgbClr val="002754"/>
                </a:solidFill>
                <a:latin typeface="Calibri"/>
              </a:rPr>
              <a:t>Pass@1   −35% to −52%</a:t>
            </a:r>
          </a:p>
          <a:p>
            <a:pPr algn="ctr">
              <a:spcAft>
                <a:spcPts val="100"/>
              </a:spcAft>
            </a:pPr>
            <a:r>
              <a:rPr sz="950" b="0">
                <a:solidFill>
                  <a:srgbClr val="002754"/>
                </a:solidFill>
                <a:latin typeface="Calibri"/>
              </a:rPr>
              <a:t>Test Pass Rate   −17% to −35%</a:t>
            </a:r>
          </a:p>
          <a:p>
            <a:pPr algn="ctr">
              <a:spcAft>
                <a:spcPts val="100"/>
              </a:spcAft>
            </a:pPr>
            <a:r>
              <a:rPr sz="950" b="0">
                <a:solidFill>
                  <a:srgbClr val="002754"/>
                </a:solidFill>
                <a:latin typeface="Calibri"/>
              </a:rPr>
              <a:t/>
            </a:r>
          </a:p>
          <a:p>
            <a:pPr algn="ctr">
              <a:spcAft>
                <a:spcPts val="100"/>
              </a:spcAft>
            </a:pPr>
            <a:r>
              <a:rPr sz="950" b="0">
                <a:solidFill>
                  <a:srgbClr val="002754"/>
                </a:solidFill>
                <a:latin typeface="Calibri"/>
              </a:rPr>
              <a:t>Incompleteness draws the most</a:t>
            </a:r>
          </a:p>
          <a:p>
            <a:pPr algn="ctr">
              <a:spcAft>
                <a:spcPts val="100"/>
              </a:spcAft>
            </a:pPr>
            <a:r>
              <a:rPr sz="950" b="0">
                <a:solidFill>
                  <a:srgbClr val="002754"/>
                </a:solidFill>
                <a:latin typeface="Calibri"/>
              </a:rPr>
              <a:t>questions, and still the worst code</a:t>
            </a:r>
          </a:p>
        </p:txBody>
      </p:sp>
      <p:sp>
        <p:nvSpPr>
          <p:cNvPr id="15" name="Rounded Rectangle 14"/>
          <p:cNvSpPr/>
          <p:nvPr/>
        </p:nvSpPr>
        <p:spPr>
          <a:xfrm>
            <a:off x="228600" y="2999232"/>
            <a:ext cx="8686800" cy="932688"/>
          </a:xfrm>
          <a:prstGeom prst="roundRect">
            <a:avLst>
              <a:gd name="adj" fmla="val 8000"/>
            </a:avLst>
          </a:prstGeom>
          <a:solidFill>
            <a:srgbClr val="EEF3FA"/>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100" b="1">
                <a:solidFill>
                  <a:srgbClr val="1155CC"/>
                </a:solidFill>
                <a:latin typeface="Calibri"/>
              </a:rPr>
              <a:t>INTERVENTION: “Okanagan”, a multi-round clarification agent</a:t>
            </a:r>
          </a:p>
          <a:p>
            <a:pPr algn="ctr">
              <a:spcAft>
                <a:spcPts val="100"/>
              </a:spcAft>
            </a:pPr>
            <a:r>
              <a:rPr sz="1150" b="0">
                <a:solidFill>
                  <a:srgbClr val="002754"/>
                </a:solidFill>
                <a:latin typeface="Calibri"/>
              </a:rPr>
              <a:t>Communication Rate  +58 pts     ·     Good Question Rate  +38 pts     →     Pass@1  +8 pts     ·     Test Pass Rate  +7 pts</a:t>
            </a:r>
          </a:p>
        </p:txBody>
      </p:sp>
      <p:sp>
        <p:nvSpPr>
          <p:cNvPr id="16" name="Rectangle 15"/>
          <p:cNvSpPr/>
          <p:nvPr/>
        </p:nvSpPr>
        <p:spPr>
          <a:xfrm>
            <a:off x="228600" y="4059936"/>
            <a:ext cx="8686800" cy="603504"/>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A large change in behaviour buys a modest accuracy gain. The extra turns and tokens are never priced, so whether clarification pays for itself is still open.</a:t>
            </a:r>
          </a:p>
        </p:txBody>
      </p:sp>
      <p:sp>
        <p:nvSpPr>
          <p:cNvPr id="17" name="Rectangle 16"/>
          <p:cNvSpPr/>
          <p:nvPr/>
        </p:nvSpPr>
        <p:spPr>
          <a:xfrm>
            <a:off x="228600" y="4059936"/>
            <a:ext cx="50292" cy="603504"/>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Underthinking vs Overthinking: The Confound</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Su, Healey, Nakov &amp; Cardie · Cornell, Adobe Research, MBZUAI · arXiv:2505.00127</a:t>
            </a:r>
          </a:p>
        </p:txBody>
      </p:sp>
      <p:sp>
        <p:nvSpPr>
          <p:cNvPr id="6" name="TextBox 5"/>
          <p:cNvSpPr txBox="1"/>
          <p:nvPr/>
        </p:nvSpPr>
        <p:spPr>
          <a:xfrm>
            <a:off x="228600" y="932688"/>
            <a:ext cx="8686800" cy="237744"/>
          </a:xfrm>
          <a:prstGeom prst="rect">
            <a:avLst/>
          </a:prstGeom>
          <a:noFill/>
        </p:spPr>
        <p:txBody>
          <a:bodyPr wrap="square">
            <a:spAutoFit/>
          </a:bodyPr>
          <a:lstStyle/>
          <a:p>
            <a:pPr algn="l"/>
            <a:r>
              <a:rPr sz="1050" b="1">
                <a:solidFill>
                  <a:srgbClr val="002754"/>
                </a:solidFill>
                <a:latin typeface="Calibri"/>
              </a:rPr>
              <a:t>Accuracy is NON-MONOTONIC in reasoning length</a:t>
            </a:r>
          </a:p>
        </p:txBody>
      </p:sp>
      <p:sp>
        <p:nvSpPr>
          <p:cNvPr id="7" name="Rectangle 6"/>
          <p:cNvSpPr/>
          <p:nvPr/>
        </p:nvSpPr>
        <p:spPr>
          <a:xfrm>
            <a:off x="658368" y="2468879"/>
            <a:ext cx="841248" cy="566928"/>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7" y="2212848"/>
            <a:ext cx="1115568" cy="237744"/>
          </a:xfrm>
          <a:prstGeom prst="rect">
            <a:avLst/>
          </a:prstGeom>
          <a:noFill/>
        </p:spPr>
        <p:txBody>
          <a:bodyPr wrap="none">
            <a:spAutoFit/>
          </a:bodyPr>
          <a:lstStyle/>
          <a:p>
            <a:pPr algn="ctr"/>
            <a:r>
              <a:rPr sz="1000" b="1">
                <a:solidFill>
                  <a:srgbClr val="5B6472"/>
                </a:solidFill>
                <a:latin typeface="Calibri"/>
              </a:rPr>
              <a:t>lower</a:t>
            </a:r>
          </a:p>
        </p:txBody>
      </p:sp>
      <p:sp>
        <p:nvSpPr>
          <p:cNvPr id="9" name="TextBox 8"/>
          <p:cNvSpPr txBox="1"/>
          <p:nvPr/>
        </p:nvSpPr>
        <p:spPr>
          <a:xfrm>
            <a:off x="429768" y="3081527"/>
            <a:ext cx="1298448" cy="292608"/>
          </a:xfrm>
          <a:prstGeom prst="rect">
            <a:avLst/>
          </a:prstGeom>
          <a:noFill/>
        </p:spPr>
        <p:txBody>
          <a:bodyPr wrap="square">
            <a:spAutoFit/>
          </a:bodyPr>
          <a:lstStyle/>
          <a:p>
            <a:pPr algn="ctr"/>
            <a:r>
              <a:rPr sz="950">
                <a:solidFill>
                  <a:srgbClr val="5B6472"/>
                </a:solidFill>
                <a:latin typeface="Calibri"/>
              </a:rPr>
              <a:t>very short responses</a:t>
            </a:r>
          </a:p>
        </p:txBody>
      </p:sp>
      <p:sp>
        <p:nvSpPr>
          <p:cNvPr id="10" name="Rectangle 9"/>
          <p:cNvSpPr/>
          <p:nvPr/>
        </p:nvSpPr>
        <p:spPr>
          <a:xfrm>
            <a:off x="1847088" y="2075687"/>
            <a:ext cx="841248" cy="960120"/>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9928" y="1819655"/>
            <a:ext cx="1115568" cy="237744"/>
          </a:xfrm>
          <a:prstGeom prst="rect">
            <a:avLst/>
          </a:prstGeom>
          <a:noFill/>
        </p:spPr>
        <p:txBody>
          <a:bodyPr wrap="none">
            <a:spAutoFit/>
          </a:bodyPr>
          <a:lstStyle/>
          <a:p>
            <a:pPr algn="ctr"/>
            <a:r>
              <a:rPr sz="1000" b="1">
                <a:solidFill>
                  <a:srgbClr val="1155CC"/>
                </a:solidFill>
                <a:latin typeface="Calibri"/>
              </a:rPr>
              <a:t>rising</a:t>
            </a:r>
          </a:p>
        </p:txBody>
      </p:sp>
      <p:sp>
        <p:nvSpPr>
          <p:cNvPr id="12" name="TextBox 11"/>
          <p:cNvSpPr txBox="1"/>
          <p:nvPr/>
        </p:nvSpPr>
        <p:spPr>
          <a:xfrm>
            <a:off x="1618488" y="3081527"/>
            <a:ext cx="1298448" cy="292608"/>
          </a:xfrm>
          <a:prstGeom prst="rect">
            <a:avLst/>
          </a:prstGeom>
          <a:noFill/>
        </p:spPr>
        <p:txBody>
          <a:bodyPr wrap="square">
            <a:spAutoFit/>
          </a:bodyPr>
          <a:lstStyle/>
          <a:p>
            <a:pPr algn="ctr"/>
            <a:r>
              <a:rPr sz="950">
                <a:solidFill>
                  <a:srgbClr val="5B6472"/>
                </a:solidFill>
                <a:latin typeface="Calibri"/>
              </a:rPr>
              <a:t>short</a:t>
            </a:r>
          </a:p>
        </p:txBody>
      </p:sp>
      <p:sp>
        <p:nvSpPr>
          <p:cNvPr id="13" name="Rectangle 12"/>
          <p:cNvSpPr/>
          <p:nvPr/>
        </p:nvSpPr>
        <p:spPr>
          <a:xfrm>
            <a:off x="3035808" y="1737360"/>
            <a:ext cx="841248" cy="1298448"/>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98648" y="1481328"/>
            <a:ext cx="1115568" cy="237744"/>
          </a:xfrm>
          <a:prstGeom prst="rect">
            <a:avLst/>
          </a:prstGeom>
          <a:noFill/>
        </p:spPr>
        <p:txBody>
          <a:bodyPr wrap="none">
            <a:spAutoFit/>
          </a:bodyPr>
          <a:lstStyle/>
          <a:p>
            <a:pPr algn="ctr"/>
            <a:r>
              <a:rPr sz="1000" b="1">
                <a:solidFill>
                  <a:srgbClr val="1E7A3C"/>
                </a:solidFill>
                <a:latin typeface="Calibri"/>
              </a:rPr>
              <a:t>PEAK</a:t>
            </a:r>
          </a:p>
        </p:txBody>
      </p:sp>
      <p:sp>
        <p:nvSpPr>
          <p:cNvPr id="15" name="TextBox 14"/>
          <p:cNvSpPr txBox="1"/>
          <p:nvPr/>
        </p:nvSpPr>
        <p:spPr>
          <a:xfrm>
            <a:off x="2807208" y="3081527"/>
            <a:ext cx="1298448" cy="292608"/>
          </a:xfrm>
          <a:prstGeom prst="rect">
            <a:avLst/>
          </a:prstGeom>
          <a:noFill/>
        </p:spPr>
        <p:txBody>
          <a:bodyPr wrap="square">
            <a:spAutoFit/>
          </a:bodyPr>
          <a:lstStyle/>
          <a:p>
            <a:pPr algn="ctr"/>
            <a:r>
              <a:rPr sz="950">
                <a:solidFill>
                  <a:srgbClr val="5B6472"/>
                </a:solidFill>
                <a:latin typeface="Calibri"/>
              </a:rPr>
              <a:t>optimal length</a:t>
            </a:r>
          </a:p>
        </p:txBody>
      </p:sp>
      <p:sp>
        <p:nvSpPr>
          <p:cNvPr id="16" name="Rectangle 15"/>
          <p:cNvSpPr/>
          <p:nvPr/>
        </p:nvSpPr>
        <p:spPr>
          <a:xfrm>
            <a:off x="4224528" y="2103120"/>
            <a:ext cx="841248" cy="932688"/>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87368" y="1847087"/>
            <a:ext cx="1115568" cy="237744"/>
          </a:xfrm>
          <a:prstGeom prst="rect">
            <a:avLst/>
          </a:prstGeom>
          <a:noFill/>
        </p:spPr>
        <p:txBody>
          <a:bodyPr wrap="none">
            <a:spAutoFit/>
          </a:bodyPr>
          <a:lstStyle/>
          <a:p>
            <a:pPr algn="ctr"/>
            <a:r>
              <a:rPr sz="1000" b="1">
                <a:solidFill>
                  <a:srgbClr val="1155CC"/>
                </a:solidFill>
                <a:latin typeface="Calibri"/>
              </a:rPr>
              <a:t>falling</a:t>
            </a:r>
          </a:p>
        </p:txBody>
      </p:sp>
      <p:sp>
        <p:nvSpPr>
          <p:cNvPr id="18" name="TextBox 17"/>
          <p:cNvSpPr txBox="1"/>
          <p:nvPr/>
        </p:nvSpPr>
        <p:spPr>
          <a:xfrm>
            <a:off x="3995928" y="3081527"/>
            <a:ext cx="1298448" cy="292608"/>
          </a:xfrm>
          <a:prstGeom prst="rect">
            <a:avLst/>
          </a:prstGeom>
          <a:noFill/>
        </p:spPr>
        <p:txBody>
          <a:bodyPr wrap="square">
            <a:spAutoFit/>
          </a:bodyPr>
          <a:lstStyle/>
          <a:p>
            <a:pPr algn="ctr"/>
            <a:r>
              <a:rPr sz="950">
                <a:solidFill>
                  <a:srgbClr val="5B6472"/>
                </a:solidFill>
                <a:latin typeface="Calibri"/>
              </a:rPr>
              <a:t>long</a:t>
            </a:r>
          </a:p>
        </p:txBody>
      </p:sp>
      <p:sp>
        <p:nvSpPr>
          <p:cNvPr id="19" name="Rectangle 18"/>
          <p:cNvSpPr/>
          <p:nvPr/>
        </p:nvSpPr>
        <p:spPr>
          <a:xfrm>
            <a:off x="5413248" y="2505456"/>
            <a:ext cx="841248" cy="530352"/>
          </a:xfrm>
          <a:prstGeom prst="rect">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76088" y="2249424"/>
            <a:ext cx="1115568" cy="237744"/>
          </a:xfrm>
          <a:prstGeom prst="rect">
            <a:avLst/>
          </a:prstGeom>
          <a:noFill/>
        </p:spPr>
        <p:txBody>
          <a:bodyPr wrap="none">
            <a:spAutoFit/>
          </a:bodyPr>
          <a:lstStyle/>
          <a:p>
            <a:pPr algn="ctr"/>
            <a:r>
              <a:rPr sz="1000" b="1">
                <a:solidFill>
                  <a:srgbClr val="B03030"/>
                </a:solidFill>
                <a:latin typeface="Calibri"/>
              </a:rPr>
              <a:t>lowest</a:t>
            </a:r>
          </a:p>
        </p:txBody>
      </p:sp>
      <p:sp>
        <p:nvSpPr>
          <p:cNvPr id="21" name="TextBox 20"/>
          <p:cNvSpPr txBox="1"/>
          <p:nvPr/>
        </p:nvSpPr>
        <p:spPr>
          <a:xfrm>
            <a:off x="5184648" y="3081527"/>
            <a:ext cx="1298448" cy="292608"/>
          </a:xfrm>
          <a:prstGeom prst="rect">
            <a:avLst/>
          </a:prstGeom>
          <a:noFill/>
        </p:spPr>
        <p:txBody>
          <a:bodyPr wrap="square">
            <a:spAutoFit/>
          </a:bodyPr>
          <a:lstStyle/>
          <a:p>
            <a:pPr algn="ctr"/>
            <a:r>
              <a:rPr sz="950">
                <a:solidFill>
                  <a:srgbClr val="5B6472"/>
                </a:solidFill>
                <a:latin typeface="Calibri"/>
              </a:rPr>
              <a:t>excessively long</a:t>
            </a:r>
          </a:p>
        </p:txBody>
      </p:sp>
      <p:cxnSp>
        <p:nvCxnSpPr>
          <p:cNvPr id="22" name="Connector 21"/>
          <p:cNvCxnSpPr/>
          <p:nvPr/>
        </p:nvCxnSpPr>
        <p:spPr>
          <a:xfrm>
            <a:off x="411480" y="3035808"/>
            <a:ext cx="6263640" cy="0"/>
          </a:xfrm>
          <a:prstGeom prst="line">
            <a:avLst/>
          </a:prstGeom>
          <a:ln w="12700">
            <a:solidFill>
              <a:srgbClr val="A5A5A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11480" y="3383279"/>
            <a:ext cx="6400800" cy="237744"/>
          </a:xfrm>
          <a:prstGeom prst="rect">
            <a:avLst/>
          </a:prstGeom>
          <a:noFill/>
        </p:spPr>
        <p:txBody>
          <a:bodyPr wrap="square">
            <a:spAutoFit/>
          </a:bodyPr>
          <a:lstStyle/>
          <a:p>
            <a:pPr algn="ctr"/>
            <a:r>
              <a:rPr sz="900" b="0">
                <a:solidFill>
                  <a:srgbClr val="A5A5A5"/>
                </a:solidFill>
                <a:latin typeface="Calibri"/>
              </a:rPr>
              <a:t>reasoning length  →</a:t>
            </a:r>
          </a:p>
        </p:txBody>
      </p:sp>
      <p:sp>
        <p:nvSpPr>
          <p:cNvPr id="24" name="Rounded Rectangle 23"/>
          <p:cNvSpPr/>
          <p:nvPr/>
        </p:nvSpPr>
        <p:spPr>
          <a:xfrm>
            <a:off x="6446520" y="1170432"/>
            <a:ext cx="2468880" cy="841248"/>
          </a:xfrm>
          <a:prstGeom prst="roundRect">
            <a:avLst>
              <a:gd name="adj" fmla="val 8000"/>
            </a:avLst>
          </a:prstGeom>
          <a:solidFill>
            <a:srgbClr val="FBEEEE"/>
          </a:solidFill>
          <a:ln w="13970">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B03030"/>
                </a:solidFill>
                <a:latin typeface="Calibri"/>
              </a:rPr>
              <a:t>INCORRECT ANSWERS ARE LONGER</a:t>
            </a:r>
          </a:p>
          <a:p>
            <a:pPr algn="ctr">
              <a:spcAft>
                <a:spcPts val="100"/>
              </a:spcAft>
            </a:pPr>
            <a:r>
              <a:rPr sz="1000" b="0">
                <a:solidFill>
                  <a:srgbClr val="002754"/>
                </a:solidFill>
                <a:latin typeface="Calibri"/>
              </a:rPr>
              <a:t>MATH:  &gt;6,000 tokens  vs  &lt;3,000</a:t>
            </a:r>
          </a:p>
        </p:txBody>
      </p:sp>
      <p:sp>
        <p:nvSpPr>
          <p:cNvPr id="25" name="Rounded Rectangle 24"/>
          <p:cNvSpPr/>
          <p:nvPr/>
        </p:nvSpPr>
        <p:spPr>
          <a:xfrm>
            <a:off x="6446520" y="2103120"/>
            <a:ext cx="2468880" cy="841248"/>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002754"/>
                </a:solidFill>
                <a:latin typeface="Calibri"/>
              </a:rPr>
              <a:t>MODELS MISJUDGE DIFFICULTY</a:t>
            </a:r>
          </a:p>
          <a:p>
            <a:pPr algn="ctr">
              <a:spcAft>
                <a:spcPts val="100"/>
              </a:spcAft>
            </a:pPr>
            <a:r>
              <a:rPr sz="1000" b="0">
                <a:solidFill>
                  <a:srgbClr val="002754"/>
                </a:solidFill>
                <a:latin typeface="Calibri"/>
              </a:rPr>
              <a:t>overthink easy · underthink hard</a:t>
            </a:r>
          </a:p>
        </p:txBody>
      </p:sp>
      <p:sp>
        <p:nvSpPr>
          <p:cNvPr id="26" name="Rectangle 25"/>
          <p:cNvSpPr/>
          <p:nvPr/>
        </p:nvSpPr>
        <p:spPr>
          <a:xfrm>
            <a:off x="228600" y="3803904"/>
            <a:ext cx="8686800" cy="731520"/>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This is the main rival explanation for any token increase we find. Length already tracks difficulty and impending failure, so the design has to hold the task constant and condition on success. Otherwise we would just rediscover this result.</a:t>
            </a:r>
          </a:p>
        </p:txBody>
      </p:sp>
      <p:sp>
        <p:nvSpPr>
          <p:cNvPr id="27" name="Rectangle 26"/>
          <p:cNvSpPr/>
          <p:nvPr/>
        </p:nvSpPr>
        <p:spPr>
          <a:xfrm>
            <a:off x="228600" y="3803904"/>
            <a:ext cx="50292" cy="731520"/>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Cost-of-Pass: The Metric We Adopt, and Invert</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Erol, El, Suzgun, Yüksekgönül &amp; Zou · Stanford University · ICLR 2026 · arXiv:2504.13359</a:t>
            </a:r>
          </a:p>
        </p:txBody>
      </p:sp>
      <p:sp>
        <p:nvSpPr>
          <p:cNvPr id="6" name="Rounded Rectangle 5"/>
          <p:cNvSpPr/>
          <p:nvPr/>
        </p:nvSpPr>
        <p:spPr>
          <a:xfrm>
            <a:off x="411480" y="1051560"/>
            <a:ext cx="2468880" cy="658368"/>
          </a:xfrm>
          <a:prstGeom prst="roundRect">
            <a:avLst>
              <a:gd name="adj" fmla="val 8000"/>
            </a:avLst>
          </a:prstGeom>
          <a:solidFill>
            <a:srgbClr val="EEF3FA"/>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100" b="1">
                <a:solidFill>
                  <a:srgbClr val="002754"/>
                </a:solidFill>
                <a:latin typeface="Calibri"/>
              </a:rPr>
              <a:t>C(p)   expected cost of one attempt</a:t>
            </a:r>
          </a:p>
        </p:txBody>
      </p:sp>
      <p:cxnSp>
        <p:nvCxnSpPr>
          <p:cNvPr id="7" name="Connector 6"/>
          <p:cNvCxnSpPr/>
          <p:nvPr/>
        </p:nvCxnSpPr>
        <p:spPr>
          <a:xfrm>
            <a:off x="411480" y="1847088"/>
            <a:ext cx="2468880" cy="0"/>
          </a:xfrm>
          <a:prstGeom prst="line">
            <a:avLst/>
          </a:prstGeom>
          <a:ln w="25400">
            <a:solidFill>
              <a:srgbClr val="00275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1480" y="1984248"/>
            <a:ext cx="2468880" cy="658368"/>
          </a:xfrm>
          <a:prstGeom prst="roundRect">
            <a:avLst>
              <a:gd name="adj" fmla="val 8000"/>
            </a:avLst>
          </a:prstGeom>
          <a:solidFill>
            <a:srgbClr val="EEF3FA"/>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100" b="1">
                <a:solidFill>
                  <a:srgbClr val="002754"/>
                </a:solidFill>
                <a:latin typeface="Calibri"/>
              </a:rPr>
              <a:t>R(p)   probability of a correct answer</a:t>
            </a:r>
          </a:p>
        </p:txBody>
      </p:sp>
      <p:sp>
        <p:nvSpPr>
          <p:cNvPr id="9" name="TextBox 8"/>
          <p:cNvSpPr txBox="1"/>
          <p:nvPr/>
        </p:nvSpPr>
        <p:spPr>
          <a:xfrm>
            <a:off x="2962656" y="1627632"/>
            <a:ext cx="365760" cy="411480"/>
          </a:xfrm>
          <a:prstGeom prst="rect">
            <a:avLst/>
          </a:prstGeom>
          <a:noFill/>
        </p:spPr>
        <p:txBody>
          <a:bodyPr wrap="none">
            <a:spAutoFit/>
          </a:bodyPr>
          <a:lstStyle/>
          <a:p>
            <a:pPr algn="ctr"/>
            <a:r>
              <a:rPr sz="2200" b="1">
                <a:solidFill>
                  <a:srgbClr val="002754"/>
                </a:solidFill>
                <a:latin typeface="Calibri"/>
              </a:rPr>
              <a:t>=</a:t>
            </a:r>
          </a:p>
        </p:txBody>
      </p:sp>
      <p:sp>
        <p:nvSpPr>
          <p:cNvPr id="10" name="Rounded Rectangle 9"/>
          <p:cNvSpPr/>
          <p:nvPr/>
        </p:nvSpPr>
        <p:spPr>
          <a:xfrm>
            <a:off x="3383280" y="1298448"/>
            <a:ext cx="2331720" cy="1097280"/>
          </a:xfrm>
          <a:prstGeom prst="roundRect">
            <a:avLst>
              <a:gd name="adj" fmla="val 8000"/>
            </a:avLst>
          </a:prstGeom>
          <a:solidFill>
            <a:srgbClr val="002754"/>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700" b="1">
                <a:solidFill>
                  <a:srgbClr val="FFFFFF"/>
                </a:solidFill>
                <a:latin typeface="Calibri"/>
              </a:rPr>
              <a:t>v(m, p)</a:t>
            </a:r>
          </a:p>
          <a:p>
            <a:pPr algn="ctr">
              <a:spcAft>
                <a:spcPts val="100"/>
              </a:spcAft>
            </a:pPr>
            <a:r>
              <a:rPr sz="950" b="0">
                <a:solidFill>
                  <a:srgbClr val="CCD6E4"/>
                </a:solidFill>
                <a:latin typeface="Calibri"/>
              </a:rPr>
              <a:t>expected spend per</a:t>
            </a:r>
          </a:p>
          <a:p>
            <a:pPr algn="ctr">
              <a:spcAft>
                <a:spcPts val="100"/>
              </a:spcAft>
            </a:pPr>
            <a:r>
              <a:rPr sz="950" b="0">
                <a:solidFill>
                  <a:srgbClr val="CCD6E4"/>
                </a:solidFill>
                <a:latin typeface="Calibri"/>
              </a:rPr>
              <a:t>CORRECT solution</a:t>
            </a:r>
          </a:p>
        </p:txBody>
      </p:sp>
      <p:sp>
        <p:nvSpPr>
          <p:cNvPr id="11" name="Rounded Rectangle 10"/>
          <p:cNvSpPr/>
          <p:nvPr/>
        </p:nvSpPr>
        <p:spPr>
          <a:xfrm>
            <a:off x="5989320" y="1298448"/>
            <a:ext cx="2926080" cy="1097280"/>
          </a:xfrm>
          <a:prstGeom prst="roundRect">
            <a:avLst>
              <a:gd name="adj" fmla="val 8000"/>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50" b="1">
                <a:solidFill>
                  <a:srgbClr val="5B6472"/>
                </a:solidFill>
                <a:latin typeface="Calibri"/>
              </a:rPr>
              <a:t>THEY VARY:  model  ·  task</a:t>
            </a:r>
          </a:p>
          <a:p>
            <a:pPr algn="ctr">
              <a:spcAft>
                <a:spcPts val="100"/>
              </a:spcAft>
            </a:pPr>
            <a:r>
              <a:rPr sz="1000" b="0">
                <a:solidFill>
                  <a:srgbClr val="5B6472"/>
                </a:solidFill>
                <a:latin typeface="Calibri"/>
              </a:rPr>
              <a:t>the prompt is held FIXED</a:t>
            </a:r>
          </a:p>
        </p:txBody>
      </p:sp>
      <p:sp>
        <p:nvSpPr>
          <p:cNvPr id="12" name="Down Arrow 11"/>
          <p:cNvSpPr/>
          <p:nvPr/>
        </p:nvSpPr>
        <p:spPr>
          <a:xfrm>
            <a:off x="4407408" y="2487168"/>
            <a:ext cx="274320" cy="274320"/>
          </a:xfrm>
          <a:prstGeom prst="downArrow">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28600" y="2834640"/>
            <a:ext cx="8686800" cy="932688"/>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002754"/>
                </a:solidFill>
                <a:latin typeface="Calibri"/>
              </a:rPr>
              <a:t>WE INVERT IT.  Ambiguity Tax:   AT(m, p)  =  v(m, p ambiguous)  /  v(m, p clear)</a:t>
            </a:r>
          </a:p>
          <a:p>
            <a:pPr algn="ctr">
              <a:spcAft>
                <a:spcPts val="100"/>
              </a:spcAft>
            </a:pPr>
            <a:r>
              <a:rPr sz="1100" b="0">
                <a:solidFill>
                  <a:srgbClr val="5B6472"/>
                </a:solidFill>
                <a:latin typeface="Calibri"/>
              </a:rPr>
              <a:t>hold the model and the task fixed  ·  vary only the clarity of the requirement</a:t>
            </a:r>
          </a:p>
        </p:txBody>
      </p:sp>
      <p:sp>
        <p:nvSpPr>
          <p:cNvPr id="14" name="Rectangle 13"/>
          <p:cNvSpPr/>
          <p:nvPr/>
        </p:nvSpPr>
        <p:spPr>
          <a:xfrm>
            <a:off x="228600" y="3931920"/>
            <a:ext cx="8686800" cy="694944"/>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Their findings: lightweight models win basic quantitative tasks and reasoning models win complex ones. Frontier cost has roughly halved every few months. Self-refinement and majority voting rarely justify their spend. Code at github.com/mhamzaerol/Cost-of-Pass.</a:t>
            </a:r>
          </a:p>
        </p:txBody>
      </p:sp>
      <p:sp>
        <p:nvSpPr>
          <p:cNvPr id="15" name="Rectangle 14"/>
          <p:cNvSpPr/>
          <p:nvPr/>
        </p:nvSpPr>
        <p:spPr>
          <a:xfrm>
            <a:off x="228600" y="3931920"/>
            <a:ext cx="50292" cy="694944"/>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Synthesis: What Is Measured, and What Is Not</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Rows are the five anchor papers. Columns are the quantities the hypothesis needs.</a:t>
            </a:r>
          </a:p>
        </p:txBody>
      </p:sp>
      <p:sp>
        <p:nvSpPr>
          <p:cNvPr id="6" name="TextBox 5"/>
          <p:cNvSpPr txBox="1"/>
          <p:nvPr/>
        </p:nvSpPr>
        <p:spPr>
          <a:xfrm>
            <a:off x="3154680" y="914400"/>
            <a:ext cx="960120" cy="402336"/>
          </a:xfrm>
          <a:prstGeom prst="rect">
            <a:avLst/>
          </a:prstGeom>
          <a:noFill/>
        </p:spPr>
        <p:txBody>
          <a:bodyPr wrap="square">
            <a:spAutoFit/>
          </a:bodyPr>
          <a:lstStyle/>
          <a:p>
            <a:pPr algn="ctr"/>
            <a:r>
              <a:rPr sz="900" b="1">
                <a:solidFill>
                  <a:srgbClr val="002754"/>
                </a:solidFill>
                <a:latin typeface="Calibri"/>
              </a:rPr>
              <a:t>Clarity</a:t>
            </a:r>
          </a:p>
          <a:p>
            <a:pPr algn="ctr"/>
            <a:r>
              <a:rPr sz="900" b="1">
                <a:solidFill>
                  <a:srgbClr val="002754"/>
                </a:solidFill>
                <a:latin typeface="Calibri"/>
              </a:rPr>
              <a:t>controlled</a:t>
            </a:r>
          </a:p>
        </p:txBody>
      </p:sp>
      <p:sp>
        <p:nvSpPr>
          <p:cNvPr id="7" name="TextBox 6"/>
          <p:cNvSpPr txBox="1"/>
          <p:nvPr/>
        </p:nvSpPr>
        <p:spPr>
          <a:xfrm>
            <a:off x="4114800" y="914400"/>
            <a:ext cx="960120" cy="402336"/>
          </a:xfrm>
          <a:prstGeom prst="rect">
            <a:avLst/>
          </a:prstGeom>
          <a:noFill/>
        </p:spPr>
        <p:txBody>
          <a:bodyPr wrap="square">
            <a:spAutoFit/>
          </a:bodyPr>
          <a:lstStyle/>
          <a:p>
            <a:pPr algn="ctr"/>
            <a:r>
              <a:rPr sz="900" b="1">
                <a:solidFill>
                  <a:srgbClr val="002754"/>
                </a:solidFill>
                <a:latin typeface="Calibri"/>
              </a:rPr>
              <a:t>Verifiable</a:t>
            </a:r>
          </a:p>
          <a:p>
            <a:pPr algn="ctr"/>
            <a:r>
              <a:rPr sz="900" b="1">
                <a:solidFill>
                  <a:srgbClr val="002754"/>
                </a:solidFill>
                <a:latin typeface="Calibri"/>
              </a:rPr>
              <a:t>tasks</a:t>
            </a:r>
          </a:p>
        </p:txBody>
      </p:sp>
      <p:sp>
        <p:nvSpPr>
          <p:cNvPr id="8" name="TextBox 7"/>
          <p:cNvSpPr txBox="1"/>
          <p:nvPr/>
        </p:nvSpPr>
        <p:spPr>
          <a:xfrm>
            <a:off x="5074920" y="914400"/>
            <a:ext cx="960120" cy="402336"/>
          </a:xfrm>
          <a:prstGeom prst="rect">
            <a:avLst/>
          </a:prstGeom>
          <a:noFill/>
        </p:spPr>
        <p:txBody>
          <a:bodyPr wrap="square">
            <a:spAutoFit/>
          </a:bodyPr>
          <a:lstStyle/>
          <a:p>
            <a:pPr algn="ctr"/>
            <a:r>
              <a:rPr sz="900" b="1">
                <a:solidFill>
                  <a:srgbClr val="002754"/>
                </a:solidFill>
                <a:latin typeface="Calibri"/>
              </a:rPr>
              <a:t>Correctness</a:t>
            </a:r>
          </a:p>
        </p:txBody>
      </p:sp>
      <p:sp>
        <p:nvSpPr>
          <p:cNvPr id="9" name="TextBox 8"/>
          <p:cNvSpPr txBox="1"/>
          <p:nvPr/>
        </p:nvSpPr>
        <p:spPr>
          <a:xfrm>
            <a:off x="6035040" y="914400"/>
            <a:ext cx="960120" cy="402336"/>
          </a:xfrm>
          <a:prstGeom prst="rect">
            <a:avLst/>
          </a:prstGeom>
          <a:noFill/>
        </p:spPr>
        <p:txBody>
          <a:bodyPr wrap="square">
            <a:spAutoFit/>
          </a:bodyPr>
          <a:lstStyle/>
          <a:p>
            <a:pPr algn="ctr"/>
            <a:r>
              <a:rPr sz="900" b="1">
                <a:solidFill>
                  <a:srgbClr val="002754"/>
                </a:solidFill>
                <a:latin typeface="Calibri"/>
              </a:rPr>
              <a:t>Output</a:t>
            </a:r>
          </a:p>
          <a:p>
            <a:pPr algn="ctr"/>
            <a:r>
              <a:rPr sz="900" b="1">
                <a:solidFill>
                  <a:srgbClr val="002754"/>
                </a:solidFill>
                <a:latin typeface="Calibri"/>
              </a:rPr>
              <a:t>tokens</a:t>
            </a:r>
          </a:p>
        </p:txBody>
      </p:sp>
      <p:sp>
        <p:nvSpPr>
          <p:cNvPr id="10" name="TextBox 9"/>
          <p:cNvSpPr txBox="1"/>
          <p:nvPr/>
        </p:nvSpPr>
        <p:spPr>
          <a:xfrm>
            <a:off x="6995160" y="914400"/>
            <a:ext cx="960120" cy="402336"/>
          </a:xfrm>
          <a:prstGeom prst="rect">
            <a:avLst/>
          </a:prstGeom>
          <a:noFill/>
        </p:spPr>
        <p:txBody>
          <a:bodyPr wrap="square">
            <a:spAutoFit/>
          </a:bodyPr>
          <a:lstStyle/>
          <a:p>
            <a:pPr algn="ctr"/>
            <a:r>
              <a:rPr sz="900" b="1">
                <a:solidFill>
                  <a:srgbClr val="002754"/>
                </a:solidFill>
                <a:latin typeface="Calibri"/>
              </a:rPr>
              <a:t>Latency</a:t>
            </a:r>
          </a:p>
        </p:txBody>
      </p:sp>
      <p:sp>
        <p:nvSpPr>
          <p:cNvPr id="11" name="TextBox 10"/>
          <p:cNvSpPr txBox="1"/>
          <p:nvPr/>
        </p:nvSpPr>
        <p:spPr>
          <a:xfrm>
            <a:off x="7955279" y="914400"/>
            <a:ext cx="960120" cy="402336"/>
          </a:xfrm>
          <a:prstGeom prst="rect">
            <a:avLst/>
          </a:prstGeom>
          <a:noFill/>
        </p:spPr>
        <p:txBody>
          <a:bodyPr wrap="square">
            <a:spAutoFit/>
          </a:bodyPr>
          <a:lstStyle/>
          <a:p>
            <a:pPr algn="ctr"/>
            <a:r>
              <a:rPr sz="900" b="1">
                <a:solidFill>
                  <a:srgbClr val="002754"/>
                </a:solidFill>
                <a:latin typeface="Calibri"/>
              </a:rPr>
              <a:t>Cost per</a:t>
            </a:r>
          </a:p>
          <a:p>
            <a:pPr algn="ctr"/>
            <a:r>
              <a:rPr sz="900" b="1">
                <a:solidFill>
                  <a:srgbClr val="002754"/>
                </a:solidFill>
                <a:latin typeface="Calibri"/>
              </a:rPr>
              <a:t>success</a:t>
            </a:r>
          </a:p>
        </p:txBody>
      </p:sp>
      <p:sp>
        <p:nvSpPr>
          <p:cNvPr id="12" name="Rounded Rectangle 11"/>
          <p:cNvSpPr/>
          <p:nvPr/>
        </p:nvSpPr>
        <p:spPr>
          <a:xfrm>
            <a:off x="228600" y="1389888"/>
            <a:ext cx="2834640" cy="402336"/>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Orchid  (2026)</a:t>
            </a:r>
          </a:p>
        </p:txBody>
      </p:sp>
      <p:sp>
        <p:nvSpPr>
          <p:cNvPr id="13" name="Rounded Rectangle 12"/>
          <p:cNvSpPr/>
          <p:nvPr/>
        </p:nvSpPr>
        <p:spPr>
          <a:xfrm>
            <a:off x="3191256" y="1389888"/>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14" name="Rounded Rectangle 13"/>
          <p:cNvSpPr/>
          <p:nvPr/>
        </p:nvSpPr>
        <p:spPr>
          <a:xfrm>
            <a:off x="4151376" y="1389888"/>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15" name="Rounded Rectangle 14"/>
          <p:cNvSpPr/>
          <p:nvPr/>
        </p:nvSpPr>
        <p:spPr>
          <a:xfrm>
            <a:off x="5111496" y="1389888"/>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16" name="Rounded Rectangle 15"/>
          <p:cNvSpPr/>
          <p:nvPr/>
        </p:nvSpPr>
        <p:spPr>
          <a:xfrm>
            <a:off x="6071616" y="1389888"/>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17" name="Rounded Rectangle 16"/>
          <p:cNvSpPr/>
          <p:nvPr/>
        </p:nvSpPr>
        <p:spPr>
          <a:xfrm>
            <a:off x="7031736" y="1389888"/>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18" name="Rounded Rectangle 17"/>
          <p:cNvSpPr/>
          <p:nvPr/>
        </p:nvSpPr>
        <p:spPr>
          <a:xfrm>
            <a:off x="7991855" y="1389888"/>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19" name="Rounded Rectangle 18"/>
          <p:cNvSpPr/>
          <p:nvPr/>
        </p:nvSpPr>
        <p:spPr>
          <a:xfrm>
            <a:off x="228600" y="1874519"/>
            <a:ext cx="2834640" cy="402336"/>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When Prompts Go Wrong  (2025)</a:t>
            </a:r>
          </a:p>
        </p:txBody>
      </p:sp>
      <p:sp>
        <p:nvSpPr>
          <p:cNvPr id="20" name="Rounded Rectangle 19"/>
          <p:cNvSpPr/>
          <p:nvPr/>
        </p:nvSpPr>
        <p:spPr>
          <a:xfrm>
            <a:off x="3191256" y="1874519"/>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21" name="Rounded Rectangle 20"/>
          <p:cNvSpPr/>
          <p:nvPr/>
        </p:nvSpPr>
        <p:spPr>
          <a:xfrm>
            <a:off x="4151376" y="1874519"/>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22" name="Rounded Rectangle 21"/>
          <p:cNvSpPr/>
          <p:nvPr/>
        </p:nvSpPr>
        <p:spPr>
          <a:xfrm>
            <a:off x="5111496" y="1874519"/>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23" name="Rounded Rectangle 22"/>
          <p:cNvSpPr/>
          <p:nvPr/>
        </p:nvSpPr>
        <p:spPr>
          <a:xfrm>
            <a:off x="6071616" y="1874519"/>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24" name="Rounded Rectangle 23"/>
          <p:cNvSpPr/>
          <p:nvPr/>
        </p:nvSpPr>
        <p:spPr>
          <a:xfrm>
            <a:off x="7031736" y="1874519"/>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25" name="Rounded Rectangle 24"/>
          <p:cNvSpPr/>
          <p:nvPr/>
        </p:nvSpPr>
        <p:spPr>
          <a:xfrm>
            <a:off x="7991855" y="1874519"/>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26" name="Rounded Rectangle 25"/>
          <p:cNvSpPr/>
          <p:nvPr/>
        </p:nvSpPr>
        <p:spPr>
          <a:xfrm>
            <a:off x="228600" y="2359152"/>
            <a:ext cx="2834640" cy="402336"/>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HumanEvalComm  (TOSEM 2025)</a:t>
            </a:r>
          </a:p>
        </p:txBody>
      </p:sp>
      <p:sp>
        <p:nvSpPr>
          <p:cNvPr id="27" name="Rounded Rectangle 26"/>
          <p:cNvSpPr/>
          <p:nvPr/>
        </p:nvSpPr>
        <p:spPr>
          <a:xfrm>
            <a:off x="3191256" y="2359152"/>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28" name="Rounded Rectangle 27"/>
          <p:cNvSpPr/>
          <p:nvPr/>
        </p:nvSpPr>
        <p:spPr>
          <a:xfrm>
            <a:off x="4151376" y="2359152"/>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29" name="Rounded Rectangle 28"/>
          <p:cNvSpPr/>
          <p:nvPr/>
        </p:nvSpPr>
        <p:spPr>
          <a:xfrm>
            <a:off x="5111496" y="2359152"/>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30" name="Rounded Rectangle 29"/>
          <p:cNvSpPr/>
          <p:nvPr/>
        </p:nvSpPr>
        <p:spPr>
          <a:xfrm>
            <a:off x="6071616" y="2359152"/>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31" name="Rounded Rectangle 30"/>
          <p:cNvSpPr/>
          <p:nvPr/>
        </p:nvSpPr>
        <p:spPr>
          <a:xfrm>
            <a:off x="7031736" y="2359152"/>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32" name="Rounded Rectangle 31"/>
          <p:cNvSpPr/>
          <p:nvPr/>
        </p:nvSpPr>
        <p:spPr>
          <a:xfrm>
            <a:off x="7991855" y="2359152"/>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33" name="Rounded Rectangle 32"/>
          <p:cNvSpPr/>
          <p:nvPr/>
        </p:nvSpPr>
        <p:spPr>
          <a:xfrm>
            <a:off x="228600" y="2843784"/>
            <a:ext cx="2834640" cy="402336"/>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Su et al., Under/Overthinking  (2025)</a:t>
            </a:r>
          </a:p>
        </p:txBody>
      </p:sp>
      <p:sp>
        <p:nvSpPr>
          <p:cNvPr id="34" name="Rounded Rectangle 33"/>
          <p:cNvSpPr/>
          <p:nvPr/>
        </p:nvSpPr>
        <p:spPr>
          <a:xfrm>
            <a:off x="3191256" y="2843784"/>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35" name="Rounded Rectangle 34"/>
          <p:cNvSpPr/>
          <p:nvPr/>
        </p:nvSpPr>
        <p:spPr>
          <a:xfrm>
            <a:off x="4151376" y="2843784"/>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36" name="Rounded Rectangle 35"/>
          <p:cNvSpPr/>
          <p:nvPr/>
        </p:nvSpPr>
        <p:spPr>
          <a:xfrm>
            <a:off x="5111496" y="2843784"/>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37" name="Rounded Rectangle 36"/>
          <p:cNvSpPr/>
          <p:nvPr/>
        </p:nvSpPr>
        <p:spPr>
          <a:xfrm>
            <a:off x="6071616" y="2843784"/>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38" name="Rounded Rectangle 37"/>
          <p:cNvSpPr/>
          <p:nvPr/>
        </p:nvSpPr>
        <p:spPr>
          <a:xfrm>
            <a:off x="7031736" y="2843784"/>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39" name="Rounded Rectangle 38"/>
          <p:cNvSpPr/>
          <p:nvPr/>
        </p:nvSpPr>
        <p:spPr>
          <a:xfrm>
            <a:off x="7991855" y="2843784"/>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40" name="Rounded Rectangle 39"/>
          <p:cNvSpPr/>
          <p:nvPr/>
        </p:nvSpPr>
        <p:spPr>
          <a:xfrm>
            <a:off x="228600" y="3328416"/>
            <a:ext cx="2834640" cy="402336"/>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Cost-of-Pass  (ICLR 2026)</a:t>
            </a:r>
          </a:p>
        </p:txBody>
      </p:sp>
      <p:sp>
        <p:nvSpPr>
          <p:cNvPr id="41" name="Rounded Rectangle 40"/>
          <p:cNvSpPr/>
          <p:nvPr/>
        </p:nvSpPr>
        <p:spPr>
          <a:xfrm>
            <a:off x="3191256" y="3328416"/>
            <a:ext cx="886968" cy="40233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B03030"/>
                </a:solidFill>
                <a:latin typeface="Calibri"/>
              </a:rPr>
              <a:t>✗</a:t>
            </a:r>
          </a:p>
        </p:txBody>
      </p:sp>
      <p:sp>
        <p:nvSpPr>
          <p:cNvPr id="42" name="Rounded Rectangle 41"/>
          <p:cNvSpPr/>
          <p:nvPr/>
        </p:nvSpPr>
        <p:spPr>
          <a:xfrm>
            <a:off x="4151376" y="3328416"/>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43" name="Rounded Rectangle 42"/>
          <p:cNvSpPr/>
          <p:nvPr/>
        </p:nvSpPr>
        <p:spPr>
          <a:xfrm>
            <a:off x="5111496" y="3328416"/>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44" name="Rounded Rectangle 43"/>
          <p:cNvSpPr/>
          <p:nvPr/>
        </p:nvSpPr>
        <p:spPr>
          <a:xfrm>
            <a:off x="6071616" y="3328416"/>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45" name="Rounded Rectangle 44"/>
          <p:cNvSpPr/>
          <p:nvPr/>
        </p:nvSpPr>
        <p:spPr>
          <a:xfrm>
            <a:off x="7031736" y="3328416"/>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46" name="Rounded Rectangle 45"/>
          <p:cNvSpPr/>
          <p:nvPr/>
        </p:nvSpPr>
        <p:spPr>
          <a:xfrm>
            <a:off x="7991855" y="3328416"/>
            <a:ext cx="886968" cy="40233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47" name="Rounded Rectangle 46"/>
          <p:cNvSpPr/>
          <p:nvPr/>
        </p:nvSpPr>
        <p:spPr>
          <a:xfrm>
            <a:off x="228600" y="3813048"/>
            <a:ext cx="2834640" cy="402336"/>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1">
                <a:solidFill>
                  <a:srgbClr val="002754"/>
                </a:solidFill>
                <a:latin typeface="Calibri"/>
              </a:rPr>
              <a:t>THIS STUDY</a:t>
            </a:r>
          </a:p>
        </p:txBody>
      </p:sp>
      <p:sp>
        <p:nvSpPr>
          <p:cNvPr id="48" name="Rounded Rectangle 47"/>
          <p:cNvSpPr/>
          <p:nvPr/>
        </p:nvSpPr>
        <p:spPr>
          <a:xfrm>
            <a:off x="3191256" y="3813048"/>
            <a:ext cx="886968" cy="402336"/>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49" name="Rounded Rectangle 48"/>
          <p:cNvSpPr/>
          <p:nvPr/>
        </p:nvSpPr>
        <p:spPr>
          <a:xfrm>
            <a:off x="4151376" y="3813048"/>
            <a:ext cx="886968" cy="402336"/>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50" name="Rounded Rectangle 49"/>
          <p:cNvSpPr/>
          <p:nvPr/>
        </p:nvSpPr>
        <p:spPr>
          <a:xfrm>
            <a:off x="5111496" y="3813048"/>
            <a:ext cx="886968" cy="402336"/>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51" name="Rounded Rectangle 50"/>
          <p:cNvSpPr/>
          <p:nvPr/>
        </p:nvSpPr>
        <p:spPr>
          <a:xfrm>
            <a:off x="6071616" y="3813048"/>
            <a:ext cx="886968" cy="402336"/>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52" name="Rounded Rectangle 51"/>
          <p:cNvSpPr/>
          <p:nvPr/>
        </p:nvSpPr>
        <p:spPr>
          <a:xfrm>
            <a:off x="7031736" y="3813048"/>
            <a:ext cx="886968" cy="402336"/>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53" name="Rounded Rectangle 52"/>
          <p:cNvSpPr/>
          <p:nvPr/>
        </p:nvSpPr>
        <p:spPr>
          <a:xfrm>
            <a:off x="7991855" y="3813048"/>
            <a:ext cx="886968" cy="402336"/>
          </a:xfrm>
          <a:prstGeom prst="roundRect">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1E7A3C"/>
                </a:solidFill>
                <a:latin typeface="Calibri"/>
              </a:rPr>
              <a:t>✓</a:t>
            </a:r>
          </a:p>
        </p:txBody>
      </p:sp>
      <p:sp>
        <p:nvSpPr>
          <p:cNvPr id="54" name="Rectangle 53"/>
          <p:cNvSpPr/>
          <p:nvPr/>
        </p:nvSpPr>
        <p:spPr>
          <a:xfrm>
            <a:off x="228600" y="4407408"/>
            <a:ext cx="8686800" cy="457200"/>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200">
                <a:solidFill>
                  <a:srgbClr val="002754"/>
                </a:solidFill>
                <a:latin typeface="Calibri"/>
              </a:rPr>
              <a:t>Ambiguity research stops at correctness, and efficiency research never varies clarity. The cost of ambiguity has not been measured.</a:t>
            </a:r>
          </a:p>
        </p:txBody>
      </p:sp>
      <p:sp>
        <p:nvSpPr>
          <p:cNvPr id="55" name="Rectangle 54"/>
          <p:cNvSpPr/>
          <p:nvPr/>
        </p:nvSpPr>
        <p:spPr>
          <a:xfrm>
            <a:off x="228600" y="4407408"/>
            <a:ext cx="50292" cy="457200"/>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8558784" y="91440"/>
            <a:ext cx="356616" cy="356616"/>
          </a:xfrm>
          <a:prstGeom prst="rect">
            <a:avLst/>
          </a:prstGeom>
        </p:spPr>
      </p:pic>
      <p:sp>
        <p:nvSpPr>
          <p:cNvPr id="3" name="TextBox 2"/>
          <p:cNvSpPr txBox="1"/>
          <p:nvPr/>
        </p:nvSpPr>
        <p:spPr>
          <a:xfrm>
            <a:off x="228600" y="1691640"/>
            <a:ext cx="8686800" cy="283464"/>
          </a:xfrm>
          <a:prstGeom prst="rect">
            <a:avLst/>
          </a:prstGeom>
          <a:noFill/>
        </p:spPr>
        <p:txBody>
          <a:bodyPr wrap="none">
            <a:spAutoFit/>
          </a:bodyPr>
          <a:lstStyle/>
          <a:p>
            <a:r>
              <a:rPr sz="1100" b="1">
                <a:solidFill>
                  <a:srgbClr val="A5A5A5"/>
                </a:solidFill>
                <a:latin typeface="Calibri"/>
              </a:rPr>
              <a:t>PART III</a:t>
            </a:r>
          </a:p>
        </p:txBody>
      </p:sp>
      <p:sp>
        <p:nvSpPr>
          <p:cNvPr id="4" name="TextBox 3"/>
          <p:cNvSpPr txBox="1"/>
          <p:nvPr/>
        </p:nvSpPr>
        <p:spPr>
          <a:xfrm>
            <a:off x="228600" y="1975104"/>
            <a:ext cx="8686800" cy="731520"/>
          </a:xfrm>
          <a:prstGeom prst="rect">
            <a:avLst/>
          </a:prstGeom>
          <a:noFill/>
        </p:spPr>
        <p:txBody>
          <a:bodyPr wrap="square">
            <a:spAutoFit/>
          </a:bodyPr>
          <a:lstStyle/>
          <a:p>
            <a:r>
              <a:rPr sz="3400" b="1">
                <a:solidFill>
                  <a:srgbClr val="002754"/>
                </a:solidFill>
                <a:latin typeface="Lora"/>
              </a:rPr>
              <a:t>Concrete Research Plan</a:t>
            </a:r>
          </a:p>
        </p:txBody>
      </p:sp>
      <p:cxnSp>
        <p:nvCxnSpPr>
          <p:cNvPr id="5" name="Connector 4"/>
          <p:cNvCxnSpPr/>
          <p:nvPr/>
        </p:nvCxnSpPr>
        <p:spPr>
          <a:xfrm>
            <a:off x="228600" y="278892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28600" y="2889504"/>
            <a:ext cx="8686800" cy="548640"/>
          </a:xfrm>
          <a:prstGeom prst="rect">
            <a:avLst/>
          </a:prstGeom>
          <a:noFill/>
        </p:spPr>
        <p:txBody>
          <a:bodyPr wrap="square">
            <a:spAutoFit/>
          </a:bodyPr>
          <a:lstStyle/>
          <a:p>
            <a:r>
              <a:rPr sz="1500">
                <a:solidFill>
                  <a:srgbClr val="003BA3"/>
                </a:solidFill>
                <a:latin typeface="Calibri"/>
              </a:rPr>
              <a:t>Pricing ambiguity: the inference tax paid even when the model succeeds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Reframing the Hypothesis</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Rounded Rectangle 4"/>
          <p:cNvSpPr/>
          <p:nvPr/>
        </p:nvSpPr>
        <p:spPr>
          <a:xfrm>
            <a:off x="228600" y="932688"/>
            <a:ext cx="4160520" cy="1572768"/>
          </a:xfrm>
          <a:prstGeom prst="roundRect">
            <a:avLst>
              <a:gd name="adj" fmla="val 8000"/>
            </a:avLst>
          </a:prstGeom>
          <a:solidFill>
            <a:srgbClr val="F4F5F7"/>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100" b="1">
                <a:solidFill>
                  <a:srgbClr val="5B6472"/>
                </a:solidFill>
                <a:latin typeface="Calibri"/>
              </a:rPr>
              <a:t>AS ORIGINALLY STATED</a:t>
            </a:r>
          </a:p>
          <a:p>
            <a:pPr algn="ctr">
              <a:spcAft>
                <a:spcPts val="100"/>
              </a:spcAft>
            </a:pPr>
            <a:r>
              <a:rPr sz="1050" b="0">
                <a:solidFill>
                  <a:srgbClr val="5B6472"/>
                </a:solidFill>
                <a:latin typeface="Calibri"/>
              </a:rPr>
              <a:t>“LLMs perform badly when instructions</a:t>
            </a:r>
          </a:p>
          <a:p>
            <a:pPr algn="ctr">
              <a:spcAft>
                <a:spcPts val="100"/>
              </a:spcAft>
            </a:pPr>
            <a:r>
              <a:rPr sz="1050" b="0">
                <a:solidFill>
                  <a:srgbClr val="5B6472"/>
                </a:solidFill>
                <a:latin typeface="Calibri"/>
              </a:rPr>
              <a:t>are ambiguous — more tokens, more time,</a:t>
            </a:r>
          </a:p>
          <a:p>
            <a:pPr algn="ctr">
              <a:spcAft>
                <a:spcPts val="100"/>
              </a:spcAft>
            </a:pPr>
            <a:r>
              <a:rPr sz="1050" b="0">
                <a:solidFill>
                  <a:srgbClr val="5B6472"/>
                </a:solidFill>
                <a:latin typeface="Calibri"/>
              </a:rPr>
              <a:t>sometimes outright failure.”</a:t>
            </a:r>
          </a:p>
          <a:p>
            <a:pPr algn="ctr">
              <a:spcAft>
                <a:spcPts val="100"/>
              </a:spcAft>
            </a:pPr>
            <a:r>
              <a:rPr sz="1050" b="0">
                <a:solidFill>
                  <a:srgbClr val="5B6472"/>
                </a:solidFill>
                <a:latin typeface="Calibri"/>
              </a:rPr>
              <a:t/>
            </a:r>
          </a:p>
          <a:p>
            <a:pPr algn="ctr">
              <a:spcAft>
                <a:spcPts val="100"/>
              </a:spcAft>
            </a:pPr>
            <a:r>
              <a:rPr sz="1050" b="0">
                <a:solidFill>
                  <a:srgbClr val="5B6472"/>
                </a:solidFill>
                <a:latin typeface="Calibri"/>
              </a:rPr>
              <a:t>The failure half is already settled across</a:t>
            </a:r>
          </a:p>
          <a:p>
            <a:pPr algn="ctr">
              <a:spcAft>
                <a:spcPts val="100"/>
              </a:spcAft>
            </a:pPr>
            <a:r>
              <a:rPr sz="1050" b="0">
                <a:solidFill>
                  <a:srgbClr val="5B6472"/>
                </a:solidFill>
                <a:latin typeface="Calibri"/>
              </a:rPr>
              <a:t>2,000+ verifiable tasks and a dozen models.</a:t>
            </a:r>
          </a:p>
        </p:txBody>
      </p:sp>
      <p:sp>
        <p:nvSpPr>
          <p:cNvPr id="6" name="Right Arrow 5"/>
          <p:cNvSpPr/>
          <p:nvPr/>
        </p:nvSpPr>
        <p:spPr>
          <a:xfrm>
            <a:off x="4526280" y="1572768"/>
            <a:ext cx="384048" cy="292608"/>
          </a:xfrm>
          <a:prstGeom prst="rightArrow">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47488" y="932688"/>
            <a:ext cx="3867912" cy="1572768"/>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100" b="1">
                <a:solidFill>
                  <a:srgbClr val="002754"/>
                </a:solidFill>
                <a:latin typeface="Calibri"/>
              </a:rPr>
              <a:t>AS REVISED</a:t>
            </a:r>
          </a:p>
          <a:p>
            <a:pPr algn="ctr">
              <a:spcAft>
                <a:spcPts val="100"/>
              </a:spcAft>
            </a:pPr>
            <a:r>
              <a:rPr sz="1050" b="0">
                <a:solidFill>
                  <a:srgbClr val="002754"/>
                </a:solidFill>
                <a:latin typeface="Calibri"/>
              </a:rPr>
              <a:t>Ambiguity imposes a measurable inference</a:t>
            </a:r>
          </a:p>
          <a:p>
            <a:pPr algn="ctr">
              <a:spcAft>
                <a:spcPts val="100"/>
              </a:spcAft>
            </a:pPr>
            <a:r>
              <a:rPr sz="1050" b="0">
                <a:solidFill>
                  <a:srgbClr val="002754"/>
                </a:solidFill>
                <a:latin typeface="Calibri"/>
              </a:rPr>
              <a:t>tax, extra output tokens and latency,</a:t>
            </a:r>
          </a:p>
          <a:p>
            <a:pPr algn="ctr">
              <a:spcAft>
                <a:spcPts val="100"/>
              </a:spcAft>
            </a:pPr>
            <a:r>
              <a:rPr sz="1050" b="0">
                <a:solidFill>
                  <a:srgbClr val="002754"/>
                </a:solidFill>
                <a:latin typeface="Calibri"/>
              </a:rPr>
              <a:t>paid even on the runs the model gets RIGHT,</a:t>
            </a:r>
          </a:p>
          <a:p>
            <a:pPr algn="ctr">
              <a:spcAft>
                <a:spcPts val="100"/>
              </a:spcAft>
            </a:pPr>
            <a:r>
              <a:rPr sz="1050" b="0">
                <a:solidFill>
                  <a:srgbClr val="002754"/>
                </a:solidFill>
                <a:latin typeface="Calibri"/>
              </a:rPr>
              <a:t>and therefore invisible to every</a:t>
            </a:r>
          </a:p>
          <a:p>
            <a:pPr algn="ctr">
              <a:spcAft>
                <a:spcPts val="100"/>
              </a:spcAft>
            </a:pPr>
            <a:r>
              <a:rPr sz="1050" b="0">
                <a:solidFill>
                  <a:srgbClr val="002754"/>
                </a:solidFill>
                <a:latin typeface="Calibri"/>
              </a:rPr>
              <a:t>accuracy-based benchmark in the field.</a:t>
            </a:r>
          </a:p>
        </p:txBody>
      </p:sp>
      <p:sp>
        <p:nvSpPr>
          <p:cNvPr id="8" name="Rounded Rectangle 7"/>
          <p:cNvSpPr/>
          <p:nvPr/>
        </p:nvSpPr>
        <p:spPr>
          <a:xfrm>
            <a:off x="228600" y="2706624"/>
            <a:ext cx="8686800" cy="749808"/>
          </a:xfrm>
          <a:prstGeom prst="roundRect">
            <a:avLst>
              <a:gd name="adj" fmla="val 8000"/>
            </a:avLst>
          </a:prstGeom>
          <a:solidFill>
            <a:srgbClr val="002754"/>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600" b="1">
                <a:solidFill>
                  <a:srgbClr val="FFFFFF"/>
                </a:solidFill>
                <a:latin typeface="Calibri"/>
              </a:rPr>
              <a:t>AT(m, p)   =   v(m, p ambiguous)   /   v(m, p clear)</a:t>
            </a:r>
          </a:p>
          <a:p>
            <a:pPr algn="ctr">
              <a:spcAft>
                <a:spcPts val="100"/>
              </a:spcAft>
            </a:pPr>
            <a:r>
              <a:rPr sz="1000" b="0">
                <a:solidFill>
                  <a:srgbClr val="CCD6E4"/>
                </a:solidFill>
                <a:latin typeface="Calibri"/>
              </a:rPr>
              <a:t>the Ambiguity Tax, where v is cost-of-pass (Erol et al., ICLR 2026)</a:t>
            </a:r>
          </a:p>
        </p:txBody>
      </p:sp>
      <p:sp>
        <p:nvSpPr>
          <p:cNvPr id="9" name="Rounded Rectangle 8"/>
          <p:cNvSpPr/>
          <p:nvPr/>
        </p:nvSpPr>
        <p:spPr>
          <a:xfrm>
            <a:off x="228600" y="3602736"/>
            <a:ext cx="4251960" cy="676656"/>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002754"/>
                </a:solidFill>
                <a:latin typeface="Calibri"/>
              </a:rPr>
              <a:t>AT &gt; 1</a:t>
            </a:r>
          </a:p>
          <a:p>
            <a:pPr algn="ctr">
              <a:spcAft>
                <a:spcPts val="100"/>
              </a:spcAft>
            </a:pPr>
            <a:r>
              <a:rPr sz="950" b="0">
                <a:solidFill>
                  <a:srgbClr val="5B6472"/>
                </a:solidFill>
                <a:latin typeface="Calibri"/>
              </a:rPr>
              <a:t>ambiguity costs extra even on success; the hypothesis holds</a:t>
            </a:r>
          </a:p>
        </p:txBody>
      </p:sp>
      <p:sp>
        <p:nvSpPr>
          <p:cNvPr id="10" name="Rounded Rectangle 9"/>
          <p:cNvSpPr/>
          <p:nvPr/>
        </p:nvSpPr>
        <p:spPr>
          <a:xfrm>
            <a:off x="4663440" y="3602736"/>
            <a:ext cx="4251960" cy="676656"/>
          </a:xfrm>
          <a:prstGeom prst="roundRect">
            <a:avLst>
              <a:gd name="adj" fmla="val 8000"/>
            </a:avLst>
          </a:prstGeom>
          <a:solidFill>
            <a:srgbClr val="ECF6E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002754"/>
                </a:solidFill>
                <a:latin typeface="Calibri"/>
              </a:rPr>
              <a:t>AT ≈ 1</a:t>
            </a:r>
          </a:p>
          <a:p>
            <a:pPr algn="ctr">
              <a:spcAft>
                <a:spcPts val="100"/>
              </a:spcAft>
            </a:pPr>
            <a:r>
              <a:rPr sz="950" b="0">
                <a:solidFill>
                  <a:srgbClr val="5B6472"/>
                </a:solidFill>
                <a:latin typeface="Calibri"/>
              </a:rPr>
              <a:t>ambiguity is free when the model succeeds, a useful negative result</a:t>
            </a:r>
          </a:p>
        </p:txBody>
      </p:sp>
      <p:sp>
        <p:nvSpPr>
          <p:cNvPr id="11" name="Rectangle 10"/>
          <p:cNvSpPr/>
          <p:nvPr/>
        </p:nvSpPr>
        <p:spPr>
          <a:xfrm>
            <a:off x="228600" y="4407408"/>
            <a:ext cx="8686800" cy="45720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Falsifiable in both directions. A null result would contradict the overthinking literature.</a:t>
            </a:r>
          </a:p>
        </p:txBody>
      </p:sp>
      <p:sp>
        <p:nvSpPr>
          <p:cNvPr id="12" name="Rectangle 11"/>
          <p:cNvSpPr/>
          <p:nvPr/>
        </p:nvSpPr>
        <p:spPr>
          <a:xfrm>
            <a:off x="228600" y="4407408"/>
            <a:ext cx="50292" cy="457200"/>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The Proposed Research Plan</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Four research questions, each with a falsifiable hypothesis and a decisive measurement.</a:t>
            </a:r>
          </a:p>
        </p:txBody>
      </p:sp>
      <p:sp>
        <p:nvSpPr>
          <p:cNvPr id="6" name="Rounded Rectangle 5"/>
          <p:cNvSpPr/>
          <p:nvPr/>
        </p:nvSpPr>
        <p:spPr>
          <a:xfrm>
            <a:off x="228600" y="960120"/>
            <a:ext cx="658368" cy="731520"/>
          </a:xfrm>
          <a:prstGeom prst="round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FFFFFF"/>
                </a:solidFill>
                <a:latin typeface="Calibri"/>
              </a:rPr>
              <a:t>RQ1</a:t>
            </a:r>
          </a:p>
        </p:txBody>
      </p:sp>
      <p:sp>
        <p:nvSpPr>
          <p:cNvPr id="7" name="Rounded Rectangle 6"/>
          <p:cNvSpPr/>
          <p:nvPr/>
        </p:nvSpPr>
        <p:spPr>
          <a:xfrm>
            <a:off x="960120" y="960120"/>
            <a:ext cx="5669280" cy="731520"/>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100" b="1">
                <a:solidFill>
                  <a:srgbClr val="002754"/>
                </a:solidFill>
                <a:latin typeface="Calibri"/>
              </a:rPr>
              <a:t>Does ambiguity cost more even when the model SUCCEEDS?</a:t>
            </a:r>
          </a:p>
          <a:p>
            <a:pPr algn="l"/>
            <a:r>
              <a:rPr sz="900" i="1">
                <a:solidFill>
                  <a:srgbClr val="5B6472"/>
                </a:solidFill>
                <a:latin typeface="Calibri"/>
              </a:rPr>
              <a:t>H1  ·  AT &gt; 1: output tokens and latency rise on passing runs</a:t>
            </a:r>
          </a:p>
        </p:txBody>
      </p:sp>
      <p:sp>
        <p:nvSpPr>
          <p:cNvPr id="8" name="Rounded Rectangle 7"/>
          <p:cNvSpPr/>
          <p:nvPr/>
        </p:nvSpPr>
        <p:spPr>
          <a:xfrm>
            <a:off x="6720840" y="960120"/>
            <a:ext cx="2194560" cy="731520"/>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1155CC"/>
                </a:solidFill>
                <a:latin typeface="Calibri"/>
              </a:rPr>
              <a:t>Δ tokens | success</a:t>
            </a:r>
          </a:p>
        </p:txBody>
      </p:sp>
      <p:sp>
        <p:nvSpPr>
          <p:cNvPr id="9" name="Rounded Rectangle 8"/>
          <p:cNvSpPr/>
          <p:nvPr/>
        </p:nvSpPr>
        <p:spPr>
          <a:xfrm>
            <a:off x="228600" y="1819656"/>
            <a:ext cx="658368" cy="731520"/>
          </a:xfrm>
          <a:prstGeom prst="round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FFFFFF"/>
                </a:solidFill>
                <a:latin typeface="Calibri"/>
              </a:rPr>
              <a:t>RQ2</a:t>
            </a:r>
          </a:p>
        </p:txBody>
      </p:sp>
      <p:sp>
        <p:nvSpPr>
          <p:cNvPr id="10" name="Rounded Rectangle 9"/>
          <p:cNvSpPr/>
          <p:nvPr/>
        </p:nvSpPr>
        <p:spPr>
          <a:xfrm>
            <a:off x="960120" y="1819656"/>
            <a:ext cx="5669280" cy="731520"/>
          </a:xfrm>
          <a:prstGeom prst="round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100" b="1">
                <a:solidFill>
                  <a:srgbClr val="002754"/>
                </a:solidFill>
                <a:latin typeface="Calibri"/>
              </a:rPr>
              <a:t>Which TYPE of ambiguity is most expensive?</a:t>
            </a:r>
          </a:p>
          <a:p>
            <a:pPr algn="l"/>
            <a:r>
              <a:rPr sz="900" i="1">
                <a:solidFill>
                  <a:srgbClr val="5B6472"/>
                </a:solidFill>
                <a:latin typeface="Calibri"/>
              </a:rPr>
              <a:t>H2  ·  vagueness and semantic cost more than lexical and syntactic</a:t>
            </a:r>
          </a:p>
        </p:txBody>
      </p:sp>
      <p:sp>
        <p:nvSpPr>
          <p:cNvPr id="11" name="Rounded Rectangle 10"/>
          <p:cNvSpPr/>
          <p:nvPr/>
        </p:nvSpPr>
        <p:spPr>
          <a:xfrm>
            <a:off x="6720840" y="1819656"/>
            <a:ext cx="2194560" cy="731520"/>
          </a:xfrm>
          <a:prstGeom prst="roundRect">
            <a:avLst>
              <a:gd name="adj" fmla="val 8000"/>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DAAA01"/>
                </a:solidFill>
                <a:latin typeface="Calibri"/>
              </a:rPr>
              <a:t>AT per type</a:t>
            </a:r>
          </a:p>
        </p:txBody>
      </p:sp>
      <p:sp>
        <p:nvSpPr>
          <p:cNvPr id="12" name="Rounded Rectangle 11"/>
          <p:cNvSpPr/>
          <p:nvPr/>
        </p:nvSpPr>
        <p:spPr>
          <a:xfrm>
            <a:off x="228600" y="2679191"/>
            <a:ext cx="658368" cy="731520"/>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FFFFFF"/>
                </a:solidFill>
                <a:latin typeface="Calibri"/>
              </a:rPr>
              <a:t>RQ3</a:t>
            </a:r>
          </a:p>
        </p:txBody>
      </p:sp>
      <p:sp>
        <p:nvSpPr>
          <p:cNvPr id="13" name="Rounded Rectangle 12"/>
          <p:cNvSpPr/>
          <p:nvPr/>
        </p:nvSpPr>
        <p:spPr>
          <a:xfrm>
            <a:off x="960120" y="2679191"/>
            <a:ext cx="5669280" cy="731520"/>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100" b="1">
                <a:solidFill>
                  <a:srgbClr val="002754"/>
                </a:solidFill>
                <a:latin typeface="Calibri"/>
              </a:rPr>
              <a:t>Does REASONING MODE amplify or absorb the tax?</a:t>
            </a:r>
          </a:p>
          <a:p>
            <a:pPr algn="l"/>
            <a:r>
              <a:rPr sz="900" i="1">
                <a:solidFill>
                  <a:srgbClr val="5B6472"/>
                </a:solidFill>
                <a:latin typeface="Calibri"/>
              </a:rPr>
              <a:t>H3  ·  reasoning models pay more, because they deliberate over the ambiguity</a:t>
            </a:r>
          </a:p>
        </p:txBody>
      </p:sp>
      <p:sp>
        <p:nvSpPr>
          <p:cNvPr id="14" name="Rounded Rectangle 13"/>
          <p:cNvSpPr/>
          <p:nvPr/>
        </p:nvSpPr>
        <p:spPr>
          <a:xfrm>
            <a:off x="6720840" y="2679191"/>
            <a:ext cx="2194560" cy="731520"/>
          </a:xfrm>
          <a:prstGeom prst="roundRect">
            <a:avLst>
              <a:gd name="adj" fmla="val 8000"/>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1E7A3C"/>
                </a:solidFill>
                <a:latin typeface="Calibri"/>
              </a:rPr>
              <a:t>AT × reasoning on/off</a:t>
            </a:r>
          </a:p>
        </p:txBody>
      </p:sp>
      <p:sp>
        <p:nvSpPr>
          <p:cNvPr id="15" name="Rounded Rectangle 14"/>
          <p:cNvSpPr/>
          <p:nvPr/>
        </p:nvSpPr>
        <p:spPr>
          <a:xfrm>
            <a:off x="228600" y="3538728"/>
            <a:ext cx="658368" cy="731520"/>
          </a:xfrm>
          <a:prstGeom prst="round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FFFFFF"/>
                </a:solidFill>
                <a:latin typeface="Calibri"/>
              </a:rPr>
              <a:t>RQ4</a:t>
            </a:r>
          </a:p>
        </p:txBody>
      </p:sp>
      <p:sp>
        <p:nvSpPr>
          <p:cNvPr id="16" name="Rounded Rectangle 15"/>
          <p:cNvSpPr/>
          <p:nvPr/>
        </p:nvSpPr>
        <p:spPr>
          <a:xfrm>
            <a:off x="960120" y="3538728"/>
            <a:ext cx="5669280" cy="7315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100" b="1">
                <a:solidFill>
                  <a:srgbClr val="002754"/>
                </a:solidFill>
                <a:latin typeface="Calibri"/>
              </a:rPr>
              <a:t>Does the effect REPLICATE across construction methods and models?</a:t>
            </a:r>
          </a:p>
          <a:p>
            <a:pPr algn="l"/>
            <a:r>
              <a:rPr sz="900" i="1">
                <a:solidFill>
                  <a:srgbClr val="5B6472"/>
                </a:solidFill>
                <a:latin typeface="Calibri"/>
              </a:rPr>
              <a:t>H4  ·  direction stable, magnitude varies by model family</a:t>
            </a:r>
          </a:p>
        </p:txBody>
      </p:sp>
      <p:sp>
        <p:nvSpPr>
          <p:cNvPr id="17" name="Rounded Rectangle 16"/>
          <p:cNvSpPr/>
          <p:nvPr/>
        </p:nvSpPr>
        <p:spPr>
          <a:xfrm>
            <a:off x="6720840" y="3538728"/>
            <a:ext cx="2194560" cy="731520"/>
          </a:xfrm>
          <a:prstGeom prst="roundRect">
            <a:avLst>
              <a:gd name="adj" fmla="val 8000"/>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5B6472"/>
                </a:solidFill>
                <a:latin typeface="Calibri"/>
              </a:rPr>
              <a:t>Orchid vs HumanEvalComm</a:t>
            </a:r>
          </a:p>
        </p:txBody>
      </p:sp>
      <p:sp>
        <p:nvSpPr>
          <p:cNvPr id="18" name="TextBox 17"/>
          <p:cNvSpPr txBox="1"/>
          <p:nvPr/>
        </p:nvSpPr>
        <p:spPr>
          <a:xfrm>
            <a:off x="6720840" y="731520"/>
            <a:ext cx="2194560" cy="237744"/>
          </a:xfrm>
          <a:prstGeom prst="rect">
            <a:avLst/>
          </a:prstGeom>
          <a:noFill/>
        </p:spPr>
        <p:txBody>
          <a:bodyPr wrap="square">
            <a:spAutoFit/>
          </a:bodyPr>
          <a:lstStyle/>
          <a:p>
            <a:pPr algn="ctr"/>
            <a:r>
              <a:rPr sz="850" b="1">
                <a:solidFill>
                  <a:srgbClr val="5B6472"/>
                </a:solidFill>
                <a:latin typeface="Calibri"/>
              </a:rPr>
              <a:t>DECISIVE MEASUREMENT</a:t>
            </a:r>
          </a:p>
        </p:txBody>
      </p:sp>
      <p:sp>
        <p:nvSpPr>
          <p:cNvPr id="19" name="Rectangle 18"/>
          <p:cNvSpPr/>
          <p:nvPr/>
        </p:nvSpPr>
        <p:spPr>
          <a:xfrm>
            <a:off x="228600" y="4443984"/>
            <a:ext cx="8686800" cy="457200"/>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One instrumented sweep answers all four, because the same runs produce correctness, tokens, latency and cost. No question needs its own experiment.</a:t>
            </a:r>
          </a:p>
        </p:txBody>
      </p:sp>
      <p:sp>
        <p:nvSpPr>
          <p:cNvPr id="20" name="Rectangle 19"/>
          <p:cNvSpPr/>
          <p:nvPr/>
        </p:nvSpPr>
        <p:spPr>
          <a:xfrm>
            <a:off x="228600" y="4443984"/>
            <a:ext cx="50292" cy="457200"/>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What Makes This Novel</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Rounded Rectangle 4"/>
          <p:cNvSpPr/>
          <p:nvPr/>
        </p:nvSpPr>
        <p:spPr>
          <a:xfrm>
            <a:off x="228600" y="914400"/>
            <a:ext cx="566928" cy="676656"/>
          </a:xfrm>
          <a:prstGeom prst="round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FFFFFF"/>
                </a:solidFill>
                <a:latin typeface="Calibri"/>
              </a:rPr>
              <a:t>N1</a:t>
            </a:r>
          </a:p>
        </p:txBody>
      </p:sp>
      <p:sp>
        <p:nvSpPr>
          <p:cNvPr id="6" name="Rounded Rectangle 5"/>
          <p:cNvSpPr/>
          <p:nvPr/>
        </p:nvSpPr>
        <p:spPr>
          <a:xfrm>
            <a:off x="868680" y="914400"/>
            <a:ext cx="8046720" cy="676656"/>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100" b="1">
                <a:solidFill>
                  <a:srgbClr val="002754"/>
                </a:solidFill>
                <a:latin typeface="Calibri"/>
              </a:rPr>
              <a:t>CROSSES TWO LITERATURES</a:t>
            </a:r>
          </a:p>
          <a:p>
            <a:pPr algn="l"/>
            <a:r>
              <a:rPr sz="950">
                <a:solidFill>
                  <a:srgbClr val="5B6472"/>
                </a:solidFill>
                <a:latin typeface="Calibri"/>
              </a:rPr>
              <a:t>Ambiguity benchmarks report pass rates only, and efficiency work never varies clarity. The gap in the table is a real one, not one drawn to fit.</a:t>
            </a:r>
          </a:p>
        </p:txBody>
      </p:sp>
      <p:sp>
        <p:nvSpPr>
          <p:cNvPr id="7" name="Rounded Rectangle 6"/>
          <p:cNvSpPr/>
          <p:nvPr/>
        </p:nvSpPr>
        <p:spPr>
          <a:xfrm>
            <a:off x="228600" y="1700784"/>
            <a:ext cx="566928" cy="676656"/>
          </a:xfrm>
          <a:prstGeom prst="round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FFFFFF"/>
                </a:solidFill>
                <a:latin typeface="Calibri"/>
              </a:rPr>
              <a:t>N2</a:t>
            </a:r>
          </a:p>
        </p:txBody>
      </p:sp>
      <p:sp>
        <p:nvSpPr>
          <p:cNvPr id="8" name="Rounded Rectangle 7"/>
          <p:cNvSpPr/>
          <p:nvPr/>
        </p:nvSpPr>
        <p:spPr>
          <a:xfrm>
            <a:off x="868680" y="1700784"/>
            <a:ext cx="8046720" cy="676656"/>
          </a:xfrm>
          <a:prstGeom prst="round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100" b="1">
                <a:solidFill>
                  <a:srgbClr val="002754"/>
                </a:solidFill>
                <a:latin typeface="Calibri"/>
              </a:rPr>
              <a:t>MEASURES ONLY THE RUNS THAT SUCCEED</a:t>
            </a:r>
          </a:p>
          <a:p>
            <a:pPr algn="l"/>
            <a:r>
              <a:rPr sz="950">
                <a:solidFill>
                  <a:srgbClr val="5B6472"/>
                </a:solidFill>
                <a:latin typeface="Calibri"/>
              </a:rPr>
              <a:t>Prior work mixes the cost of ambiguity with the cost of failing. Looking only at runs that pass all unit tests separates the two.</a:t>
            </a:r>
          </a:p>
        </p:txBody>
      </p:sp>
      <p:sp>
        <p:nvSpPr>
          <p:cNvPr id="9" name="Rounded Rectangle 8"/>
          <p:cNvSpPr/>
          <p:nvPr/>
        </p:nvSpPr>
        <p:spPr>
          <a:xfrm>
            <a:off x="228600" y="2487168"/>
            <a:ext cx="566928" cy="676656"/>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FFFFFF"/>
                </a:solidFill>
                <a:latin typeface="Calibri"/>
              </a:rPr>
              <a:t>N3</a:t>
            </a:r>
          </a:p>
        </p:txBody>
      </p:sp>
      <p:sp>
        <p:nvSpPr>
          <p:cNvPr id="10" name="Rounded Rectangle 9"/>
          <p:cNvSpPr/>
          <p:nvPr/>
        </p:nvSpPr>
        <p:spPr>
          <a:xfrm>
            <a:off x="868680" y="2487168"/>
            <a:ext cx="8046720" cy="67665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100" b="1">
                <a:solidFill>
                  <a:srgbClr val="002754"/>
                </a:solidFill>
                <a:latin typeface="Calibri"/>
              </a:rPr>
              <a:t>THE INPUT-LENGTH CONFOUND IS ALREADY RULED OUT</a:t>
            </a:r>
          </a:p>
          <a:p>
            <a:pPr algn="l"/>
            <a:r>
              <a:rPr sz="950">
                <a:solidFill>
                  <a:srgbClr val="5B6472"/>
                </a:solidFill>
                <a:latin typeface="Calibri"/>
              </a:rPr>
              <a:t>Orchid's own data: ambiguous prompts are 0.6–2.6% shorter with 4.5–17.8% higher perplexity. That is a control we did not have to build.</a:t>
            </a:r>
          </a:p>
        </p:txBody>
      </p:sp>
      <p:sp>
        <p:nvSpPr>
          <p:cNvPr id="11" name="Rounded Rectangle 10"/>
          <p:cNvSpPr/>
          <p:nvPr/>
        </p:nvSpPr>
        <p:spPr>
          <a:xfrm>
            <a:off x="228600" y="3273552"/>
            <a:ext cx="566928" cy="676656"/>
          </a:xfrm>
          <a:prstGeom prst="round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FFFFFF"/>
                </a:solidFill>
                <a:latin typeface="Calibri"/>
              </a:rPr>
              <a:t>N4</a:t>
            </a:r>
          </a:p>
        </p:txBody>
      </p:sp>
      <p:sp>
        <p:nvSpPr>
          <p:cNvPr id="12" name="Rounded Rectangle 11"/>
          <p:cNvSpPr/>
          <p:nvPr/>
        </p:nvSpPr>
        <p:spPr>
          <a:xfrm>
            <a:off x="868680" y="3273552"/>
            <a:ext cx="8046720" cy="676656"/>
          </a:xfrm>
          <a:prstGeom prst="round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100" b="1">
                <a:solidFill>
                  <a:srgbClr val="002754"/>
                </a:solidFill>
                <a:latin typeface="Calibri"/>
              </a:rPr>
              <a:t>PRICES EACH AMBIGUITY TYPE</a:t>
            </a:r>
          </a:p>
          <a:p>
            <a:pPr algn="l"/>
            <a:r>
              <a:rPr sz="950">
                <a:solidFill>
                  <a:srgbClr val="5B6472"/>
                </a:solidFill>
                <a:latin typeface="Calibri"/>
              </a:rPr>
              <a:t>Lexical, syntactic, semantic and vagueness are costed separately, so the result says which kind to fix rather than giving one aggregate number.</a:t>
            </a:r>
          </a:p>
        </p:txBody>
      </p:sp>
      <p:sp>
        <p:nvSpPr>
          <p:cNvPr id="13" name="Rounded Rectangle 12"/>
          <p:cNvSpPr/>
          <p:nvPr/>
        </p:nvSpPr>
        <p:spPr>
          <a:xfrm>
            <a:off x="228600" y="4059935"/>
            <a:ext cx="566928" cy="676656"/>
          </a:xfrm>
          <a:prstGeom prst="round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300" b="1">
                <a:solidFill>
                  <a:srgbClr val="FFFFFF"/>
                </a:solidFill>
                <a:latin typeface="Calibri"/>
              </a:rPr>
              <a:t>N5</a:t>
            </a:r>
          </a:p>
        </p:txBody>
      </p:sp>
      <p:sp>
        <p:nvSpPr>
          <p:cNvPr id="14" name="Rounded Rectangle 13"/>
          <p:cNvSpPr/>
          <p:nvPr/>
        </p:nvSpPr>
        <p:spPr>
          <a:xfrm>
            <a:off x="868680" y="4059935"/>
            <a:ext cx="8046720" cy="676656"/>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r>
              <a:rPr sz="1100" b="1">
                <a:solidFill>
                  <a:srgbClr val="002754"/>
                </a:solidFill>
                <a:latin typeface="Calibri"/>
              </a:rPr>
              <a:t>EXACT TOKEN ACCOUNTING</a:t>
            </a:r>
          </a:p>
          <a:p>
            <a:pPr algn="l"/>
            <a:r>
              <a:rPr sz="950">
                <a:solidFill>
                  <a:srgbClr val="5B6472"/>
                </a:solidFill>
                <a:latin typeface="Calibri"/>
              </a:rPr>
              <a:t>Local open-weight models report true token counts and generation time per call, so the numbers do not depend on provider billing.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Methodology</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One task, five phrasings, identical tests. Only the clarity changes.</a:t>
            </a:r>
          </a:p>
        </p:txBody>
      </p:sp>
      <p:sp>
        <p:nvSpPr>
          <p:cNvPr id="6" name="Rounded Rectangle 5"/>
          <p:cNvSpPr/>
          <p:nvPr/>
        </p:nvSpPr>
        <p:spPr>
          <a:xfrm>
            <a:off x="228600" y="960120"/>
            <a:ext cx="1572768" cy="1170432"/>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1155CC"/>
                </a:solidFill>
                <a:latin typeface="Calibri"/>
              </a:rPr>
              <a:t>STIMULI</a:t>
            </a:r>
          </a:p>
          <a:p>
            <a:pPr algn="ctr">
              <a:spcAft>
                <a:spcPts val="100"/>
              </a:spcAft>
            </a:pPr>
            <a:r>
              <a:rPr sz="850" b="0">
                <a:solidFill>
                  <a:srgbClr val="5B6472"/>
                </a:solidFill>
                <a:latin typeface="Calibri"/>
              </a:rPr>
              <a:t>Orchid: 1 clear +</a:t>
            </a:r>
          </a:p>
          <a:p>
            <a:pPr algn="ctr">
              <a:spcAft>
                <a:spcPts val="100"/>
              </a:spcAft>
            </a:pPr>
            <a:r>
              <a:rPr sz="850" b="0">
                <a:solidFill>
                  <a:srgbClr val="5B6472"/>
                </a:solidFill>
                <a:latin typeface="Calibri"/>
              </a:rPr>
              <a:t>4 typed variants</a:t>
            </a:r>
          </a:p>
          <a:p>
            <a:pPr algn="ctr">
              <a:spcAft>
                <a:spcPts val="100"/>
              </a:spcAft>
            </a:pPr>
            <a:r>
              <a:rPr sz="850" b="0">
                <a:solidFill>
                  <a:srgbClr val="5B6472"/>
                </a:solidFill>
                <a:latin typeface="Calibri"/>
              </a:rPr>
              <a:t>per task</a:t>
            </a:r>
          </a:p>
        </p:txBody>
      </p:sp>
      <p:sp>
        <p:nvSpPr>
          <p:cNvPr id="7" name="Rectangle 6"/>
          <p:cNvSpPr/>
          <p:nvPr/>
        </p:nvSpPr>
        <p:spPr>
          <a:xfrm>
            <a:off x="228600" y="960120"/>
            <a:ext cx="1572768"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1828800" y="1444752"/>
            <a:ext cx="155448"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002536" y="960120"/>
            <a:ext cx="1572768" cy="1170432"/>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1155CC"/>
                </a:solidFill>
                <a:latin typeface="Calibri"/>
              </a:rPr>
              <a:t>MODELS</a:t>
            </a:r>
          </a:p>
          <a:p>
            <a:pPr algn="ctr">
              <a:spcAft>
                <a:spcPts val="100"/>
              </a:spcAft>
            </a:pPr>
            <a:r>
              <a:rPr sz="850" b="0">
                <a:solidFill>
                  <a:srgbClr val="5B6472"/>
                </a:solidFill>
                <a:latin typeface="Calibri"/>
              </a:rPr>
              <a:t>qwen3:14b, llama3:8b</a:t>
            </a:r>
          </a:p>
          <a:p>
            <a:pPr algn="ctr">
              <a:spcAft>
                <a:spcPts val="100"/>
              </a:spcAft>
            </a:pPr>
            <a:r>
              <a:rPr sz="850" b="0">
                <a:solidFill>
                  <a:srgbClr val="5B6472"/>
                </a:solidFill>
                <a:latin typeface="Calibri"/>
              </a:rPr>
              <a:t>via Ollama</a:t>
            </a:r>
          </a:p>
          <a:p>
            <a:pPr algn="ctr">
              <a:spcAft>
                <a:spcPts val="100"/>
              </a:spcAft>
            </a:pPr>
            <a:r>
              <a:rPr sz="850" b="0">
                <a:solidFill>
                  <a:srgbClr val="5B6472"/>
                </a:solidFill>
                <a:latin typeface="Calibri"/>
              </a:rPr>
              <a:t>+ 1–2 frontier API</a:t>
            </a:r>
          </a:p>
        </p:txBody>
      </p:sp>
      <p:sp>
        <p:nvSpPr>
          <p:cNvPr id="10" name="Rectangle 9"/>
          <p:cNvSpPr/>
          <p:nvPr/>
        </p:nvSpPr>
        <p:spPr>
          <a:xfrm>
            <a:off x="2002536" y="960120"/>
            <a:ext cx="1572768"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3602736" y="1444752"/>
            <a:ext cx="155448"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776472" y="960120"/>
            <a:ext cx="1572768" cy="1170432"/>
          </a:xfrm>
          <a:prstGeom prst="roundRect">
            <a:avLst>
              <a:gd name="adj" fmla="val 8000"/>
            </a:avLst>
          </a:prstGeom>
          <a:solidFill>
            <a:srgbClr val="FFFFFF"/>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002754"/>
                </a:solidFill>
                <a:latin typeface="Calibri"/>
              </a:rPr>
              <a:t>HARNESS</a:t>
            </a:r>
          </a:p>
          <a:p>
            <a:pPr algn="ctr">
              <a:spcAft>
                <a:spcPts val="100"/>
              </a:spcAft>
            </a:pPr>
            <a:r>
              <a:rPr sz="850" b="0">
                <a:solidFill>
                  <a:srgbClr val="5B6472"/>
                </a:solidFill>
                <a:latin typeface="Calibri"/>
              </a:rPr>
              <a:t>k ≥ 5 samples</a:t>
            </a:r>
          </a:p>
          <a:p>
            <a:pPr algn="ctr">
              <a:spcAft>
                <a:spcPts val="100"/>
              </a:spcAft>
            </a:pPr>
            <a:r>
              <a:rPr sz="850" b="0">
                <a:solidFill>
                  <a:srgbClr val="5B6472"/>
                </a:solidFill>
                <a:latin typeface="Calibri"/>
              </a:rPr>
              <a:t>sandboxed unit-test</a:t>
            </a:r>
          </a:p>
          <a:p>
            <a:pPr algn="ctr">
              <a:spcAft>
                <a:spcPts val="100"/>
              </a:spcAft>
            </a:pPr>
            <a:r>
              <a:rPr sz="850" b="0">
                <a:solidFill>
                  <a:srgbClr val="5B6472"/>
                </a:solidFill>
                <a:latin typeface="Calibri"/>
              </a:rPr>
              <a:t>execution</a:t>
            </a:r>
          </a:p>
        </p:txBody>
      </p:sp>
      <p:sp>
        <p:nvSpPr>
          <p:cNvPr id="13" name="Rectangle 12"/>
          <p:cNvSpPr/>
          <p:nvPr/>
        </p:nvSpPr>
        <p:spPr>
          <a:xfrm>
            <a:off x="3776472" y="960120"/>
            <a:ext cx="1572768" cy="50292"/>
          </a:xfrm>
          <a:prstGeom prst="rect">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5376672" y="1444752"/>
            <a:ext cx="155448"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550408" y="960120"/>
            <a:ext cx="1572768" cy="1170432"/>
          </a:xfrm>
          <a:prstGeom prst="roundRect">
            <a:avLst>
              <a:gd name="adj" fmla="val 8000"/>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DAAA01"/>
                </a:solidFill>
                <a:latin typeface="Calibri"/>
              </a:rPr>
              <a:t>PER-CALL LOG</a:t>
            </a:r>
          </a:p>
          <a:p>
            <a:pPr algn="ctr">
              <a:spcAft>
                <a:spcPts val="100"/>
              </a:spcAft>
            </a:pPr>
            <a:r>
              <a:rPr sz="850" b="0">
                <a:solidFill>
                  <a:srgbClr val="5B6472"/>
                </a:solidFill>
                <a:latin typeface="Calibri"/>
              </a:rPr>
              <a:t>prompt tokens</a:t>
            </a:r>
          </a:p>
          <a:p>
            <a:pPr algn="ctr">
              <a:spcAft>
                <a:spcPts val="100"/>
              </a:spcAft>
            </a:pPr>
            <a:r>
              <a:rPr sz="850" b="0">
                <a:solidFill>
                  <a:srgbClr val="5B6472"/>
                </a:solidFill>
                <a:latin typeface="Calibri"/>
              </a:rPr>
              <a:t>output tokens</a:t>
            </a:r>
          </a:p>
          <a:p>
            <a:pPr algn="ctr">
              <a:spcAft>
                <a:spcPts val="100"/>
              </a:spcAft>
            </a:pPr>
            <a:r>
              <a:rPr sz="850" b="0">
                <a:solidFill>
                  <a:srgbClr val="5B6472"/>
                </a:solidFill>
                <a:latin typeface="Calibri"/>
              </a:rPr>
              <a:t>duration · pass/fail</a:t>
            </a:r>
          </a:p>
        </p:txBody>
      </p:sp>
      <p:sp>
        <p:nvSpPr>
          <p:cNvPr id="16" name="Rectangle 15"/>
          <p:cNvSpPr/>
          <p:nvPr/>
        </p:nvSpPr>
        <p:spPr>
          <a:xfrm>
            <a:off x="5550408" y="960120"/>
            <a:ext cx="1572768"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7150608" y="1444752"/>
            <a:ext cx="155448"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24344" y="960120"/>
            <a:ext cx="1572768" cy="1170432"/>
          </a:xfrm>
          <a:prstGeom prst="roundRect">
            <a:avLst>
              <a:gd name="adj" fmla="val 8000"/>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00" b="1">
                <a:solidFill>
                  <a:srgbClr val="1E7A3C"/>
                </a:solidFill>
                <a:latin typeface="Calibri"/>
              </a:rPr>
              <a:t>ANALYSIS</a:t>
            </a:r>
          </a:p>
          <a:p>
            <a:pPr algn="ctr">
              <a:spcAft>
                <a:spcPts val="100"/>
              </a:spcAft>
            </a:pPr>
            <a:r>
              <a:rPr sz="850" b="0">
                <a:solidFill>
                  <a:srgbClr val="5B6472"/>
                </a:solidFill>
                <a:latin typeface="Calibri"/>
              </a:rPr>
              <a:t>mixed-effects</a:t>
            </a:r>
          </a:p>
          <a:p>
            <a:pPr algn="ctr">
              <a:spcAft>
                <a:spcPts val="100"/>
              </a:spcAft>
            </a:pPr>
            <a:r>
              <a:rPr sz="850" b="0">
                <a:solidFill>
                  <a:srgbClr val="5B6472"/>
                </a:solidFill>
                <a:latin typeface="Calibri"/>
              </a:rPr>
              <a:t>regression</a:t>
            </a:r>
          </a:p>
          <a:p>
            <a:pPr algn="ctr">
              <a:spcAft>
                <a:spcPts val="100"/>
              </a:spcAft>
            </a:pPr>
            <a:r>
              <a:rPr sz="850" b="0">
                <a:solidFill>
                  <a:srgbClr val="5B6472"/>
                </a:solidFill>
                <a:latin typeface="Calibri"/>
              </a:rPr>
              <a:t>(1|task) + (1|model)</a:t>
            </a:r>
          </a:p>
        </p:txBody>
      </p:sp>
      <p:sp>
        <p:nvSpPr>
          <p:cNvPr id="19" name="Rectangle 18"/>
          <p:cNvSpPr/>
          <p:nvPr/>
        </p:nvSpPr>
        <p:spPr>
          <a:xfrm>
            <a:off x="7324344" y="960120"/>
            <a:ext cx="1572768" cy="50292"/>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28600" y="2304288"/>
            <a:ext cx="4251960" cy="1133856"/>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100" b="1">
                <a:solidFill>
                  <a:srgbClr val="002754"/>
                </a:solidFill>
                <a:latin typeface="Calibri"/>
              </a:rPr>
              <a:t>PRIMARY OUTCOMES</a:t>
            </a:r>
          </a:p>
          <a:p>
            <a:pPr algn="l">
              <a:spcAft>
                <a:spcPts val="100"/>
              </a:spcAft>
            </a:pPr>
            <a:r>
              <a:rPr sz="1050" b="0">
                <a:solidFill>
                  <a:srgbClr val="002754"/>
                </a:solidFill>
                <a:latin typeface="Calibri"/>
              </a:rPr>
              <a:t>Δ output tokens | success</a:t>
            </a:r>
          </a:p>
          <a:p>
            <a:pPr algn="l">
              <a:spcAft>
                <a:spcPts val="100"/>
              </a:spcAft>
            </a:pPr>
            <a:r>
              <a:rPr sz="1050" b="0">
                <a:solidFill>
                  <a:srgbClr val="002754"/>
                </a:solidFill>
                <a:latin typeface="Calibri"/>
              </a:rPr>
              <a:t>Δ latency | success</a:t>
            </a:r>
          </a:p>
          <a:p>
            <a:pPr algn="l">
              <a:spcAft>
                <a:spcPts val="100"/>
              </a:spcAft>
            </a:pPr>
            <a:r>
              <a:rPr sz="1050" b="0">
                <a:solidFill>
                  <a:srgbClr val="002754"/>
                </a:solidFill>
                <a:latin typeface="Calibri"/>
              </a:rPr>
              <a:t>Ambiguity Tax  (cost-of-pass ratio)</a:t>
            </a:r>
          </a:p>
        </p:txBody>
      </p:sp>
      <p:sp>
        <p:nvSpPr>
          <p:cNvPr id="21" name="Rounded Rectangle 20"/>
          <p:cNvSpPr/>
          <p:nvPr/>
        </p:nvSpPr>
        <p:spPr>
          <a:xfrm>
            <a:off x="4663440" y="2304288"/>
            <a:ext cx="4251960" cy="1133856"/>
          </a:xfrm>
          <a:prstGeom prst="roundRect">
            <a:avLst>
              <a:gd name="adj" fmla="val 8000"/>
            </a:avLst>
          </a:prstGeom>
          <a:solidFill>
            <a:srgbClr val="EEF3FA"/>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100" b="1">
                <a:solidFill>
                  <a:srgbClr val="1155CC"/>
                </a:solidFill>
                <a:latin typeface="Calibri"/>
              </a:rPr>
              <a:t>SECONDARY / REPLICATION</a:t>
            </a:r>
          </a:p>
          <a:p>
            <a:pPr algn="l">
              <a:spcAft>
                <a:spcPts val="100"/>
              </a:spcAft>
            </a:pPr>
            <a:r>
              <a:rPr sz="1050" b="0">
                <a:solidFill>
                  <a:srgbClr val="002754"/>
                </a:solidFill>
                <a:latin typeface="Calibri"/>
              </a:rPr>
              <a:t>Pass@1, as a replication check on prior work</a:t>
            </a:r>
          </a:p>
          <a:p>
            <a:pPr algn="l">
              <a:spcAft>
                <a:spcPts val="100"/>
              </a:spcAft>
            </a:pPr>
            <a:r>
              <a:rPr sz="1050" b="0">
                <a:solidFill>
                  <a:srgbClr val="002754"/>
                </a:solidFill>
                <a:latin typeface="Calibri"/>
              </a:rPr>
              <a:t>Conflict rate across samples</a:t>
            </a:r>
          </a:p>
          <a:p>
            <a:pPr algn="l">
              <a:spcAft>
                <a:spcPts val="100"/>
              </a:spcAft>
            </a:pPr>
            <a:r>
              <a:rPr sz="1050" b="0">
                <a:solidFill>
                  <a:srgbClr val="002754"/>
                </a:solidFill>
                <a:latin typeface="Calibri"/>
              </a:rPr>
              <a:t>HumanEvalComm as an independent set</a:t>
            </a:r>
          </a:p>
        </p:txBody>
      </p:sp>
      <p:sp>
        <p:nvSpPr>
          <p:cNvPr id="22" name="Rounded Rectangle 21"/>
          <p:cNvSpPr/>
          <p:nvPr/>
        </p:nvSpPr>
        <p:spPr>
          <a:xfrm>
            <a:off x="228600" y="3566160"/>
            <a:ext cx="8686800" cy="621792"/>
          </a:xfrm>
          <a:prstGeom prst="roundRect">
            <a:avLst>
              <a:gd name="adj" fmla="val 8000"/>
            </a:avLst>
          </a:prstGeom>
          <a:solidFill>
            <a:srgbClr val="002754"/>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100" b="1">
                <a:solidFill>
                  <a:srgbClr val="FFFFFF"/>
                </a:solidFill>
                <a:latin typeface="Calibri"/>
              </a:rPr>
              <a:t>log(output_tokens)  ~  ambiguity_type × reasoning_mode  +  input_tokens  +  difficulty  +  (1 | task)  +  (1 | model)</a:t>
            </a:r>
          </a:p>
          <a:p>
            <a:pPr algn="ctr">
              <a:spcAft>
                <a:spcPts val="100"/>
              </a:spcAft>
            </a:pPr>
            <a:r>
              <a:rPr sz="900" b="0">
                <a:solidFill>
                  <a:srgbClr val="CCD6E4"/>
                </a:solidFill>
                <a:latin typeface="Calibri"/>
              </a:rPr>
              <a:t>same specification for latency; logistic form for correctness</a:t>
            </a:r>
          </a:p>
        </p:txBody>
      </p:sp>
      <p:sp>
        <p:nvSpPr>
          <p:cNvPr id="23" name="Rectangle 22"/>
          <p:cNvSpPr/>
          <p:nvPr/>
        </p:nvSpPr>
        <p:spPr>
          <a:xfrm>
            <a:off x="228600" y="4297680"/>
            <a:ext cx="8686800" cy="45720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1,304 Orchid tasks × 5 conditions are available. The 164-task Orchid-HEval subset carries the pilot.</a:t>
            </a:r>
          </a:p>
        </p:txBody>
      </p:sp>
      <p:sp>
        <p:nvSpPr>
          <p:cNvPr id="24" name="Rectangle 23"/>
          <p:cNvSpPr/>
          <p:nvPr/>
        </p:nvSpPr>
        <p:spPr>
          <a:xfrm>
            <a:off x="228600" y="4297680"/>
            <a:ext cx="50292" cy="457200"/>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Controlling the Confounds</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Each rival explanation is ruled out by a design choice.</a:t>
            </a:r>
          </a:p>
        </p:txBody>
      </p:sp>
      <p:sp>
        <p:nvSpPr>
          <p:cNvPr id="6" name="TextBox 5"/>
          <p:cNvSpPr txBox="1"/>
          <p:nvPr/>
        </p:nvSpPr>
        <p:spPr>
          <a:xfrm>
            <a:off x="228600" y="932688"/>
            <a:ext cx="3703320" cy="237744"/>
          </a:xfrm>
          <a:prstGeom prst="rect">
            <a:avLst/>
          </a:prstGeom>
          <a:noFill/>
        </p:spPr>
        <p:txBody>
          <a:bodyPr wrap="square">
            <a:spAutoFit/>
          </a:bodyPr>
          <a:lstStyle/>
          <a:p>
            <a:pPr algn="ctr"/>
            <a:r>
              <a:rPr sz="950" b="1">
                <a:solidFill>
                  <a:srgbClr val="B03030"/>
                </a:solidFill>
                <a:latin typeface="Calibri"/>
              </a:rPr>
              <a:t>THREAT</a:t>
            </a:r>
          </a:p>
        </p:txBody>
      </p:sp>
      <p:sp>
        <p:nvSpPr>
          <p:cNvPr id="7" name="TextBox 6"/>
          <p:cNvSpPr txBox="1"/>
          <p:nvPr/>
        </p:nvSpPr>
        <p:spPr>
          <a:xfrm>
            <a:off x="4663440" y="932688"/>
            <a:ext cx="4251960" cy="237744"/>
          </a:xfrm>
          <a:prstGeom prst="rect">
            <a:avLst/>
          </a:prstGeom>
          <a:noFill/>
        </p:spPr>
        <p:txBody>
          <a:bodyPr wrap="square">
            <a:spAutoFit/>
          </a:bodyPr>
          <a:lstStyle/>
          <a:p>
            <a:pPr algn="ctr"/>
            <a:r>
              <a:rPr sz="950" b="1">
                <a:solidFill>
                  <a:srgbClr val="1E7A3C"/>
                </a:solidFill>
                <a:latin typeface="Calibri"/>
              </a:rPr>
              <a:t>CONTROL</a:t>
            </a:r>
          </a:p>
        </p:txBody>
      </p:sp>
      <p:sp>
        <p:nvSpPr>
          <p:cNvPr id="8" name="Rounded Rectangle 7"/>
          <p:cNvSpPr/>
          <p:nvPr/>
        </p:nvSpPr>
        <p:spPr>
          <a:xfrm>
            <a:off x="228600" y="1225296"/>
            <a:ext cx="3703320" cy="58521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Longer prompts cause longer outputs</a:t>
            </a:r>
          </a:p>
        </p:txBody>
      </p:sp>
      <p:sp>
        <p:nvSpPr>
          <p:cNvPr id="9" name="Right Arrow 8"/>
          <p:cNvSpPr/>
          <p:nvPr/>
        </p:nvSpPr>
        <p:spPr>
          <a:xfrm>
            <a:off x="4059936" y="1399032"/>
            <a:ext cx="420624" cy="237744"/>
          </a:xfrm>
          <a:prstGeom prst="rightArrow">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63440" y="1225296"/>
            <a:ext cx="4251960" cy="58521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Orchid's ambiguous prompts are shorter, and input tokens also enter as a covariate</a:t>
            </a:r>
          </a:p>
        </p:txBody>
      </p:sp>
      <p:sp>
        <p:nvSpPr>
          <p:cNvPr id="11" name="Rounded Rectangle 10"/>
          <p:cNvSpPr/>
          <p:nvPr/>
        </p:nvSpPr>
        <p:spPr>
          <a:xfrm>
            <a:off x="228600" y="1920240"/>
            <a:ext cx="3703320" cy="58521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Difficulty, not ambiguity, drives length</a:t>
            </a:r>
          </a:p>
        </p:txBody>
      </p:sp>
      <p:sp>
        <p:nvSpPr>
          <p:cNvPr id="12" name="Right Arrow 11"/>
          <p:cNvSpPr/>
          <p:nvPr/>
        </p:nvSpPr>
        <p:spPr>
          <a:xfrm>
            <a:off x="4059936" y="2093976"/>
            <a:ext cx="420624" cy="237744"/>
          </a:xfrm>
          <a:prstGeom prst="rightArrow">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63440" y="1920240"/>
            <a:ext cx="4251960" cy="58521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Paired within-task design: the underlying problem is identical</a:t>
            </a:r>
          </a:p>
        </p:txBody>
      </p:sp>
      <p:sp>
        <p:nvSpPr>
          <p:cNvPr id="14" name="Rounded Rectangle 13"/>
          <p:cNvSpPr/>
          <p:nvPr/>
        </p:nvSpPr>
        <p:spPr>
          <a:xfrm>
            <a:off x="228600" y="2615184"/>
            <a:ext cx="3703320" cy="58521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Cost rises only because the model is failing</a:t>
            </a:r>
          </a:p>
        </p:txBody>
      </p:sp>
      <p:sp>
        <p:nvSpPr>
          <p:cNvPr id="15" name="Right Arrow 14"/>
          <p:cNvSpPr/>
          <p:nvPr/>
        </p:nvSpPr>
        <p:spPr>
          <a:xfrm>
            <a:off x="4059936" y="2788920"/>
            <a:ext cx="420624" cy="237744"/>
          </a:xfrm>
          <a:prstGeom prst="rightArrow">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63440" y="2615184"/>
            <a:ext cx="4251960" cy="58521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Condition on runs passing all unit tests; failures analysed separately</a:t>
            </a:r>
          </a:p>
        </p:txBody>
      </p:sp>
      <p:sp>
        <p:nvSpPr>
          <p:cNvPr id="17" name="Rounded Rectangle 16"/>
          <p:cNvSpPr/>
          <p:nvPr/>
        </p:nvSpPr>
        <p:spPr>
          <a:xfrm>
            <a:off x="228600" y="3310128"/>
            <a:ext cx="3703320" cy="58521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Clarification turns inflate tokens by definition</a:t>
            </a:r>
          </a:p>
        </p:txBody>
      </p:sp>
      <p:sp>
        <p:nvSpPr>
          <p:cNvPr id="18" name="Right Arrow 17"/>
          <p:cNvSpPr/>
          <p:nvPr/>
        </p:nvSpPr>
        <p:spPr>
          <a:xfrm>
            <a:off x="4059936" y="3483864"/>
            <a:ext cx="420624" cy="237744"/>
          </a:xfrm>
          <a:prstGeom prst="rightArrow">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63440" y="3310128"/>
            <a:ext cx="4251960" cy="58521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Separate asking from silently reasoning longer, and report both</a:t>
            </a:r>
          </a:p>
        </p:txBody>
      </p:sp>
      <p:sp>
        <p:nvSpPr>
          <p:cNvPr id="20" name="Rounded Rectangle 19"/>
          <p:cNvSpPr/>
          <p:nvPr/>
        </p:nvSpPr>
        <p:spPr>
          <a:xfrm>
            <a:off x="228600" y="4005072"/>
            <a:ext cx="3703320" cy="585216"/>
          </a:xfrm>
          <a:prstGeom prst="round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Ambiguity is an artefact of one construction method</a:t>
            </a:r>
          </a:p>
        </p:txBody>
      </p:sp>
      <p:sp>
        <p:nvSpPr>
          <p:cNvPr id="21" name="Right Arrow 20"/>
          <p:cNvSpPr/>
          <p:nvPr/>
        </p:nvSpPr>
        <p:spPr>
          <a:xfrm>
            <a:off x="4059936" y="4178808"/>
            <a:ext cx="420624" cy="237744"/>
          </a:xfrm>
          <a:prstGeom prst="rightArrow">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63440" y="4005072"/>
            <a:ext cx="4251960" cy="585216"/>
          </a:xfrm>
          <a:prstGeom prst="roundRect">
            <a:avLst/>
          </a:prstGeom>
          <a:solidFill>
            <a:srgbClr val="EC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00" b="0">
                <a:solidFill>
                  <a:srgbClr val="002754"/>
                </a:solidFill>
                <a:latin typeface="Calibri"/>
              </a:rPr>
              <a:t>Replicate on HumanEvalComm, which was built by hand rather than by LLM injection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Phases and Deliverables</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Rounded Rectangle 4"/>
          <p:cNvSpPr/>
          <p:nvPr/>
        </p:nvSpPr>
        <p:spPr>
          <a:xfrm>
            <a:off x="228600" y="932688"/>
            <a:ext cx="1572768" cy="384048"/>
          </a:xfrm>
          <a:prstGeom prst="roundRect">
            <a:avLst>
              <a:gd name="adj" fmla="val 8000"/>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FFFFFF"/>
                </a:solidFill>
                <a:latin typeface="Calibri"/>
              </a:rPr>
              <a:t>0 · INSTRUMENT</a:t>
            </a:r>
          </a:p>
        </p:txBody>
      </p:sp>
      <p:sp>
        <p:nvSpPr>
          <p:cNvPr id="6" name="Rounded Rectangle 5"/>
          <p:cNvSpPr/>
          <p:nvPr/>
        </p:nvSpPr>
        <p:spPr>
          <a:xfrm>
            <a:off x="228600" y="1353312"/>
            <a:ext cx="1572768" cy="1298448"/>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00" b="1">
                <a:solidFill>
                  <a:srgbClr val="1155CC"/>
                </a:solidFill>
                <a:latin typeface="Calibri"/>
              </a:rPr>
              <a:t>week 1</a:t>
            </a:r>
          </a:p>
          <a:p>
            <a:pPr algn="ctr">
              <a:spcAft>
                <a:spcPts val="100"/>
              </a:spcAft>
            </a:pPr>
            <a:r>
              <a:rPr sz="850" b="0">
                <a:solidFill>
                  <a:srgbClr val="5B6472"/>
                </a:solidFill>
                <a:latin typeface="Calibri"/>
              </a:rPr>
              <a:t>Ollama harness:</a:t>
            </a:r>
          </a:p>
          <a:p>
            <a:pPr algn="ctr">
              <a:spcAft>
                <a:spcPts val="100"/>
              </a:spcAft>
            </a:pPr>
            <a:r>
              <a:rPr sz="850" b="0">
                <a:solidFill>
                  <a:srgbClr val="5B6472"/>
                </a:solidFill>
                <a:latin typeface="Calibri"/>
              </a:rPr>
              <a:t>tokens, duration,</a:t>
            </a:r>
          </a:p>
          <a:p>
            <a:pPr algn="ctr">
              <a:spcAft>
                <a:spcPts val="100"/>
              </a:spcAft>
            </a:pPr>
            <a:r>
              <a:rPr sz="850" b="0">
                <a:solidFill>
                  <a:srgbClr val="5B6472"/>
                </a:solidFill>
                <a:latin typeface="Calibri"/>
              </a:rPr>
              <a:t>test outcome</a:t>
            </a:r>
          </a:p>
        </p:txBody>
      </p:sp>
      <p:sp>
        <p:nvSpPr>
          <p:cNvPr id="7" name="Right Arrow 6"/>
          <p:cNvSpPr/>
          <p:nvPr/>
        </p:nvSpPr>
        <p:spPr>
          <a:xfrm>
            <a:off x="1828800" y="1874519"/>
            <a:ext cx="155448"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28600" y="2889504"/>
            <a:ext cx="1572768" cy="603504"/>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0">
                <a:solidFill>
                  <a:srgbClr val="002754"/>
                </a:solidFill>
                <a:latin typeface="Calibri"/>
              </a:rPr>
              <a:t>One task runs end to end</a:t>
            </a:r>
          </a:p>
        </p:txBody>
      </p:sp>
      <p:sp>
        <p:nvSpPr>
          <p:cNvPr id="9" name="Rounded Rectangle 8"/>
          <p:cNvSpPr/>
          <p:nvPr/>
        </p:nvSpPr>
        <p:spPr>
          <a:xfrm>
            <a:off x="2002536" y="932688"/>
            <a:ext cx="1572768" cy="384048"/>
          </a:xfrm>
          <a:prstGeom prst="roundRect">
            <a:avLst>
              <a:gd name="adj" fmla="val 8000"/>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FFFFFF"/>
                </a:solidFill>
                <a:latin typeface="Calibri"/>
              </a:rPr>
              <a:t>1 · PILOT</a:t>
            </a:r>
          </a:p>
        </p:txBody>
      </p:sp>
      <p:sp>
        <p:nvSpPr>
          <p:cNvPr id="10" name="Rounded Rectangle 9"/>
          <p:cNvSpPr/>
          <p:nvPr/>
        </p:nvSpPr>
        <p:spPr>
          <a:xfrm>
            <a:off x="2002536" y="1353312"/>
            <a:ext cx="1572768" cy="1298448"/>
          </a:xfrm>
          <a:prstGeom prst="roundRect">
            <a:avLst>
              <a:gd name="adj" fmla="val 8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00" b="1">
                <a:solidFill>
                  <a:srgbClr val="1155CC"/>
                </a:solidFill>
                <a:latin typeface="Calibri"/>
              </a:rPr>
              <a:t>weeks 2–3</a:t>
            </a:r>
          </a:p>
          <a:p>
            <a:pPr algn="ctr">
              <a:spcAft>
                <a:spcPts val="100"/>
              </a:spcAft>
            </a:pPr>
            <a:r>
              <a:rPr sz="850" b="0">
                <a:solidFill>
                  <a:srgbClr val="5B6472"/>
                </a:solidFill>
                <a:latin typeface="Calibri"/>
              </a:rPr>
              <a:t>Orchid-HEval</a:t>
            </a:r>
          </a:p>
          <a:p>
            <a:pPr algn="ctr">
              <a:spcAft>
                <a:spcPts val="100"/>
              </a:spcAft>
            </a:pPr>
            <a:r>
              <a:rPr sz="850" b="0">
                <a:solidFill>
                  <a:srgbClr val="5B6472"/>
                </a:solidFill>
                <a:latin typeface="Calibri"/>
              </a:rPr>
              <a:t>164 × 5 × 2 models</a:t>
            </a:r>
          </a:p>
          <a:p>
            <a:pPr algn="ctr">
              <a:spcAft>
                <a:spcPts val="100"/>
              </a:spcAft>
            </a:pPr>
            <a:r>
              <a:rPr sz="850" b="0">
                <a:solidFill>
                  <a:srgbClr val="5B6472"/>
                </a:solidFill>
                <a:latin typeface="Calibri"/>
              </a:rPr>
              <a:t>k = 5</a:t>
            </a:r>
          </a:p>
        </p:txBody>
      </p:sp>
      <p:sp>
        <p:nvSpPr>
          <p:cNvPr id="11" name="Right Arrow 10"/>
          <p:cNvSpPr/>
          <p:nvPr/>
        </p:nvSpPr>
        <p:spPr>
          <a:xfrm>
            <a:off x="3602736" y="1874519"/>
            <a:ext cx="155448"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002536" y="2889504"/>
            <a:ext cx="1572768" cy="603504"/>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0">
                <a:solidFill>
                  <a:srgbClr val="002754"/>
                </a:solidFill>
                <a:latin typeface="Calibri"/>
              </a:rPr>
              <a:t>Ambiguity Tax with CIs</a:t>
            </a:r>
          </a:p>
        </p:txBody>
      </p:sp>
      <p:sp>
        <p:nvSpPr>
          <p:cNvPr id="13" name="Rounded Rectangle 12"/>
          <p:cNvSpPr/>
          <p:nvPr/>
        </p:nvSpPr>
        <p:spPr>
          <a:xfrm>
            <a:off x="3776472" y="932688"/>
            <a:ext cx="1572768" cy="384048"/>
          </a:xfrm>
          <a:prstGeom prst="roundRect">
            <a:avLst>
              <a:gd name="adj" fmla="val 8000"/>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FFFFFF"/>
                </a:solidFill>
                <a:latin typeface="Calibri"/>
              </a:rPr>
              <a:t>2 · FULL SWEEP</a:t>
            </a:r>
          </a:p>
        </p:txBody>
      </p:sp>
      <p:sp>
        <p:nvSpPr>
          <p:cNvPr id="14" name="Rounded Rectangle 13"/>
          <p:cNvSpPr/>
          <p:nvPr/>
        </p:nvSpPr>
        <p:spPr>
          <a:xfrm>
            <a:off x="3776472" y="1353312"/>
            <a:ext cx="1572768" cy="1298448"/>
          </a:xfrm>
          <a:prstGeom prst="roundRect">
            <a:avLst>
              <a:gd name="adj" fmla="val 8000"/>
            </a:avLst>
          </a:prstGeom>
          <a:solidFill>
            <a:srgbClr val="FFFFFF"/>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00" b="1">
                <a:solidFill>
                  <a:srgbClr val="002754"/>
                </a:solidFill>
                <a:latin typeface="Calibri"/>
              </a:rPr>
              <a:t>weeks 4–7</a:t>
            </a:r>
          </a:p>
          <a:p>
            <a:pPr algn="ctr">
              <a:spcAft>
                <a:spcPts val="100"/>
              </a:spcAft>
            </a:pPr>
            <a:r>
              <a:rPr sz="850" b="0">
                <a:solidFill>
                  <a:srgbClr val="5B6472"/>
                </a:solidFill>
                <a:latin typeface="Calibri"/>
              </a:rPr>
              <a:t>all 1,304 tasks</a:t>
            </a:r>
          </a:p>
          <a:p>
            <a:pPr algn="ctr">
              <a:spcAft>
                <a:spcPts val="100"/>
              </a:spcAft>
            </a:pPr>
            <a:r>
              <a:rPr sz="850" b="0">
                <a:solidFill>
                  <a:srgbClr val="5B6472"/>
                </a:solidFill>
                <a:latin typeface="Calibri"/>
              </a:rPr>
              <a:t>+ frontier models</a:t>
            </a:r>
          </a:p>
          <a:p>
            <a:pPr algn="ctr">
              <a:spcAft>
                <a:spcPts val="100"/>
              </a:spcAft>
            </a:pPr>
            <a:r>
              <a:rPr sz="850" b="0">
                <a:solidFill>
                  <a:srgbClr val="5B6472"/>
                </a:solidFill>
                <a:latin typeface="Calibri"/>
              </a:rPr>
              <a:t>reasoning on/off</a:t>
            </a:r>
          </a:p>
        </p:txBody>
      </p:sp>
      <p:sp>
        <p:nvSpPr>
          <p:cNvPr id="15" name="Right Arrow 14"/>
          <p:cNvSpPr/>
          <p:nvPr/>
        </p:nvSpPr>
        <p:spPr>
          <a:xfrm>
            <a:off x="5376672" y="1874519"/>
            <a:ext cx="155448"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776472" y="2889504"/>
            <a:ext cx="1572768" cy="603504"/>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0">
                <a:solidFill>
                  <a:srgbClr val="002754"/>
                </a:solidFill>
                <a:latin typeface="Calibri"/>
              </a:rPr>
              <a:t>Per-type cost profile</a:t>
            </a:r>
          </a:p>
        </p:txBody>
      </p:sp>
      <p:sp>
        <p:nvSpPr>
          <p:cNvPr id="17" name="Rounded Rectangle 16"/>
          <p:cNvSpPr/>
          <p:nvPr/>
        </p:nvSpPr>
        <p:spPr>
          <a:xfrm>
            <a:off x="5550408" y="932688"/>
            <a:ext cx="1572768" cy="384048"/>
          </a:xfrm>
          <a:prstGeom prst="roundRect">
            <a:avLst>
              <a:gd name="adj" fmla="val 8000"/>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FFFFFF"/>
                </a:solidFill>
                <a:latin typeface="Calibri"/>
              </a:rPr>
              <a:t>3 · REPLICATION</a:t>
            </a:r>
          </a:p>
        </p:txBody>
      </p:sp>
      <p:sp>
        <p:nvSpPr>
          <p:cNvPr id="18" name="Rounded Rectangle 17"/>
          <p:cNvSpPr/>
          <p:nvPr/>
        </p:nvSpPr>
        <p:spPr>
          <a:xfrm>
            <a:off x="5550408" y="1353312"/>
            <a:ext cx="1572768" cy="1298448"/>
          </a:xfrm>
          <a:prstGeom prst="roundRect">
            <a:avLst>
              <a:gd name="adj" fmla="val 8000"/>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00" b="1">
                <a:solidFill>
                  <a:srgbClr val="DAAA01"/>
                </a:solidFill>
                <a:latin typeface="Calibri"/>
              </a:rPr>
              <a:t>weeks 8–9</a:t>
            </a:r>
          </a:p>
          <a:p>
            <a:pPr algn="ctr">
              <a:spcAft>
                <a:spcPts val="100"/>
              </a:spcAft>
            </a:pPr>
            <a:r>
              <a:rPr sz="850" b="0">
                <a:solidFill>
                  <a:srgbClr val="5B6472"/>
                </a:solidFill>
                <a:latin typeface="Calibri"/>
              </a:rPr>
              <a:t>HumanEvalComm</a:t>
            </a:r>
          </a:p>
          <a:p>
            <a:pPr algn="ctr">
              <a:spcAft>
                <a:spcPts val="100"/>
              </a:spcAft>
            </a:pPr>
            <a:r>
              <a:rPr sz="850" b="0">
                <a:solidFill>
                  <a:srgbClr val="5B6472"/>
                </a:solidFill>
                <a:latin typeface="Calibri"/>
              </a:rPr>
              <a:t>762 variants</a:t>
            </a:r>
          </a:p>
          <a:p>
            <a:pPr algn="ctr">
              <a:spcAft>
                <a:spcPts val="100"/>
              </a:spcAft>
            </a:pPr>
            <a:r>
              <a:rPr sz="850" b="0">
                <a:solidFill>
                  <a:srgbClr val="5B6472"/>
                </a:solidFill>
                <a:latin typeface="Calibri"/>
              </a:rPr>
              <a:t>same harness</a:t>
            </a:r>
          </a:p>
        </p:txBody>
      </p:sp>
      <p:sp>
        <p:nvSpPr>
          <p:cNvPr id="19" name="Right Arrow 18"/>
          <p:cNvSpPr/>
          <p:nvPr/>
        </p:nvSpPr>
        <p:spPr>
          <a:xfrm>
            <a:off x="7150608" y="1874519"/>
            <a:ext cx="155448" cy="201168"/>
          </a:xfrm>
          <a:prstGeom prst="right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550408" y="2889504"/>
            <a:ext cx="1572768" cy="603504"/>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0">
                <a:solidFill>
                  <a:srgbClr val="002754"/>
                </a:solidFill>
                <a:latin typeface="Calibri"/>
              </a:rPr>
              <a:t>Effect reproduces</a:t>
            </a:r>
          </a:p>
        </p:txBody>
      </p:sp>
      <p:sp>
        <p:nvSpPr>
          <p:cNvPr id="21" name="Rounded Rectangle 20"/>
          <p:cNvSpPr/>
          <p:nvPr/>
        </p:nvSpPr>
        <p:spPr>
          <a:xfrm>
            <a:off x="7324344" y="932688"/>
            <a:ext cx="1572768" cy="384048"/>
          </a:xfrm>
          <a:prstGeom prst="roundRect">
            <a:avLst>
              <a:gd name="adj" fmla="val 8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50" b="1">
                <a:solidFill>
                  <a:srgbClr val="FFFFFF"/>
                </a:solidFill>
                <a:latin typeface="Calibri"/>
              </a:rPr>
              <a:t>4 · ANALYSIS</a:t>
            </a:r>
          </a:p>
        </p:txBody>
      </p:sp>
      <p:sp>
        <p:nvSpPr>
          <p:cNvPr id="22" name="Rounded Rectangle 21"/>
          <p:cNvSpPr/>
          <p:nvPr/>
        </p:nvSpPr>
        <p:spPr>
          <a:xfrm>
            <a:off x="7324344" y="1353312"/>
            <a:ext cx="1572768" cy="1298448"/>
          </a:xfrm>
          <a:prstGeom prst="roundRect">
            <a:avLst>
              <a:gd name="adj" fmla="val 8000"/>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900" b="1">
                <a:solidFill>
                  <a:srgbClr val="1E7A3C"/>
                </a:solidFill>
                <a:latin typeface="Calibri"/>
              </a:rPr>
              <a:t>weeks 10–12</a:t>
            </a:r>
          </a:p>
          <a:p>
            <a:pPr algn="ctr">
              <a:spcAft>
                <a:spcPts val="100"/>
              </a:spcAft>
            </a:pPr>
            <a:r>
              <a:rPr sz="850" b="0">
                <a:solidFill>
                  <a:srgbClr val="5B6472"/>
                </a:solidFill>
                <a:latin typeface="Calibri"/>
              </a:rPr>
              <a:t>mixed-effects</a:t>
            </a:r>
          </a:p>
          <a:p>
            <a:pPr algn="ctr">
              <a:spcAft>
                <a:spcPts val="100"/>
              </a:spcAft>
            </a:pPr>
            <a:r>
              <a:rPr sz="850" b="0">
                <a:solidFill>
                  <a:srgbClr val="5B6472"/>
                </a:solidFill>
                <a:latin typeface="Calibri"/>
              </a:rPr>
              <a:t>models; release</a:t>
            </a:r>
          </a:p>
          <a:p>
            <a:pPr algn="ctr">
              <a:spcAft>
                <a:spcPts val="100"/>
              </a:spcAft>
            </a:pPr>
            <a:r>
              <a:rPr sz="850" b="0">
                <a:solidFill>
                  <a:srgbClr val="5B6472"/>
                </a:solidFill>
                <a:latin typeface="Calibri"/>
              </a:rPr>
              <a:t>harness + logs</a:t>
            </a:r>
          </a:p>
        </p:txBody>
      </p:sp>
      <p:sp>
        <p:nvSpPr>
          <p:cNvPr id="23" name="Rounded Rectangle 22"/>
          <p:cNvSpPr/>
          <p:nvPr/>
        </p:nvSpPr>
        <p:spPr>
          <a:xfrm>
            <a:off x="7324344" y="2889504"/>
            <a:ext cx="1572768" cy="603504"/>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0">
                <a:solidFill>
                  <a:srgbClr val="002754"/>
                </a:solidFill>
                <a:latin typeface="Calibri"/>
              </a:rPr>
              <a:t>Paper + artefact</a:t>
            </a:r>
          </a:p>
        </p:txBody>
      </p:sp>
      <p:sp>
        <p:nvSpPr>
          <p:cNvPr id="24" name="TextBox 23"/>
          <p:cNvSpPr txBox="1"/>
          <p:nvPr/>
        </p:nvSpPr>
        <p:spPr>
          <a:xfrm>
            <a:off x="228600" y="2688336"/>
            <a:ext cx="8686800" cy="237744"/>
          </a:xfrm>
          <a:prstGeom prst="rect">
            <a:avLst/>
          </a:prstGeom>
          <a:noFill/>
        </p:spPr>
        <p:txBody>
          <a:bodyPr wrap="square">
            <a:spAutoFit/>
          </a:bodyPr>
          <a:lstStyle/>
          <a:p>
            <a:pPr algn="l"/>
            <a:r>
              <a:rPr sz="850" b="1">
                <a:solidFill>
                  <a:srgbClr val="5B6472"/>
                </a:solidFill>
                <a:latin typeface="Calibri"/>
              </a:rPr>
              <a:t>EXIT CRITERION</a:t>
            </a:r>
          </a:p>
        </p:txBody>
      </p:sp>
      <p:sp>
        <p:nvSpPr>
          <p:cNvPr id="25" name="Rounded Rectangle 24"/>
          <p:cNvSpPr/>
          <p:nvPr/>
        </p:nvSpPr>
        <p:spPr>
          <a:xfrm>
            <a:off x="228600" y="3584448"/>
            <a:ext cx="8686800" cy="621792"/>
          </a:xfrm>
          <a:prstGeom prst="roundRect">
            <a:avLst>
              <a:gd name="adj" fmla="val 8000"/>
            </a:avLst>
          </a:prstGeom>
          <a:solidFill>
            <a:srgbClr val="ECF6E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050" b="1">
                <a:solidFill>
                  <a:srgbClr val="1E7A3C"/>
                </a:solidFill>
                <a:latin typeface="Calibri"/>
              </a:rPr>
              <a:t>ALREADY IN PLACE</a:t>
            </a:r>
          </a:p>
          <a:p>
            <a:pPr algn="ctr">
              <a:spcAft>
                <a:spcPts val="100"/>
              </a:spcAft>
            </a:pPr>
            <a:r>
              <a:rPr sz="1050" b="0">
                <a:solidFill>
                  <a:srgbClr val="002754"/>
                </a:solidFill>
                <a:latin typeface="Calibri"/>
              </a:rPr>
              <a:t>Orchid, HumanEvalComm and HumanEval are downloaded and schema-verified. Token accounting is confirmed on local models. The five anchor papers are read.</a:t>
            </a:r>
          </a:p>
        </p:txBody>
      </p:sp>
      <p:sp>
        <p:nvSpPr>
          <p:cNvPr id="26" name="Rectangle 25"/>
          <p:cNvSpPr/>
          <p:nvPr/>
        </p:nvSpPr>
        <p:spPr>
          <a:xfrm>
            <a:off x="228600" y="4315968"/>
            <a:ext cx="8686800" cy="457200"/>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Pre-register the hypothesis, the conditional-on-success rule, and the primary regression before Phase 2.</a:t>
            </a:r>
          </a:p>
        </p:txBody>
      </p:sp>
      <p:sp>
        <p:nvSpPr>
          <p:cNvPr id="27" name="Rectangle 26"/>
          <p:cNvSpPr/>
          <p:nvPr/>
        </p:nvSpPr>
        <p:spPr>
          <a:xfrm>
            <a:off x="228600" y="4315968"/>
            <a:ext cx="50292" cy="457200"/>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Whom It Benefits</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square">
            <a:spAutoFit/>
          </a:bodyPr>
          <a:lstStyle/>
          <a:p>
            <a:pPr algn="l"/>
            <a:r>
              <a:rPr sz="1150" b="0">
                <a:solidFill>
                  <a:srgbClr val="5B6472"/>
                </a:solidFill>
                <a:latin typeface="Calibri"/>
              </a:rPr>
              <a:t>Four groups, each with a decision that needs a price on ambiguity.</a:t>
            </a:r>
          </a:p>
        </p:txBody>
      </p:sp>
      <p:sp>
        <p:nvSpPr>
          <p:cNvPr id="6" name="Rounded Rectangle 5"/>
          <p:cNvSpPr/>
          <p:nvPr/>
        </p:nvSpPr>
        <p:spPr>
          <a:xfrm>
            <a:off x="228600" y="914400"/>
            <a:ext cx="4251960" cy="1481328"/>
          </a:xfrm>
          <a:prstGeom prst="roundRect">
            <a:avLst>
              <a:gd name="adj" fmla="val 8000"/>
            </a:avLst>
          </a:prstGeom>
          <a:solidFill>
            <a:srgbClr val="FDF6D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50" b="1">
                <a:solidFill>
                  <a:srgbClr val="DAAA01"/>
                </a:solidFill>
                <a:latin typeface="Calibri"/>
              </a:rPr>
              <a:t>SOFTWARE TEAMS &amp; REQUIREMENTS ENGINEERS</a:t>
            </a:r>
          </a:p>
          <a:p>
            <a:pPr algn="l">
              <a:spcAft>
                <a:spcPts val="100"/>
              </a:spcAft>
            </a:pPr>
            <a:r>
              <a:rPr sz="950" b="0">
                <a:solidFill>
                  <a:srgbClr val="002754"/>
                </a:solidFill>
                <a:latin typeface="Calibri"/>
              </a:rPr>
              <a:t>Attaches a number to requirement clarity.</a:t>
            </a:r>
          </a:p>
          <a:p>
            <a:pPr algn="l">
              <a:spcAft>
                <a:spcPts val="100"/>
              </a:spcAft>
            </a:pPr>
            <a:r>
              <a:rPr sz="950" b="0">
                <a:solidFill>
                  <a:srgbClr val="002754"/>
                </a:solidFill>
                <a:latin typeface="Calibri"/>
              </a:rPr>
              <a:t>“Vague tickets cost 1.4× per merged fix” justifies</a:t>
            </a:r>
          </a:p>
          <a:p>
            <a:pPr algn="l">
              <a:spcAft>
                <a:spcPts val="100"/>
              </a:spcAft>
            </a:pPr>
            <a:r>
              <a:rPr sz="950" b="0">
                <a:solidFill>
                  <a:srgbClr val="002754"/>
                </a:solidFill>
                <a:latin typeface="Calibri"/>
              </a:rPr>
              <a:t>spec-quality investment in a way a pass-rate delta</a:t>
            </a:r>
          </a:p>
          <a:p>
            <a:pPr algn="l">
              <a:spcAft>
                <a:spcPts val="100"/>
              </a:spcAft>
            </a:pPr>
            <a:r>
              <a:rPr sz="950" b="0">
                <a:solidFill>
                  <a:srgbClr val="002754"/>
                </a:solidFill>
                <a:latin typeface="Calibri"/>
              </a:rPr>
              <a:t>does not. The per-type profile says which</a:t>
            </a:r>
          </a:p>
          <a:p>
            <a:pPr algn="l">
              <a:spcAft>
                <a:spcPts val="100"/>
              </a:spcAft>
            </a:pPr>
            <a:r>
              <a:rPr sz="950" b="0">
                <a:solidFill>
                  <a:srgbClr val="002754"/>
                </a:solidFill>
                <a:latin typeface="Calibri"/>
              </a:rPr>
              <a:t>kind of vagueness to fix first.</a:t>
            </a:r>
          </a:p>
        </p:txBody>
      </p:sp>
      <p:sp>
        <p:nvSpPr>
          <p:cNvPr id="7" name="Rectangle 6"/>
          <p:cNvSpPr/>
          <p:nvPr/>
        </p:nvSpPr>
        <p:spPr>
          <a:xfrm>
            <a:off x="228600" y="914400"/>
            <a:ext cx="4251960" cy="50292"/>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28600" y="2432304"/>
            <a:ext cx="4251960" cy="274320"/>
          </a:xfrm>
          <a:prstGeom prst="roundRect">
            <a:avLst>
              <a:gd name="adj" fmla="val 30000"/>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DAAA01"/>
                </a:solidFill>
                <a:latin typeface="Calibri"/>
              </a:rPr>
              <a:t>They decide: how much to invest in writing specs.</a:t>
            </a:r>
          </a:p>
        </p:txBody>
      </p:sp>
      <p:sp>
        <p:nvSpPr>
          <p:cNvPr id="9" name="Rounded Rectangle 8"/>
          <p:cNvSpPr/>
          <p:nvPr/>
        </p:nvSpPr>
        <p:spPr>
          <a:xfrm>
            <a:off x="4663440" y="914400"/>
            <a:ext cx="4251960" cy="1481328"/>
          </a:xfrm>
          <a:prstGeom prst="roundRect">
            <a:avLst>
              <a:gd name="adj" fmla="val 8000"/>
            </a:avLst>
          </a:prstGeom>
          <a:solidFill>
            <a:srgbClr val="EEF3FA"/>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50" b="1">
                <a:solidFill>
                  <a:srgbClr val="1155CC"/>
                </a:solidFill>
                <a:latin typeface="Calibri"/>
              </a:rPr>
              <a:t>MODEL BUILDERS &amp; INFERENCE PROVIDERS</a:t>
            </a:r>
          </a:p>
          <a:p>
            <a:pPr algn="l">
              <a:spcAft>
                <a:spcPts val="100"/>
              </a:spcAft>
            </a:pPr>
            <a:r>
              <a:rPr sz="950" b="0">
                <a:solidFill>
                  <a:srgbClr val="002754"/>
                </a:solidFill>
                <a:latin typeface="Calibri"/>
              </a:rPr>
              <a:t>Isolates cost-under-uncertainty as a failure mode</a:t>
            </a:r>
          </a:p>
          <a:p>
            <a:pPr algn="l">
              <a:spcAft>
                <a:spcPts val="100"/>
              </a:spcAft>
            </a:pPr>
            <a:r>
              <a:rPr sz="950" b="0">
                <a:solidFill>
                  <a:srgbClr val="002754"/>
                </a:solidFill>
                <a:latin typeface="Calibri"/>
              </a:rPr>
              <a:t>distinct from overthinking on hard problems.</a:t>
            </a:r>
          </a:p>
          <a:p>
            <a:pPr algn="l">
              <a:spcAft>
                <a:spcPts val="100"/>
              </a:spcAft>
            </a:pPr>
            <a:r>
              <a:rPr sz="950" b="0">
                <a:solidFill>
                  <a:srgbClr val="002754"/>
                </a:solidFill>
                <a:latin typeface="Calibri"/>
              </a:rPr>
              <a:t>A model that silently burns tokens on an under-</a:t>
            </a:r>
          </a:p>
          <a:p>
            <a:pPr algn="l">
              <a:spcAft>
                <a:spcPts val="100"/>
              </a:spcAft>
            </a:pPr>
            <a:r>
              <a:rPr sz="950" b="0">
                <a:solidFill>
                  <a:srgbClr val="002754"/>
                </a:solidFill>
                <a:latin typeface="Calibri"/>
              </a:rPr>
              <a:t>specified prompt is wasting compute, and</a:t>
            </a:r>
          </a:p>
          <a:p>
            <a:pPr algn="l">
              <a:spcAft>
                <a:spcPts val="100"/>
              </a:spcAft>
            </a:pPr>
            <a:r>
              <a:rPr sz="950" b="0">
                <a:solidFill>
                  <a:srgbClr val="002754"/>
                </a:solidFill>
                <a:latin typeface="Calibri"/>
              </a:rPr>
              <a:t>today pays no benchmark penalty for it.</a:t>
            </a:r>
          </a:p>
        </p:txBody>
      </p:sp>
      <p:sp>
        <p:nvSpPr>
          <p:cNvPr id="10" name="Rectangle 9"/>
          <p:cNvSpPr/>
          <p:nvPr/>
        </p:nvSpPr>
        <p:spPr>
          <a:xfrm>
            <a:off x="4663440" y="914400"/>
            <a:ext cx="4251960" cy="5029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63440" y="2432304"/>
            <a:ext cx="4251960" cy="274320"/>
          </a:xfrm>
          <a:prstGeom prst="roundRect">
            <a:avLst>
              <a:gd name="adj" fmla="val 30000"/>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1155CC"/>
                </a:solidFill>
                <a:latin typeface="Calibri"/>
              </a:rPr>
              <a:t>They decide: what to optimise and reward.</a:t>
            </a:r>
          </a:p>
        </p:txBody>
      </p:sp>
      <p:sp>
        <p:nvSpPr>
          <p:cNvPr id="12" name="Rounded Rectangle 11"/>
          <p:cNvSpPr/>
          <p:nvPr/>
        </p:nvSpPr>
        <p:spPr>
          <a:xfrm>
            <a:off x="228600" y="2798064"/>
            <a:ext cx="4251960" cy="1481328"/>
          </a:xfrm>
          <a:prstGeom prst="roundRect">
            <a:avLst>
              <a:gd name="adj" fmla="val 8000"/>
            </a:avLst>
          </a:prstGeom>
          <a:solidFill>
            <a:srgbClr val="ECF6E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50" b="1">
                <a:solidFill>
                  <a:srgbClr val="1E7A3C"/>
                </a:solidFill>
                <a:latin typeface="Calibri"/>
              </a:rPr>
              <a:t>THE EVALUATION COMMUNITY</a:t>
            </a:r>
          </a:p>
          <a:p>
            <a:pPr algn="l">
              <a:spcAft>
                <a:spcPts val="100"/>
              </a:spcAft>
            </a:pPr>
            <a:r>
              <a:rPr sz="950" b="0">
                <a:solidFill>
                  <a:srgbClr val="002754"/>
                </a:solidFill>
                <a:latin typeface="Calibri"/>
              </a:rPr>
              <a:t>Accuracy-only benchmarks systematically understate</a:t>
            </a:r>
          </a:p>
          <a:p>
            <a:pPr algn="l">
              <a:spcAft>
                <a:spcPts val="100"/>
              </a:spcAft>
            </a:pPr>
            <a:r>
              <a:rPr sz="950" b="0">
                <a:solidFill>
                  <a:srgbClr val="002754"/>
                </a:solidFill>
                <a:latin typeface="Calibri"/>
              </a:rPr>
              <a:t>the harm of ambiguity, because the runs that succeed</a:t>
            </a:r>
          </a:p>
          <a:p>
            <a:pPr algn="l">
              <a:spcAft>
                <a:spcPts val="100"/>
              </a:spcAft>
            </a:pPr>
            <a:r>
              <a:rPr sz="950" b="0">
                <a:solidFill>
                  <a:srgbClr val="002754"/>
                </a:solidFill>
                <a:latin typeface="Calibri"/>
              </a:rPr>
              <a:t>still cost more. Argues for reporting cost alongside</a:t>
            </a:r>
          </a:p>
          <a:p>
            <a:pPr algn="l">
              <a:spcAft>
                <a:spcPts val="100"/>
              </a:spcAft>
            </a:pPr>
            <a:r>
              <a:rPr sz="950" b="0">
                <a:solidFill>
                  <a:srgbClr val="002754"/>
                </a:solidFill>
                <a:latin typeface="Calibri"/>
              </a:rPr>
              <a:t>correctness as standard practice.</a:t>
            </a:r>
          </a:p>
        </p:txBody>
      </p:sp>
      <p:sp>
        <p:nvSpPr>
          <p:cNvPr id="13" name="Rectangle 12"/>
          <p:cNvSpPr/>
          <p:nvPr/>
        </p:nvSpPr>
        <p:spPr>
          <a:xfrm>
            <a:off x="228600" y="2798064"/>
            <a:ext cx="4251960" cy="50292"/>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28600" y="4315968"/>
            <a:ext cx="4251960" cy="274320"/>
          </a:xfrm>
          <a:prstGeom prst="roundRect">
            <a:avLst>
              <a:gd name="adj" fmla="val 30000"/>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1E7A3C"/>
                </a:solidFill>
                <a:latin typeface="Calibri"/>
              </a:rPr>
              <a:t>They decide: what a robustness benchmark must report.</a:t>
            </a:r>
          </a:p>
        </p:txBody>
      </p:sp>
      <p:sp>
        <p:nvSpPr>
          <p:cNvPr id="15" name="Rounded Rectangle 14"/>
          <p:cNvSpPr/>
          <p:nvPr/>
        </p:nvSpPr>
        <p:spPr>
          <a:xfrm>
            <a:off x="4663440" y="2798064"/>
            <a:ext cx="4251960" cy="1481328"/>
          </a:xfrm>
          <a:prstGeom prst="roundRect">
            <a:avLst>
              <a:gd name="adj" fmla="val 8000"/>
            </a:avLst>
          </a:prstGeom>
          <a:solidFill>
            <a:srgbClr val="F4F5F7"/>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100"/>
              </a:spcAft>
            </a:pPr>
            <a:r>
              <a:rPr sz="1050" b="1">
                <a:solidFill>
                  <a:srgbClr val="002754"/>
                </a:solidFill>
                <a:latin typeface="Calibri"/>
              </a:rPr>
              <a:t>AGENT &amp; SKILL ECOSYSTEM  (this project)</a:t>
            </a:r>
          </a:p>
          <a:p>
            <a:pPr algn="l">
              <a:spcAft>
                <a:spcPts val="100"/>
              </a:spcAft>
            </a:pPr>
            <a:r>
              <a:rPr sz="950" b="0">
                <a:solidFill>
                  <a:srgbClr val="002754"/>
                </a:solidFill>
                <a:latin typeface="Calibri"/>
              </a:rPr>
              <a:t>Agent skills and governance files ARE instructions.</a:t>
            </a:r>
          </a:p>
          <a:p>
            <a:pPr algn="l">
              <a:spcAft>
                <a:spcPts val="100"/>
              </a:spcAft>
            </a:pPr>
            <a:r>
              <a:rPr sz="950" b="0">
                <a:solidFill>
                  <a:srgbClr val="002754"/>
                </a:solidFill>
                <a:latin typeface="Calibri"/>
              </a:rPr>
              <a:t>An ambiguity tax is directly a skill-quality metric,</a:t>
            </a:r>
          </a:p>
          <a:p>
            <a:pPr algn="l">
              <a:spcAft>
                <a:spcPts val="100"/>
              </a:spcAft>
            </a:pPr>
            <a:r>
              <a:rPr sz="950" b="0">
                <a:solidFill>
                  <a:srgbClr val="002754"/>
                </a:solidFill>
                <a:latin typeface="Calibri"/>
              </a:rPr>
              <a:t>linking this study to the AIGovernanceBench recommender</a:t>
            </a:r>
          </a:p>
          <a:p>
            <a:pPr algn="l">
              <a:spcAft>
                <a:spcPts val="100"/>
              </a:spcAft>
            </a:pPr>
            <a:r>
              <a:rPr sz="950" b="0">
                <a:solidFill>
                  <a:srgbClr val="002754"/>
                </a:solidFill>
                <a:latin typeface="Calibri"/>
              </a:rPr>
              <a:t>and the AIGovernanceBench analyzer.</a:t>
            </a:r>
          </a:p>
        </p:txBody>
      </p:sp>
      <p:sp>
        <p:nvSpPr>
          <p:cNvPr id="16" name="Rectangle 15"/>
          <p:cNvSpPr/>
          <p:nvPr/>
        </p:nvSpPr>
        <p:spPr>
          <a:xfrm>
            <a:off x="4663440" y="2798064"/>
            <a:ext cx="4251960" cy="50292"/>
          </a:xfrm>
          <a:prstGeom prst="rect">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63440" y="4315968"/>
            <a:ext cx="4251960" cy="274320"/>
          </a:xfrm>
          <a:prstGeom prst="roundRect">
            <a:avLst>
              <a:gd name="adj" fmla="val 30000"/>
            </a:avLst>
          </a:prstGeom>
          <a:solidFill>
            <a:srgbClr val="FFFFFF"/>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850" b="1">
                <a:solidFill>
                  <a:srgbClr val="002754"/>
                </a:solidFill>
                <a:latin typeface="Calibri"/>
              </a:rPr>
              <a:t>They decide: which skills to install and trust.</a:t>
            </a:r>
          </a:p>
        </p:txBody>
      </p:sp>
      <p:sp>
        <p:nvSpPr>
          <p:cNvPr id="18" name="Rectangle 17"/>
          <p:cNvSpPr/>
          <p:nvPr/>
        </p:nvSpPr>
        <p:spPr>
          <a:xfrm>
            <a:off x="228600" y="4626864"/>
            <a:ext cx="8686800" cy="402336"/>
          </a:xfrm>
          <a:prstGeom prst="rect">
            <a:avLst/>
          </a:prstGeom>
          <a:solidFill>
            <a:srgbClr val="FDF6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a:lstStyle/>
          <a:p>
            <a:pPr algn="l"/>
            <a:r>
              <a:rPr sz="1150">
                <a:solidFill>
                  <a:srgbClr val="002754"/>
                </a:solidFill>
                <a:latin typeface="Calibri"/>
              </a:rPr>
              <a:t>The harness is a means to an end. What the study delivers is a cost figure for ambiguity.</a:t>
            </a:r>
          </a:p>
        </p:txBody>
      </p:sp>
      <p:sp>
        <p:nvSpPr>
          <p:cNvPr id="19" name="Rectangle 18"/>
          <p:cNvSpPr/>
          <p:nvPr/>
        </p:nvSpPr>
        <p:spPr>
          <a:xfrm>
            <a:off x="228600" y="4626864"/>
            <a:ext cx="50292" cy="402336"/>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square">
            <a:spAutoFit/>
          </a:bodyPr>
          <a:lstStyle/>
          <a:p>
            <a:r>
              <a:rPr sz="2300" b="1">
                <a:solidFill>
                  <a:srgbClr val="1155CC"/>
                </a:solidFill>
                <a:latin typeface="Lora"/>
              </a:rPr>
              <a:t>Next Steps (Superseded by Part IV)</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Oval 4"/>
          <p:cNvSpPr/>
          <p:nvPr/>
        </p:nvSpPr>
        <p:spPr>
          <a:xfrm>
            <a:off x="228600" y="1033272"/>
            <a:ext cx="566928" cy="566928"/>
          </a:xfrm>
          <a:prstGeom prst="ellipse">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500" b="1">
                <a:solidFill>
                  <a:srgbClr val="FFFFFF"/>
                </a:solidFill>
                <a:latin typeface="Calibri"/>
              </a:rPr>
              <a:t>1</a:t>
            </a:r>
          </a:p>
        </p:txBody>
      </p:sp>
      <p:sp>
        <p:nvSpPr>
          <p:cNvPr id="6" name="Rounded Rectangle 5"/>
          <p:cNvSpPr/>
          <p:nvPr/>
        </p:nvSpPr>
        <p:spPr>
          <a:xfrm>
            <a:off x="914400" y="960120"/>
            <a:ext cx="8001000" cy="731520"/>
          </a:xfrm>
          <a:prstGeom prst="roundRect">
            <a:avLst/>
          </a:prstGeom>
          <a:solidFill>
            <a:srgbClr val="FFFFFF"/>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r>
              <a:rPr sz="1150" b="1">
                <a:solidFill>
                  <a:srgbClr val="1155CC"/>
                </a:solidFill>
                <a:latin typeface="Calibri"/>
              </a:rPr>
              <a:t>BUILD THE HARNESS</a:t>
            </a:r>
          </a:p>
          <a:p>
            <a:pPr algn="l"/>
            <a:r>
              <a:rPr sz="950">
                <a:solidFill>
                  <a:srgbClr val="5B6472"/>
                </a:solidFill>
                <a:latin typeface="Calibri"/>
              </a:rPr>
              <a:t>Orchid loader · sandboxed test execution · per-call logging of prompt_eval_count, eval_count and eval_duration through the Ollama API. Roughly one file.</a:t>
            </a:r>
          </a:p>
        </p:txBody>
      </p:sp>
      <p:sp>
        <p:nvSpPr>
          <p:cNvPr id="7" name="Down Arrow 6"/>
          <p:cNvSpPr/>
          <p:nvPr/>
        </p:nvSpPr>
        <p:spPr>
          <a:xfrm>
            <a:off x="457200" y="1618488"/>
            <a:ext cx="109728" cy="201168"/>
          </a:xfrm>
          <a:prstGeom prst="downArrow">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28600" y="1929384"/>
            <a:ext cx="566928" cy="566928"/>
          </a:xfrm>
          <a:prstGeom prst="ellipse">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500" b="1">
                <a:solidFill>
                  <a:srgbClr val="FFFFFF"/>
                </a:solidFill>
                <a:latin typeface="Calibri"/>
              </a:rPr>
              <a:t>2</a:t>
            </a:r>
          </a:p>
        </p:txBody>
      </p:sp>
      <p:sp>
        <p:nvSpPr>
          <p:cNvPr id="9" name="Rounded Rectangle 8"/>
          <p:cNvSpPr/>
          <p:nvPr/>
        </p:nvSpPr>
        <p:spPr>
          <a:xfrm>
            <a:off x="914400" y="1856232"/>
            <a:ext cx="8001000" cy="731520"/>
          </a:xfrm>
          <a:prstGeom prst="roundRect">
            <a:avLst/>
          </a:prstGeom>
          <a:solidFill>
            <a:srgbClr val="FFFFFF"/>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r>
              <a:rPr sz="1150" b="1">
                <a:solidFill>
                  <a:srgbClr val="DAAA01"/>
                </a:solidFill>
                <a:latin typeface="Calibri"/>
              </a:rPr>
              <a:t>RUN THE PILOT CELL</a:t>
            </a:r>
          </a:p>
          <a:p>
            <a:pPr algn="l"/>
            <a:r>
              <a:rPr sz="950">
                <a:solidFill>
                  <a:srgbClr val="5B6472"/>
                </a:solidFill>
                <a:latin typeface="Calibri"/>
              </a:rPr>
              <a:t>Orchid-HEval × 2 local models × 5 conditions × k=5 ≈ 8,200 calls. Enough to see whether the tax exists before committing to the full sweep.</a:t>
            </a:r>
          </a:p>
        </p:txBody>
      </p:sp>
      <p:sp>
        <p:nvSpPr>
          <p:cNvPr id="10" name="Down Arrow 9"/>
          <p:cNvSpPr/>
          <p:nvPr/>
        </p:nvSpPr>
        <p:spPr>
          <a:xfrm>
            <a:off x="457200" y="2514600"/>
            <a:ext cx="109728" cy="201168"/>
          </a:xfrm>
          <a:prstGeom prst="downArrow">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28600" y="2825496"/>
            <a:ext cx="566928" cy="566928"/>
          </a:xfrm>
          <a:prstGeom prst="ellipse">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500" b="1">
                <a:solidFill>
                  <a:srgbClr val="FFFFFF"/>
                </a:solidFill>
                <a:latin typeface="Calibri"/>
              </a:rPr>
              <a:t>3</a:t>
            </a:r>
          </a:p>
        </p:txBody>
      </p:sp>
      <p:sp>
        <p:nvSpPr>
          <p:cNvPr id="12" name="Rounded Rectangle 11"/>
          <p:cNvSpPr/>
          <p:nvPr/>
        </p:nvSpPr>
        <p:spPr>
          <a:xfrm>
            <a:off x="914400" y="2752344"/>
            <a:ext cx="8001000" cy="731520"/>
          </a:xfrm>
          <a:prstGeom prst="roundRect">
            <a:avLst/>
          </a:prstGeom>
          <a:solidFill>
            <a:srgbClr val="FFFFFF"/>
          </a:solidFill>
          <a:ln w="1397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r>
              <a:rPr sz="1150" b="1">
                <a:solidFill>
                  <a:srgbClr val="5B6472"/>
                </a:solidFill>
                <a:latin typeface="Calibri"/>
              </a:rPr>
              <a:t>DECIDE THE API BUDGET</a:t>
            </a:r>
          </a:p>
          <a:p>
            <a:pPr algn="l"/>
            <a:r>
              <a:rPr sz="950">
                <a:solidFill>
                  <a:srgbClr val="5B6472"/>
                </a:solidFill>
                <a:latin typeface="Calibri"/>
              </a:rPr>
              <a:t>Cost-of-pass needs published per-token prices; local models give tokens and time but not dollars.</a:t>
            </a:r>
          </a:p>
        </p:txBody>
      </p:sp>
      <p:sp>
        <p:nvSpPr>
          <p:cNvPr id="13" name="Down Arrow 12"/>
          <p:cNvSpPr/>
          <p:nvPr/>
        </p:nvSpPr>
        <p:spPr>
          <a:xfrm>
            <a:off x="457200" y="3410711"/>
            <a:ext cx="109728" cy="201168"/>
          </a:xfrm>
          <a:prstGeom prst="downArrow">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28600" y="3721608"/>
            <a:ext cx="566928" cy="566928"/>
          </a:xfrm>
          <a:prstGeom prst="ellipse">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100"/>
              </a:spcAft>
            </a:pPr>
            <a:r>
              <a:rPr sz="1500" b="1">
                <a:solidFill>
                  <a:srgbClr val="FFFFFF"/>
                </a:solidFill>
                <a:latin typeface="Calibri"/>
              </a:rPr>
              <a:t>4</a:t>
            </a:r>
          </a:p>
        </p:txBody>
      </p:sp>
      <p:sp>
        <p:nvSpPr>
          <p:cNvPr id="15" name="Rounded Rectangle 14"/>
          <p:cNvSpPr/>
          <p:nvPr/>
        </p:nvSpPr>
        <p:spPr>
          <a:xfrm>
            <a:off x="914400" y="3648456"/>
            <a:ext cx="8001000" cy="731520"/>
          </a:xfrm>
          <a:prstGeom prst="roundRect">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r>
              <a:rPr sz="1150" b="1">
                <a:solidFill>
                  <a:srgbClr val="1E7A3C"/>
                </a:solidFill>
                <a:latin typeface="Calibri"/>
              </a:rPr>
              <a:t>PRE-REGISTER</a:t>
            </a:r>
          </a:p>
          <a:p>
            <a:pPr algn="l"/>
            <a:r>
              <a:rPr sz="950">
                <a:solidFill>
                  <a:srgbClr val="5B6472"/>
                </a:solidFill>
                <a:latin typeface="Calibri"/>
              </a:rPr>
              <a:t>Freeze the hypothesis, the conditional-on-success rule and the primary regression before the full run; report deviations.</a:t>
            </a:r>
          </a:p>
        </p:txBody>
      </p:sp>
      <p:sp>
        <p:nvSpPr>
          <p:cNvPr id="16" name="TextBox 15"/>
          <p:cNvSpPr txBox="1"/>
          <p:nvPr/>
        </p:nvSpPr>
        <p:spPr>
          <a:xfrm>
            <a:off x="228600" y="4828032"/>
            <a:ext cx="8686800" cy="237744"/>
          </a:xfrm>
          <a:prstGeom prst="rect">
            <a:avLst/>
          </a:prstGeom>
          <a:noFill/>
        </p:spPr>
        <p:txBody>
          <a:bodyPr wrap="none">
            <a:spAutoFit/>
          </a:bodyPr>
          <a:lstStyle/>
          <a:p>
            <a:r>
              <a:rPr sz="900" i="1">
                <a:solidFill>
                  <a:srgbClr val="A5A5A5"/>
                </a:solidFill>
                <a:latin typeface="Calibri"/>
              </a:rPr>
              <a:t>Contact: Nafiz Imtiaz Khan · nikhan@ucdavis.edu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74519"/>
            <a:ext cx="7680960" cy="1463040"/>
          </a:xfrm>
          <a:prstGeom prst="rect">
            <a:avLst/>
          </a:prstGeom>
          <a:noFill/>
        </p:spPr>
        <p:txBody>
          <a:bodyPr wrap="none">
            <a:spAutoFit/>
          </a:bodyPr>
          <a:lstStyle/>
          <a:p>
            <a:r>
              <a:rPr sz="1300" b="1">
                <a:solidFill>
                  <a:srgbClr val="DAAA01"/>
                </a:solidFill>
                <a:latin typeface="Calibri"/>
              </a:rPr>
              <a:t>PART IV</a:t>
            </a:r>
          </a:p>
          <a:p>
            <a:r>
              <a:rPr sz="3400" b="1">
                <a:solidFill>
                  <a:srgbClr val="FFFFFF"/>
                </a:solidFill>
                <a:latin typeface="Lora"/>
              </a:rPr>
              <a:t>What the Experiments Found</a:t>
            </a:r>
          </a:p>
          <a:p>
            <a:r>
              <a:rPr sz="1250">
                <a:solidFill>
                  <a:srgbClr val="E3E8EF"/>
                </a:solidFill>
                <a:latin typeface="Calibri"/>
              </a:rPr>
              <a:t>7,354 generations · two models · 164 tasks · two A100s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none">
            <a:spAutoFit/>
          </a:bodyPr>
          <a:lstStyle/>
          <a:p>
            <a:r>
              <a:rPr sz="2300" b="1">
                <a:solidFill>
                  <a:srgbClr val="1155CC"/>
                </a:solidFill>
                <a:latin typeface="Lora"/>
              </a:rPr>
              <a:t>What We Ran</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none">
            <a:spAutoFit/>
          </a:bodyPr>
          <a:lstStyle/>
          <a:p>
            <a:r>
              <a:rPr sz="1150">
                <a:solidFill>
                  <a:srgbClr val="5B6472"/>
                </a:solidFill>
                <a:latin typeface="Calibri"/>
              </a:rPr>
              <a:t>Four experiments. The task, signature and unit tests never change; only the wording does.</a:t>
            </a:r>
          </a:p>
        </p:txBody>
      </p:sp>
      <p:sp>
        <p:nvSpPr>
          <p:cNvPr id="6" name="Rounded Rectangle 5"/>
          <p:cNvSpPr/>
          <p:nvPr/>
        </p:nvSpPr>
        <p:spPr>
          <a:xfrm>
            <a:off x="228600" y="969264"/>
            <a:ext cx="2075688" cy="841248"/>
          </a:xfrm>
          <a:prstGeom prst="roundRect">
            <a:avLst>
              <a:gd name="adj" fmla="val 12000"/>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FFFFFF"/>
                </a:solidFill>
                <a:latin typeface="Calibri"/>
              </a:rPr>
              <a:t>PILOT</a:t>
            </a:r>
          </a:p>
          <a:p>
            <a:pPr algn="ctr"/>
            <a:r>
              <a:rPr sz="850" b="0">
                <a:solidFill>
                  <a:srgbClr val="E3E8EF"/>
                </a:solidFill>
                <a:latin typeface="Calibri"/>
              </a:rPr>
              <a:t>20 tasks · 8b</a:t>
            </a:r>
          </a:p>
          <a:p>
            <a:pPr algn="ctr"/>
            <a:r>
              <a:rPr sz="1200" b="1">
                <a:solidFill>
                  <a:srgbClr val="FFFFFF"/>
                </a:solidFill>
                <a:latin typeface="Calibri"/>
              </a:rPr>
              <a:t>2,438 runs</a:t>
            </a:r>
          </a:p>
        </p:txBody>
      </p:sp>
      <p:sp>
        <p:nvSpPr>
          <p:cNvPr id="7" name="Rounded Rectangle 6"/>
          <p:cNvSpPr/>
          <p:nvPr/>
        </p:nvSpPr>
        <p:spPr>
          <a:xfrm>
            <a:off x="2441448" y="969264"/>
            <a:ext cx="2075688" cy="841248"/>
          </a:xfrm>
          <a:prstGeom prst="roundRect">
            <a:avLst>
              <a:gd name="adj" fmla="val 12000"/>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FFFFFF"/>
                </a:solidFill>
                <a:latin typeface="Calibri"/>
              </a:rPr>
              <a:t>SKILL ARMS</a:t>
            </a:r>
          </a:p>
          <a:p>
            <a:pPr algn="ctr"/>
            <a:r>
              <a:rPr sz="850" b="0">
                <a:solidFill>
                  <a:srgbClr val="E3E8EF"/>
                </a:solidFill>
                <a:latin typeface="Calibri"/>
              </a:rPr>
              <a:t>4 arms · 8b</a:t>
            </a:r>
          </a:p>
          <a:p>
            <a:pPr algn="ctr"/>
            <a:r>
              <a:rPr sz="1200" b="1">
                <a:solidFill>
                  <a:srgbClr val="FFFFFF"/>
                </a:solidFill>
                <a:latin typeface="Calibri"/>
              </a:rPr>
              <a:t>1,943 runs</a:t>
            </a:r>
          </a:p>
        </p:txBody>
      </p:sp>
      <p:sp>
        <p:nvSpPr>
          <p:cNvPr id="8" name="Rounded Rectangle 7"/>
          <p:cNvSpPr/>
          <p:nvPr/>
        </p:nvSpPr>
        <p:spPr>
          <a:xfrm>
            <a:off x="4654296" y="969264"/>
            <a:ext cx="2075688" cy="841248"/>
          </a:xfrm>
          <a:prstGeom prst="roundRect">
            <a:avLst>
              <a:gd name="adj" fmla="val 12000"/>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FFFFFF"/>
                </a:solidFill>
                <a:latin typeface="Calibri"/>
              </a:rPr>
              <a:t>CONTRADICTION</a:t>
            </a:r>
          </a:p>
          <a:p>
            <a:pPr algn="ctr"/>
            <a:r>
              <a:rPr sz="850" b="0">
                <a:solidFill>
                  <a:srgbClr val="E3E8EF"/>
                </a:solidFill>
                <a:latin typeface="Calibri"/>
              </a:rPr>
              <a:t>5 arms · 8b</a:t>
            </a:r>
          </a:p>
          <a:p>
            <a:pPr algn="ctr"/>
            <a:r>
              <a:rPr sz="1200" b="1">
                <a:solidFill>
                  <a:srgbClr val="FFFFFF"/>
                </a:solidFill>
                <a:latin typeface="Calibri"/>
              </a:rPr>
              <a:t>981 runs</a:t>
            </a:r>
          </a:p>
        </p:txBody>
      </p:sp>
      <p:sp>
        <p:nvSpPr>
          <p:cNvPr id="9" name="Rounded Rectangle 8"/>
          <p:cNvSpPr/>
          <p:nvPr/>
        </p:nvSpPr>
        <p:spPr>
          <a:xfrm>
            <a:off x="6867144" y="969264"/>
            <a:ext cx="2075688" cy="841248"/>
          </a:xfrm>
          <a:prstGeom prst="roundRect">
            <a:avLst>
              <a:gd name="adj" fmla="val 12000"/>
            </a:avLst>
          </a:prstGeom>
          <a:solidFill>
            <a:srgbClr val="FDF7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02754"/>
                </a:solidFill>
                <a:latin typeface="Calibri"/>
              </a:rPr>
              <a:t>FULL RUN</a:t>
            </a:r>
          </a:p>
          <a:p>
            <a:pPr algn="ctr"/>
            <a:r>
              <a:rPr sz="850" b="0">
                <a:solidFill>
                  <a:srgbClr val="5B6472"/>
                </a:solidFill>
                <a:latin typeface="Calibri"/>
              </a:rPr>
              <a:t>164 tasks · 14b</a:t>
            </a:r>
          </a:p>
          <a:p>
            <a:pPr algn="ctr"/>
            <a:r>
              <a:rPr sz="1200" b="1">
                <a:solidFill>
                  <a:srgbClr val="002754"/>
                </a:solidFill>
                <a:latin typeface="Calibri"/>
              </a:rPr>
              <a:t>3,935 runs</a:t>
            </a:r>
          </a:p>
        </p:txBody>
      </p:sp>
      <p:sp>
        <p:nvSpPr>
          <p:cNvPr id="10" name="TextBox 9"/>
          <p:cNvSpPr txBox="1"/>
          <p:nvPr/>
        </p:nvSpPr>
        <p:spPr>
          <a:xfrm>
            <a:off x="228600" y="1938528"/>
            <a:ext cx="8686800" cy="201168"/>
          </a:xfrm>
          <a:prstGeom prst="rect">
            <a:avLst/>
          </a:prstGeom>
          <a:noFill/>
        </p:spPr>
        <p:txBody>
          <a:bodyPr wrap="none">
            <a:spAutoFit/>
          </a:bodyPr>
          <a:lstStyle/>
          <a:p>
            <a:pPr algn="l"/>
            <a:r>
              <a:rPr sz="900" b="1">
                <a:solidFill>
                  <a:srgbClr val="1155CC"/>
                </a:solidFill>
                <a:latin typeface="Calibri"/>
              </a:rPr>
              <a:t>EVERY RUN IS GRADED BY EXECUTING THE CODE AGAINST REAL UNIT TESTS</a:t>
            </a:r>
          </a:p>
        </p:txBody>
      </p:sp>
      <p:sp>
        <p:nvSpPr>
          <p:cNvPr id="11" name="Rounded Rectangle 10"/>
          <p:cNvSpPr/>
          <p:nvPr/>
        </p:nvSpPr>
        <p:spPr>
          <a:xfrm>
            <a:off x="228600" y="2157984"/>
            <a:ext cx="2075688" cy="78638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1155CC"/>
                </a:solidFill>
                <a:latin typeface="Calibri"/>
              </a:rPr>
              <a:t>5 wordings</a:t>
            </a:r>
          </a:p>
          <a:p>
            <a:pPr algn="ctr"/>
            <a:r>
              <a:rPr sz="850" b="0">
                <a:solidFill>
                  <a:srgbClr val="5B6472"/>
                </a:solidFill>
                <a:latin typeface="Calibri"/>
              </a:rPr>
              <a:t>clear + lexical, semantic,</a:t>
            </a:r>
          </a:p>
          <a:p>
            <a:pPr algn="ctr"/>
            <a:r>
              <a:rPr sz="850" b="0">
                <a:solidFill>
                  <a:srgbClr val="5B6472"/>
                </a:solidFill>
                <a:latin typeface="Calibri"/>
              </a:rPr>
              <a:t>syntactic, vagueness</a:t>
            </a:r>
          </a:p>
        </p:txBody>
      </p:sp>
      <p:sp>
        <p:nvSpPr>
          <p:cNvPr id="12" name="Rounded Rectangle 11"/>
          <p:cNvSpPr/>
          <p:nvPr/>
        </p:nvSpPr>
        <p:spPr>
          <a:xfrm>
            <a:off x="2441448" y="2157984"/>
            <a:ext cx="2075688" cy="78638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1155CC"/>
                </a:solidFill>
                <a:latin typeface="Calibri"/>
              </a:rPr>
              <a:t>5 samples</a:t>
            </a:r>
          </a:p>
          <a:p>
            <a:pPr algn="ctr"/>
            <a:r>
              <a:rPr sz="850" b="0">
                <a:solidFill>
                  <a:srgbClr val="5B6472"/>
                </a:solidFill>
                <a:latin typeface="Calibri"/>
              </a:rPr>
              <a:t>temperature 0.8,</a:t>
            </a:r>
          </a:p>
          <a:p>
            <a:pPr algn="ctr"/>
            <a:r>
              <a:rPr sz="850" b="0">
                <a:solidFill>
                  <a:srgbClr val="5B6472"/>
                </a:solidFill>
                <a:latin typeface="Calibri"/>
              </a:rPr>
              <a:t>per prompt</a:t>
            </a:r>
          </a:p>
        </p:txBody>
      </p:sp>
      <p:sp>
        <p:nvSpPr>
          <p:cNvPr id="13" name="Rounded Rectangle 12"/>
          <p:cNvSpPr/>
          <p:nvPr/>
        </p:nvSpPr>
        <p:spPr>
          <a:xfrm>
            <a:off x="4654296" y="2157984"/>
            <a:ext cx="2075688" cy="78638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1155CC"/>
                </a:solidFill>
                <a:latin typeface="Calibri"/>
              </a:rPr>
              <a:t>2 models</a:t>
            </a:r>
          </a:p>
          <a:p>
            <a:pPr algn="ctr"/>
            <a:r>
              <a:rPr sz="850" b="0">
                <a:solidFill>
                  <a:srgbClr val="5B6472"/>
                </a:solidFill>
                <a:latin typeface="Calibri"/>
              </a:rPr>
              <a:t>qwen3:8b and</a:t>
            </a:r>
          </a:p>
          <a:p>
            <a:pPr algn="ctr"/>
            <a:r>
              <a:rPr sz="850" b="0">
                <a:solidFill>
                  <a:srgbClr val="5B6472"/>
                </a:solidFill>
                <a:latin typeface="Calibri"/>
              </a:rPr>
              <a:t>qwen3:14b</a:t>
            </a:r>
          </a:p>
        </p:txBody>
      </p:sp>
      <p:sp>
        <p:nvSpPr>
          <p:cNvPr id="14" name="Rounded Rectangle 13"/>
          <p:cNvSpPr/>
          <p:nvPr/>
        </p:nvSpPr>
        <p:spPr>
          <a:xfrm>
            <a:off x="6867144" y="2157984"/>
            <a:ext cx="2075688" cy="78638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1155CC"/>
                </a:solidFill>
                <a:latin typeface="Calibri"/>
              </a:rPr>
              <a:t>4 outcomes</a:t>
            </a:r>
          </a:p>
          <a:p>
            <a:pPr algn="ctr"/>
            <a:r>
              <a:rPr sz="850" b="0">
                <a:solidFill>
                  <a:srgbClr val="5B6472"/>
                </a:solidFill>
                <a:latin typeface="Calibri"/>
              </a:rPr>
              <a:t>pass, tokens,</a:t>
            </a:r>
          </a:p>
          <a:p>
            <a:pPr algn="ctr"/>
            <a:r>
              <a:rPr sz="850" b="0">
                <a:solidFill>
                  <a:srgbClr val="5B6472"/>
                </a:solidFill>
                <a:latin typeface="Calibri"/>
              </a:rPr>
              <a:t>seconds, thinking share</a:t>
            </a:r>
          </a:p>
        </p:txBody>
      </p:sp>
      <p:sp>
        <p:nvSpPr>
          <p:cNvPr id="15" name="Rectangle 14"/>
          <p:cNvSpPr/>
          <p:nvPr/>
        </p:nvSpPr>
        <p:spPr>
          <a:xfrm>
            <a:off x="228600" y="3054096"/>
            <a:ext cx="64008" cy="457200"/>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3054096"/>
            <a:ext cx="8622792" cy="457200"/>
          </a:xfrm>
          <a:prstGeom prst="rect">
            <a:avLst/>
          </a:prstGeom>
          <a:solidFill>
            <a:srgbClr val="FDF7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50" b="0">
                <a:solidFill>
                  <a:srgbClr val="002754"/>
                </a:solidFill>
                <a:latin typeface="Calibri"/>
              </a:rPr>
              <a:t>Pairing is the whole design: the same task appears in every condition, so a cost difference cannot be blamed on one condition getting a harder problem.</a:t>
            </a:r>
          </a:p>
        </p:txBody>
      </p:sp>
      <p:sp>
        <p:nvSpPr>
          <p:cNvPr id="17" name="TextBox 16"/>
          <p:cNvSpPr txBox="1"/>
          <p:nvPr/>
        </p:nvSpPr>
        <p:spPr>
          <a:xfrm>
            <a:off x="228600" y="3639312"/>
            <a:ext cx="8686800" cy="201168"/>
          </a:xfrm>
          <a:prstGeom prst="rect">
            <a:avLst/>
          </a:prstGeom>
          <a:noFill/>
        </p:spPr>
        <p:txBody>
          <a:bodyPr wrap="none">
            <a:spAutoFit/>
          </a:bodyPr>
          <a:lstStyle/>
          <a:p>
            <a:pPr algn="l"/>
            <a:r>
              <a:rPr sz="900" b="1">
                <a:solidFill>
                  <a:srgbClr val="1155CC"/>
                </a:solidFill>
                <a:latin typeface="Calibri"/>
              </a:rPr>
              <a:t>WHAT CHANGED AT SCALE</a:t>
            </a:r>
          </a:p>
        </p:txBody>
      </p:sp>
      <p:sp>
        <p:nvSpPr>
          <p:cNvPr id="18" name="Rounded Rectangle 17"/>
          <p:cNvSpPr/>
          <p:nvPr/>
        </p:nvSpPr>
        <p:spPr>
          <a:xfrm>
            <a:off x="228600" y="3858768"/>
            <a:ext cx="4279392" cy="950976"/>
          </a:xfrm>
          <a:prstGeom prst="roundRect">
            <a:avLst>
              <a:gd name="adj" fmla="val 12000"/>
            </a:avLst>
          </a:prstGeom>
          <a:solidFill>
            <a:srgbClr val="FDF4E2"/>
          </a:solidFill>
          <a:ln w="13970">
            <a:solidFill>
              <a:srgbClr val="B57A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B57A00"/>
                </a:solidFill>
                <a:latin typeface="Calibri"/>
              </a:rPr>
              <a:t>THE PILOTS WERE UNDERPOWERED</a:t>
            </a:r>
          </a:p>
          <a:p>
            <a:pPr algn="ctr"/>
            <a:r>
              <a:rPr sz="900" b="0">
                <a:solidFill>
                  <a:srgbClr val="5B6472"/>
                </a:solidFill>
                <a:latin typeface="Calibri"/>
              </a:rPr>
              <a:t>The key test rested on 8-14 paired tasks,</a:t>
            </a:r>
          </a:p>
          <a:p>
            <a:pPr algn="ctr"/>
            <a:r>
              <a:rPr sz="900" b="0">
                <a:solidFill>
                  <a:srgbClr val="5B6472"/>
                </a:solidFill>
                <a:latin typeface="Calibri"/>
              </a:rPr>
              <a:t>because a task counts only if the model</a:t>
            </a:r>
          </a:p>
          <a:p>
            <a:pPr algn="ctr"/>
            <a:r>
              <a:rPr sz="900" b="0">
                <a:solidFill>
                  <a:srgbClr val="5B6472"/>
                </a:solidFill>
                <a:latin typeface="Calibri"/>
              </a:rPr>
              <a:t>solved it under BOTH wordings.</a:t>
            </a:r>
          </a:p>
        </p:txBody>
      </p:sp>
      <p:sp>
        <p:nvSpPr>
          <p:cNvPr id="19" name="Rounded Rectangle 18"/>
          <p:cNvSpPr/>
          <p:nvPr/>
        </p:nvSpPr>
        <p:spPr>
          <a:xfrm>
            <a:off x="4636008" y="3858768"/>
            <a:ext cx="4279392" cy="950976"/>
          </a:xfrm>
          <a:prstGeom prst="roundRect">
            <a:avLst>
              <a:gd name="adj" fmla="val 12000"/>
            </a:avLst>
          </a:prstGeom>
          <a:solidFill>
            <a:srgbClr val="E6F2EA"/>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1E7A3C"/>
                </a:solidFill>
                <a:latin typeface="Calibri"/>
              </a:rPr>
              <a:t>THE FULL RUN FIXED THAT</a:t>
            </a:r>
          </a:p>
          <a:p>
            <a:pPr algn="ctr"/>
            <a:r>
              <a:rPr sz="900" b="0">
                <a:solidFill>
                  <a:srgbClr val="5B6472"/>
                </a:solidFill>
                <a:latin typeface="Calibri"/>
              </a:rPr>
              <a:t>164 tasks gives 98-105 paired tasks</a:t>
            </a:r>
          </a:p>
          <a:p>
            <a:pPr algn="ctr"/>
            <a:r>
              <a:rPr sz="900" b="0">
                <a:solidFill>
                  <a:srgbClr val="5B6472"/>
                </a:solidFill>
                <a:latin typeface="Calibri"/>
              </a:rPr>
              <a:t>per comparison, roughly 8x the pilot,</a:t>
            </a:r>
          </a:p>
          <a:p>
            <a:pPr algn="ctr"/>
            <a:r>
              <a:rPr sz="900" b="1">
                <a:solidFill>
                  <a:srgbClr val="002754"/>
                </a:solidFill>
                <a:latin typeface="Calibri"/>
              </a:rPr>
              <a:t>and the answer changed sign.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none">
            <a:spAutoFit/>
          </a:bodyPr>
          <a:lstStyle/>
          <a:p>
            <a:r>
              <a:rPr sz="2300" b="1">
                <a:solidFill>
                  <a:srgbClr val="1155CC"/>
                </a:solidFill>
                <a:latin typeface="Lora"/>
              </a:rPr>
              <a:t>Hypothesis Scorecard</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none">
            <a:spAutoFit/>
          </a:bodyPr>
          <a:lstStyle/>
          <a:p>
            <a:r>
              <a:rPr sz="1150">
                <a:solidFill>
                  <a:srgbClr val="5B6472"/>
                </a:solidFill>
                <a:latin typeface="Calibri"/>
              </a:rPr>
              <a:t>Eight predictions. Two hold, one is directional, three fail, one is unresolved.</a:t>
            </a:r>
          </a:p>
        </p:txBody>
      </p:sp>
      <p:sp>
        <p:nvSpPr>
          <p:cNvPr id="6" name="Rounded Rectangle 5"/>
          <p:cNvSpPr/>
          <p:nvPr/>
        </p:nvSpPr>
        <p:spPr>
          <a:xfrm>
            <a:off x="228600" y="896112"/>
            <a:ext cx="530352" cy="420624"/>
          </a:xfrm>
          <a:prstGeom prst="roundRect">
            <a:avLst>
              <a:gd name="adj" fmla="val 12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H1</a:t>
            </a:r>
          </a:p>
        </p:txBody>
      </p:sp>
      <p:sp>
        <p:nvSpPr>
          <p:cNvPr id="7" name="Rounded Rectangle 6"/>
          <p:cNvSpPr/>
          <p:nvPr/>
        </p:nvSpPr>
        <p:spPr>
          <a:xfrm>
            <a:off x="813816" y="896112"/>
            <a:ext cx="3703320" cy="420624"/>
          </a:xfrm>
          <a:prstGeom prst="roundRect">
            <a:avLst>
              <a:gd name="adj" fmla="val 12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950" b="1">
                <a:solidFill>
                  <a:srgbClr val="002754"/>
                </a:solidFill>
                <a:latin typeface="Calibri"/>
              </a:rPr>
              <a:t>Ambiguity lowers the pass rate</a:t>
            </a:r>
          </a:p>
        </p:txBody>
      </p:sp>
      <p:sp>
        <p:nvSpPr>
          <p:cNvPr id="8" name="Rounded Rectangle 7"/>
          <p:cNvSpPr/>
          <p:nvPr/>
        </p:nvSpPr>
        <p:spPr>
          <a:xfrm>
            <a:off x="4590288" y="896112"/>
            <a:ext cx="1335024" cy="420624"/>
          </a:xfrm>
          <a:prstGeom prst="roundRect">
            <a:avLst>
              <a:gd name="adj" fmla="val 12000"/>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1E7A3C"/>
                </a:solidFill>
                <a:latin typeface="Calibri"/>
              </a:rPr>
              <a:t>HOLDS</a:t>
            </a:r>
          </a:p>
        </p:txBody>
      </p:sp>
      <p:sp>
        <p:nvSpPr>
          <p:cNvPr id="9" name="Rounded Rectangle 8"/>
          <p:cNvSpPr/>
          <p:nvPr/>
        </p:nvSpPr>
        <p:spPr>
          <a:xfrm>
            <a:off x="5998464" y="896112"/>
            <a:ext cx="2916936" cy="42062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800" b="0">
                <a:solidFill>
                  <a:srgbClr val="5B6472"/>
                </a:solidFill>
                <a:latin typeface="Calibri"/>
              </a:rPr>
              <a:t>all 4 types on 14b; only 2 on 8b</a:t>
            </a:r>
          </a:p>
        </p:txBody>
      </p:sp>
      <p:sp>
        <p:nvSpPr>
          <p:cNvPr id="10" name="Rounded Rectangle 9"/>
          <p:cNvSpPr/>
          <p:nvPr/>
        </p:nvSpPr>
        <p:spPr>
          <a:xfrm>
            <a:off x="228600" y="1357884"/>
            <a:ext cx="530352" cy="420624"/>
          </a:xfrm>
          <a:prstGeom prst="roundRect">
            <a:avLst>
              <a:gd name="adj" fmla="val 12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H2</a:t>
            </a:r>
          </a:p>
        </p:txBody>
      </p:sp>
      <p:sp>
        <p:nvSpPr>
          <p:cNvPr id="11" name="Rounded Rectangle 10"/>
          <p:cNvSpPr/>
          <p:nvPr/>
        </p:nvSpPr>
        <p:spPr>
          <a:xfrm>
            <a:off x="813816" y="1357884"/>
            <a:ext cx="3703320" cy="420624"/>
          </a:xfrm>
          <a:prstGeom prst="roundRect">
            <a:avLst>
              <a:gd name="adj" fmla="val 12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950" b="1">
                <a:solidFill>
                  <a:srgbClr val="002754"/>
                </a:solidFill>
                <a:latin typeface="Calibri"/>
              </a:rPr>
              <a:t>Ambiguity raises cost per correct answer</a:t>
            </a:r>
          </a:p>
        </p:txBody>
      </p:sp>
      <p:sp>
        <p:nvSpPr>
          <p:cNvPr id="12" name="Rounded Rectangle 11"/>
          <p:cNvSpPr/>
          <p:nvPr/>
        </p:nvSpPr>
        <p:spPr>
          <a:xfrm>
            <a:off x="4590288" y="1357884"/>
            <a:ext cx="1335024" cy="420624"/>
          </a:xfrm>
          <a:prstGeom prst="roundRect">
            <a:avLst>
              <a:gd name="adj" fmla="val 12000"/>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1E7A3C"/>
                </a:solidFill>
                <a:latin typeface="Calibri"/>
              </a:rPr>
              <a:t>HOLDS</a:t>
            </a:r>
          </a:p>
        </p:txBody>
      </p:sp>
      <p:sp>
        <p:nvSpPr>
          <p:cNvPr id="13" name="Rounded Rectangle 12"/>
          <p:cNvSpPr/>
          <p:nvPr/>
        </p:nvSpPr>
        <p:spPr>
          <a:xfrm>
            <a:off x="5998464" y="1357884"/>
            <a:ext cx="2916936" cy="42062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800" b="0">
                <a:solidFill>
                  <a:srgbClr val="5B6472"/>
                </a:solidFill>
                <a:latin typeface="Calibri"/>
              </a:rPr>
              <a:t>tax 1.05-1.34 on 14b, up to 1.71 on 8b</a:t>
            </a:r>
          </a:p>
        </p:txBody>
      </p:sp>
      <p:sp>
        <p:nvSpPr>
          <p:cNvPr id="14" name="Rounded Rectangle 13"/>
          <p:cNvSpPr/>
          <p:nvPr/>
        </p:nvSpPr>
        <p:spPr>
          <a:xfrm>
            <a:off x="228600" y="1819655"/>
            <a:ext cx="530352" cy="420624"/>
          </a:xfrm>
          <a:prstGeom prst="roundRect">
            <a:avLst>
              <a:gd name="adj" fmla="val 12000"/>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H3</a:t>
            </a:r>
          </a:p>
        </p:txBody>
      </p:sp>
      <p:sp>
        <p:nvSpPr>
          <p:cNvPr id="15" name="Rounded Rectangle 14"/>
          <p:cNvSpPr/>
          <p:nvPr/>
        </p:nvSpPr>
        <p:spPr>
          <a:xfrm>
            <a:off x="813816" y="1819655"/>
            <a:ext cx="3703320" cy="420624"/>
          </a:xfrm>
          <a:prstGeom prst="roundRect">
            <a:avLst>
              <a:gd name="adj" fmla="val 12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950" b="1">
                <a:solidFill>
                  <a:srgbClr val="002754"/>
                </a:solidFill>
                <a:latin typeface="Calibri"/>
              </a:rPr>
              <a:t>It costs extra even when it succeeds</a:t>
            </a:r>
          </a:p>
        </p:txBody>
      </p:sp>
      <p:sp>
        <p:nvSpPr>
          <p:cNvPr id="16" name="Rounded Rectangle 15"/>
          <p:cNvSpPr/>
          <p:nvPr/>
        </p:nvSpPr>
        <p:spPr>
          <a:xfrm>
            <a:off x="4590288" y="1819655"/>
            <a:ext cx="1335024" cy="420624"/>
          </a:xfrm>
          <a:prstGeom prst="roundRect">
            <a:avLst>
              <a:gd name="adj" fmla="val 12000"/>
            </a:avLst>
          </a:prstGeom>
          <a:solidFill>
            <a:srgbClr val="FFFFFF"/>
          </a:solidFill>
          <a:ln w="13970">
            <a:solidFill>
              <a:srgbClr val="B57A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B57A00"/>
                </a:solidFill>
                <a:latin typeface="Calibri"/>
              </a:rPr>
              <a:t>DIRECTIONAL</a:t>
            </a:r>
          </a:p>
        </p:txBody>
      </p:sp>
      <p:sp>
        <p:nvSpPr>
          <p:cNvPr id="17" name="Rounded Rectangle 16"/>
          <p:cNvSpPr/>
          <p:nvPr/>
        </p:nvSpPr>
        <p:spPr>
          <a:xfrm>
            <a:off x="5998464" y="1819655"/>
            <a:ext cx="2916936" cy="42062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800" b="0">
                <a:solidFill>
                  <a:srgbClr val="5B6472"/>
                </a:solidFill>
                <a:latin typeface="Calibri"/>
              </a:rPr>
              <a:t>3 of 4 positive at n~100, none survive correction</a:t>
            </a:r>
          </a:p>
        </p:txBody>
      </p:sp>
      <p:sp>
        <p:nvSpPr>
          <p:cNvPr id="18" name="Rounded Rectangle 17"/>
          <p:cNvSpPr/>
          <p:nvPr/>
        </p:nvSpPr>
        <p:spPr>
          <a:xfrm>
            <a:off x="228600" y="2281427"/>
            <a:ext cx="530352" cy="420624"/>
          </a:xfrm>
          <a:prstGeom prst="roundRect">
            <a:avLst>
              <a:gd name="adj" fmla="val 12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H4</a:t>
            </a:r>
          </a:p>
        </p:txBody>
      </p:sp>
      <p:sp>
        <p:nvSpPr>
          <p:cNvPr id="19" name="Rounded Rectangle 18"/>
          <p:cNvSpPr/>
          <p:nvPr/>
        </p:nvSpPr>
        <p:spPr>
          <a:xfrm>
            <a:off x="813816" y="2281427"/>
            <a:ext cx="3703320" cy="420624"/>
          </a:xfrm>
          <a:prstGeom prst="roundRect">
            <a:avLst>
              <a:gd name="adj" fmla="val 12000"/>
            </a:avLst>
          </a:prstGeom>
          <a:solidFill>
            <a:srgbClr val="E6F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950" b="1">
                <a:solidFill>
                  <a:srgbClr val="002754"/>
                </a:solidFill>
                <a:latin typeface="Calibri"/>
              </a:rPr>
              <a:t>Wall-clock time tracks tokens</a:t>
            </a:r>
          </a:p>
        </p:txBody>
      </p:sp>
      <p:sp>
        <p:nvSpPr>
          <p:cNvPr id="20" name="Rounded Rectangle 19"/>
          <p:cNvSpPr/>
          <p:nvPr/>
        </p:nvSpPr>
        <p:spPr>
          <a:xfrm>
            <a:off x="4590288" y="2281427"/>
            <a:ext cx="1335024" cy="420624"/>
          </a:xfrm>
          <a:prstGeom prst="roundRect">
            <a:avLst>
              <a:gd name="adj" fmla="val 12000"/>
            </a:avLst>
          </a:prstGeom>
          <a:solidFill>
            <a:srgbClr val="FFFFFF"/>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1E7A3C"/>
                </a:solidFill>
                <a:latin typeface="Calibri"/>
              </a:rPr>
              <a:t>HOLDS</a:t>
            </a:r>
          </a:p>
        </p:txBody>
      </p:sp>
      <p:sp>
        <p:nvSpPr>
          <p:cNvPr id="21" name="Rounded Rectangle 20"/>
          <p:cNvSpPr/>
          <p:nvPr/>
        </p:nvSpPr>
        <p:spPr>
          <a:xfrm>
            <a:off x="5998464" y="2281427"/>
            <a:ext cx="2916936" cy="42062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800" b="0">
                <a:solidFill>
                  <a:srgbClr val="5B6472"/>
                </a:solidFill>
                <a:latin typeface="Calibri"/>
              </a:rPr>
              <a:t>r = 0.989 over 3,935 runs</a:t>
            </a:r>
          </a:p>
        </p:txBody>
      </p:sp>
      <p:sp>
        <p:nvSpPr>
          <p:cNvPr id="22" name="Rounded Rectangle 21"/>
          <p:cNvSpPr/>
          <p:nvPr/>
        </p:nvSpPr>
        <p:spPr>
          <a:xfrm>
            <a:off x="228600" y="2743199"/>
            <a:ext cx="530352" cy="420624"/>
          </a:xfrm>
          <a:prstGeom prst="roundRect">
            <a:avLst>
              <a:gd name="adj" fmla="val 12000"/>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H5</a:t>
            </a:r>
          </a:p>
        </p:txBody>
      </p:sp>
      <p:sp>
        <p:nvSpPr>
          <p:cNvPr id="23" name="Rounded Rectangle 22"/>
          <p:cNvSpPr/>
          <p:nvPr/>
        </p:nvSpPr>
        <p:spPr>
          <a:xfrm>
            <a:off x="813816" y="2743199"/>
            <a:ext cx="3703320" cy="420624"/>
          </a:xfrm>
          <a:prstGeom prst="roundRect">
            <a:avLst>
              <a:gd name="adj" fmla="val 12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950" b="1">
                <a:solidFill>
                  <a:srgbClr val="002754"/>
                </a:solidFill>
                <a:latin typeface="Calibri"/>
              </a:rPr>
              <a:t>The extra cost sits in the reasoning block</a:t>
            </a:r>
          </a:p>
        </p:txBody>
      </p:sp>
      <p:sp>
        <p:nvSpPr>
          <p:cNvPr id="24" name="Rounded Rectangle 23"/>
          <p:cNvSpPr/>
          <p:nvPr/>
        </p:nvSpPr>
        <p:spPr>
          <a:xfrm>
            <a:off x="4590288" y="2743199"/>
            <a:ext cx="1335024" cy="420624"/>
          </a:xfrm>
          <a:prstGeom prst="roundRect">
            <a:avLst>
              <a:gd name="adj" fmla="val 12000"/>
            </a:avLst>
          </a:prstGeom>
          <a:solidFill>
            <a:srgbClr val="FFFFFF"/>
          </a:solidFill>
          <a:ln w="13970">
            <a:solidFill>
              <a:srgbClr val="B57A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B57A00"/>
                </a:solidFill>
                <a:latin typeface="Calibri"/>
              </a:rPr>
              <a:t>NOT SHOWN</a:t>
            </a:r>
          </a:p>
        </p:txBody>
      </p:sp>
      <p:sp>
        <p:nvSpPr>
          <p:cNvPr id="25" name="Rounded Rectangle 24"/>
          <p:cNvSpPr/>
          <p:nvPr/>
        </p:nvSpPr>
        <p:spPr>
          <a:xfrm>
            <a:off x="5998464" y="2743199"/>
            <a:ext cx="2916936" cy="42062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800" b="0">
                <a:solidFill>
                  <a:srgbClr val="5B6472"/>
                </a:solidFill>
                <a:latin typeface="Calibri"/>
              </a:rPr>
              <a:t>reasoning is 95-97% regardless of wording</a:t>
            </a:r>
          </a:p>
        </p:txBody>
      </p:sp>
      <p:sp>
        <p:nvSpPr>
          <p:cNvPr id="26" name="Rounded Rectangle 25"/>
          <p:cNvSpPr/>
          <p:nvPr/>
        </p:nvSpPr>
        <p:spPr>
          <a:xfrm>
            <a:off x="228600" y="3204971"/>
            <a:ext cx="530352" cy="420624"/>
          </a:xfrm>
          <a:prstGeom prst="roundRect">
            <a:avLst>
              <a:gd name="adj" fmla="val 12000"/>
            </a:avLst>
          </a:prstGeom>
          <a:solidFill>
            <a:srgbClr val="5B3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H6</a:t>
            </a:r>
          </a:p>
        </p:txBody>
      </p:sp>
      <p:sp>
        <p:nvSpPr>
          <p:cNvPr id="27" name="Rounded Rectangle 26"/>
          <p:cNvSpPr/>
          <p:nvPr/>
        </p:nvSpPr>
        <p:spPr>
          <a:xfrm>
            <a:off x="813816" y="3204971"/>
            <a:ext cx="3703320" cy="420624"/>
          </a:xfrm>
          <a:prstGeom prst="roundRect">
            <a:avLst>
              <a:gd name="adj" fmla="val 12000"/>
            </a:avLst>
          </a:prstGeom>
          <a:solidFill>
            <a:srgbClr val="EE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950" b="1">
                <a:solidFill>
                  <a:srgbClr val="002754"/>
                </a:solidFill>
                <a:latin typeface="Calibri"/>
              </a:rPr>
              <a:t>Bigger rewrites cost more</a:t>
            </a:r>
          </a:p>
        </p:txBody>
      </p:sp>
      <p:sp>
        <p:nvSpPr>
          <p:cNvPr id="28" name="Rounded Rectangle 27"/>
          <p:cNvSpPr/>
          <p:nvPr/>
        </p:nvSpPr>
        <p:spPr>
          <a:xfrm>
            <a:off x="4590288" y="3204971"/>
            <a:ext cx="1335024" cy="420624"/>
          </a:xfrm>
          <a:prstGeom prst="roundRect">
            <a:avLst>
              <a:gd name="adj" fmla="val 12000"/>
            </a:avLst>
          </a:prstGeom>
          <a:solidFill>
            <a:srgbClr val="FFFFFF"/>
          </a:solidFill>
          <a:ln w="13970">
            <a:solidFill>
              <a:srgbClr val="5B3E8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5B3E8E"/>
                </a:solidFill>
                <a:latin typeface="Calibri"/>
              </a:rPr>
              <a:t>UNRESOLVED</a:t>
            </a:r>
          </a:p>
        </p:txBody>
      </p:sp>
      <p:sp>
        <p:nvSpPr>
          <p:cNvPr id="29" name="Rounded Rectangle 28"/>
          <p:cNvSpPr/>
          <p:nvPr/>
        </p:nvSpPr>
        <p:spPr>
          <a:xfrm>
            <a:off x="5998464" y="3204971"/>
            <a:ext cx="2916936" cy="42062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800" b="0">
                <a:solidFill>
                  <a:srgbClr val="5B6472"/>
                </a:solidFill>
                <a:latin typeface="Calibri"/>
              </a:rPr>
              <a:t>right direction at scale, but test is between-task</a:t>
            </a:r>
          </a:p>
        </p:txBody>
      </p:sp>
      <p:sp>
        <p:nvSpPr>
          <p:cNvPr id="30" name="Rounded Rectangle 29"/>
          <p:cNvSpPr/>
          <p:nvPr/>
        </p:nvSpPr>
        <p:spPr>
          <a:xfrm>
            <a:off x="228600" y="3666744"/>
            <a:ext cx="530352" cy="420624"/>
          </a:xfrm>
          <a:prstGeom prst="roundRect">
            <a:avLst>
              <a:gd name="adj" fmla="val 12000"/>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H7</a:t>
            </a:r>
          </a:p>
        </p:txBody>
      </p:sp>
      <p:sp>
        <p:nvSpPr>
          <p:cNvPr id="31" name="Rounded Rectangle 30"/>
          <p:cNvSpPr/>
          <p:nvPr/>
        </p:nvSpPr>
        <p:spPr>
          <a:xfrm>
            <a:off x="813816" y="3666744"/>
            <a:ext cx="3703320" cy="420624"/>
          </a:xfrm>
          <a:prstGeom prst="roundRect">
            <a:avLst>
              <a:gd name="adj" fmla="val 12000"/>
            </a:avLst>
          </a:prstGeom>
          <a:solidFill>
            <a:srgbClr val="FA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950" b="1">
                <a:solidFill>
                  <a:srgbClr val="002754"/>
                </a:solidFill>
                <a:latin typeface="Calibri"/>
              </a:rPr>
              <a:t>A wrong skill hurts more than a right one helps</a:t>
            </a:r>
          </a:p>
        </p:txBody>
      </p:sp>
      <p:sp>
        <p:nvSpPr>
          <p:cNvPr id="32" name="Rounded Rectangle 31"/>
          <p:cNvSpPr/>
          <p:nvPr/>
        </p:nvSpPr>
        <p:spPr>
          <a:xfrm>
            <a:off x="4590288" y="3666744"/>
            <a:ext cx="1335024" cy="420624"/>
          </a:xfrm>
          <a:prstGeom prst="roundRect">
            <a:avLst>
              <a:gd name="adj" fmla="val 12000"/>
            </a:avLst>
          </a:prstGeom>
          <a:solidFill>
            <a:srgbClr val="FFFFFF"/>
          </a:solidFill>
          <a:ln w="13970">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B32D2D"/>
                </a:solidFill>
                <a:latin typeface="Calibri"/>
              </a:rPr>
              <a:t>FAILS</a:t>
            </a:r>
          </a:p>
        </p:txBody>
      </p:sp>
      <p:sp>
        <p:nvSpPr>
          <p:cNvPr id="33" name="Rounded Rectangle 32"/>
          <p:cNvSpPr/>
          <p:nvPr/>
        </p:nvSpPr>
        <p:spPr>
          <a:xfrm>
            <a:off x="5998464" y="3666744"/>
            <a:ext cx="2916936" cy="42062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800" b="0">
                <a:solidFill>
                  <a:srgbClr val="5B6472"/>
                </a:solidFill>
                <a:latin typeface="Calibri"/>
              </a:rPr>
              <a:t>neutral filler hurt MORE than the wrong skill</a:t>
            </a:r>
          </a:p>
        </p:txBody>
      </p:sp>
      <p:sp>
        <p:nvSpPr>
          <p:cNvPr id="34" name="Rounded Rectangle 33"/>
          <p:cNvSpPr/>
          <p:nvPr/>
        </p:nvSpPr>
        <p:spPr>
          <a:xfrm>
            <a:off x="228600" y="4128515"/>
            <a:ext cx="530352" cy="420624"/>
          </a:xfrm>
          <a:prstGeom prst="roundRect">
            <a:avLst>
              <a:gd name="adj" fmla="val 12000"/>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FFFFFF"/>
                </a:solidFill>
                <a:latin typeface="Calibri"/>
              </a:rPr>
              <a:t>H8</a:t>
            </a:r>
          </a:p>
        </p:txBody>
      </p:sp>
      <p:sp>
        <p:nvSpPr>
          <p:cNvPr id="35" name="Rounded Rectangle 34"/>
          <p:cNvSpPr/>
          <p:nvPr/>
        </p:nvSpPr>
        <p:spPr>
          <a:xfrm>
            <a:off x="813816" y="4128515"/>
            <a:ext cx="3703320" cy="420624"/>
          </a:xfrm>
          <a:prstGeom prst="roundRect">
            <a:avLst>
              <a:gd name="adj" fmla="val 12000"/>
            </a:avLst>
          </a:prstGeom>
          <a:solidFill>
            <a:srgbClr val="FA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950" b="1">
                <a:solidFill>
                  <a:srgbClr val="002754"/>
                </a:solidFill>
                <a:latin typeface="Calibri"/>
              </a:rPr>
              <a:t>Wrong skills hurt most when the task is unclear</a:t>
            </a:r>
          </a:p>
        </p:txBody>
      </p:sp>
      <p:sp>
        <p:nvSpPr>
          <p:cNvPr id="36" name="Rounded Rectangle 35"/>
          <p:cNvSpPr/>
          <p:nvPr/>
        </p:nvSpPr>
        <p:spPr>
          <a:xfrm>
            <a:off x="4590288" y="4128515"/>
            <a:ext cx="1335024" cy="420624"/>
          </a:xfrm>
          <a:prstGeom prst="roundRect">
            <a:avLst>
              <a:gd name="adj" fmla="val 12000"/>
            </a:avLst>
          </a:prstGeom>
          <a:solidFill>
            <a:srgbClr val="FFFFFF"/>
          </a:solidFill>
          <a:ln w="13970">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B32D2D"/>
                </a:solidFill>
                <a:latin typeface="Calibri"/>
              </a:rPr>
              <a:t>FAILS</a:t>
            </a:r>
          </a:p>
        </p:txBody>
      </p:sp>
      <p:sp>
        <p:nvSpPr>
          <p:cNvPr id="37" name="Rounded Rectangle 36"/>
          <p:cNvSpPr/>
          <p:nvPr/>
        </p:nvSpPr>
        <p:spPr>
          <a:xfrm>
            <a:off x="5998464" y="4128515"/>
            <a:ext cx="2916936" cy="42062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800" b="0">
                <a:solidFill>
                  <a:srgbClr val="5B6472"/>
                </a:solidFill>
                <a:latin typeface="Calibri"/>
              </a:rPr>
              <a:t>no interaction; ambiguity swamps the arms</a:t>
            </a:r>
          </a:p>
        </p:txBody>
      </p:sp>
      <p:sp>
        <p:nvSpPr>
          <p:cNvPr id="38" name="Rectangle 37"/>
          <p:cNvSpPr/>
          <p:nvPr/>
        </p:nvSpPr>
        <p:spPr>
          <a:xfrm>
            <a:off x="228600" y="4599432"/>
            <a:ext cx="64008" cy="402336"/>
          </a:xfrm>
          <a:prstGeom prst="rect">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92608" y="4599432"/>
            <a:ext cx="8622792" cy="402336"/>
          </a:xfrm>
          <a:prstGeom prst="rect">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0">
                <a:solidFill>
                  <a:srgbClr val="002754"/>
                </a:solidFill>
                <a:latin typeface="Calibri"/>
              </a:rPr>
              <a:t>The accuracy and cost story is solid. The claim that would have made this novel is still unproven, and the skill hypothesis is dead.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none">
            <a:spAutoFit/>
          </a:bodyPr>
          <a:lstStyle/>
          <a:p>
            <a:r>
              <a:rPr sz="2300" b="1">
                <a:solidFill>
                  <a:srgbClr val="1155CC"/>
                </a:solidFill>
                <a:latin typeface="Lora"/>
              </a:rPr>
              <a:t>Result 1: Every Kind of Ambiguity Costs Money</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none">
            <a:spAutoFit/>
          </a:bodyPr>
          <a:lstStyle/>
          <a:p>
            <a:r>
              <a:rPr sz="1150">
                <a:solidFill>
                  <a:srgbClr val="5B6472"/>
                </a:solidFill>
                <a:latin typeface="Calibri"/>
              </a:rPr>
              <a:t>164 tasks, qwen3:14b, 3,935 runs, no skills loaded.</a:t>
            </a:r>
          </a:p>
        </p:txBody>
      </p:sp>
      <p:sp>
        <p:nvSpPr>
          <p:cNvPr id="6" name="TextBox 5"/>
          <p:cNvSpPr txBox="1"/>
          <p:nvPr/>
        </p:nvSpPr>
        <p:spPr>
          <a:xfrm>
            <a:off x="228600" y="932688"/>
            <a:ext cx="5486400" cy="201168"/>
          </a:xfrm>
          <a:prstGeom prst="rect">
            <a:avLst/>
          </a:prstGeom>
          <a:noFill/>
        </p:spPr>
        <p:txBody>
          <a:bodyPr wrap="none">
            <a:spAutoFit/>
          </a:bodyPr>
          <a:lstStyle/>
          <a:p>
            <a:pPr algn="l"/>
            <a:r>
              <a:rPr sz="900" b="1">
                <a:solidFill>
                  <a:srgbClr val="1155CC"/>
                </a:solidFill>
                <a:latin typeface="Calibri"/>
              </a:rPr>
              <a:t>SHARE OF ATTEMPTS THAT PASS ALL UNIT TESTS</a:t>
            </a:r>
          </a:p>
        </p:txBody>
      </p:sp>
      <p:sp>
        <p:nvSpPr>
          <p:cNvPr id="7" name="TextBox 6"/>
          <p:cNvSpPr txBox="1"/>
          <p:nvPr/>
        </p:nvSpPr>
        <p:spPr>
          <a:xfrm>
            <a:off x="6675120" y="932688"/>
            <a:ext cx="1097280" cy="201168"/>
          </a:xfrm>
          <a:prstGeom prst="rect">
            <a:avLst/>
          </a:prstGeom>
          <a:noFill/>
        </p:spPr>
        <p:txBody>
          <a:bodyPr wrap="none">
            <a:spAutoFit/>
          </a:bodyPr>
          <a:lstStyle/>
          <a:p>
            <a:pPr algn="l"/>
            <a:r>
              <a:rPr sz="900" b="1">
                <a:solidFill>
                  <a:srgbClr val="1155CC"/>
                </a:solidFill>
                <a:latin typeface="Calibri"/>
              </a:rPr>
              <a:t>TAX</a:t>
            </a:r>
          </a:p>
        </p:txBody>
      </p:sp>
      <p:sp>
        <p:nvSpPr>
          <p:cNvPr id="8" name="TextBox 7"/>
          <p:cNvSpPr txBox="1"/>
          <p:nvPr/>
        </p:nvSpPr>
        <p:spPr>
          <a:xfrm>
            <a:off x="228600" y="1152144"/>
            <a:ext cx="1554480" cy="201168"/>
          </a:xfrm>
          <a:prstGeom prst="rect">
            <a:avLst/>
          </a:prstGeom>
          <a:noFill/>
        </p:spPr>
        <p:txBody>
          <a:bodyPr wrap="none">
            <a:spAutoFit/>
          </a:bodyPr>
          <a:lstStyle/>
          <a:p>
            <a:pPr algn="l"/>
            <a:r>
              <a:rPr sz="1000" b="1">
                <a:solidFill>
                  <a:srgbClr val="002754"/>
                </a:solidFill>
                <a:latin typeface="Calibri"/>
              </a:rPr>
              <a:t>clear wording</a:t>
            </a:r>
          </a:p>
        </p:txBody>
      </p:sp>
      <p:sp>
        <p:nvSpPr>
          <p:cNvPr id="9" name="Rectangle 8"/>
          <p:cNvSpPr/>
          <p:nvPr/>
        </p:nvSpPr>
        <p:spPr>
          <a:xfrm>
            <a:off x="1783080" y="1170432"/>
            <a:ext cx="3977639" cy="274320"/>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83080" y="1170432"/>
            <a:ext cx="2851967" cy="274320"/>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152144"/>
            <a:ext cx="548640" cy="201168"/>
          </a:xfrm>
          <a:prstGeom prst="rect">
            <a:avLst/>
          </a:prstGeom>
          <a:noFill/>
        </p:spPr>
        <p:txBody>
          <a:bodyPr wrap="none">
            <a:spAutoFit/>
          </a:bodyPr>
          <a:lstStyle/>
          <a:p>
            <a:pPr algn="l"/>
            <a:r>
              <a:rPr sz="1000" b="1">
                <a:solidFill>
                  <a:srgbClr val="1155CC"/>
                </a:solidFill>
                <a:latin typeface="Calibri"/>
              </a:rPr>
              <a:t>72%</a:t>
            </a:r>
          </a:p>
        </p:txBody>
      </p:sp>
      <p:sp>
        <p:nvSpPr>
          <p:cNvPr id="12" name="Rectangle 11"/>
          <p:cNvSpPr/>
          <p:nvPr/>
        </p:nvSpPr>
        <p:spPr>
          <a:xfrm>
            <a:off x="6620256" y="1133856"/>
            <a:ext cx="768096" cy="310896"/>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002754"/>
                </a:solidFill>
                <a:latin typeface="Calibri"/>
              </a:rPr>
              <a:t>1.00</a:t>
            </a:r>
          </a:p>
        </p:txBody>
      </p:sp>
      <p:sp>
        <p:nvSpPr>
          <p:cNvPr id="13" name="TextBox 12"/>
          <p:cNvSpPr txBox="1"/>
          <p:nvPr/>
        </p:nvSpPr>
        <p:spPr>
          <a:xfrm>
            <a:off x="7534656" y="1152144"/>
            <a:ext cx="1371600" cy="201168"/>
          </a:xfrm>
          <a:prstGeom prst="rect">
            <a:avLst/>
          </a:prstGeom>
          <a:noFill/>
        </p:spPr>
        <p:txBody>
          <a:bodyPr wrap="none">
            <a:spAutoFit/>
          </a:bodyPr>
          <a:lstStyle/>
          <a:p>
            <a:pPr algn="l"/>
            <a:r>
              <a:rPr sz="900" b="0">
                <a:solidFill>
                  <a:srgbClr val="5B6472"/>
                </a:solidFill>
                <a:latin typeface="Calibri"/>
              </a:rPr>
              <a:t>baseline</a:t>
            </a:r>
          </a:p>
        </p:txBody>
      </p:sp>
      <p:sp>
        <p:nvSpPr>
          <p:cNvPr id="14" name="TextBox 13"/>
          <p:cNvSpPr txBox="1"/>
          <p:nvPr/>
        </p:nvSpPr>
        <p:spPr>
          <a:xfrm>
            <a:off x="228600" y="1627632"/>
            <a:ext cx="1554480" cy="201168"/>
          </a:xfrm>
          <a:prstGeom prst="rect">
            <a:avLst/>
          </a:prstGeom>
          <a:noFill/>
        </p:spPr>
        <p:txBody>
          <a:bodyPr wrap="none">
            <a:spAutoFit/>
          </a:bodyPr>
          <a:lstStyle/>
          <a:p>
            <a:pPr algn="l"/>
            <a:r>
              <a:rPr sz="1000" b="1">
                <a:solidFill>
                  <a:srgbClr val="002754"/>
                </a:solidFill>
                <a:latin typeface="Calibri"/>
              </a:rPr>
              <a:t>Syntactic</a:t>
            </a:r>
          </a:p>
        </p:txBody>
      </p:sp>
      <p:sp>
        <p:nvSpPr>
          <p:cNvPr id="15" name="Rectangle 14"/>
          <p:cNvSpPr/>
          <p:nvPr/>
        </p:nvSpPr>
        <p:spPr>
          <a:xfrm>
            <a:off x="1783080" y="1645920"/>
            <a:ext cx="3977639" cy="274320"/>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783080" y="1645920"/>
            <a:ext cx="2692862" cy="274320"/>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0" y="1627632"/>
            <a:ext cx="548640" cy="201168"/>
          </a:xfrm>
          <a:prstGeom prst="rect">
            <a:avLst/>
          </a:prstGeom>
          <a:noFill/>
        </p:spPr>
        <p:txBody>
          <a:bodyPr wrap="none">
            <a:spAutoFit/>
          </a:bodyPr>
          <a:lstStyle/>
          <a:p>
            <a:pPr algn="l"/>
            <a:r>
              <a:rPr sz="1000" b="1">
                <a:solidFill>
                  <a:srgbClr val="1155CC"/>
                </a:solidFill>
                <a:latin typeface="Calibri"/>
              </a:rPr>
              <a:t>68%</a:t>
            </a:r>
          </a:p>
        </p:txBody>
      </p:sp>
      <p:sp>
        <p:nvSpPr>
          <p:cNvPr id="18" name="Rectangle 17"/>
          <p:cNvSpPr/>
          <p:nvPr/>
        </p:nvSpPr>
        <p:spPr>
          <a:xfrm>
            <a:off x="6620256" y="1609344"/>
            <a:ext cx="768096" cy="310896"/>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002754"/>
                </a:solidFill>
                <a:latin typeface="Calibri"/>
              </a:rPr>
              <a:t>1.05</a:t>
            </a:r>
          </a:p>
        </p:txBody>
      </p:sp>
      <p:sp>
        <p:nvSpPr>
          <p:cNvPr id="19" name="TextBox 18"/>
          <p:cNvSpPr txBox="1"/>
          <p:nvPr/>
        </p:nvSpPr>
        <p:spPr>
          <a:xfrm>
            <a:off x="7534656" y="1627632"/>
            <a:ext cx="1371600" cy="201168"/>
          </a:xfrm>
          <a:prstGeom prst="rect">
            <a:avLst/>
          </a:prstGeom>
          <a:noFill/>
        </p:spPr>
        <p:txBody>
          <a:bodyPr wrap="none">
            <a:spAutoFit/>
          </a:bodyPr>
          <a:lstStyle/>
          <a:p>
            <a:pPr algn="l"/>
            <a:r>
              <a:rPr sz="900" b="0">
                <a:solidFill>
                  <a:srgbClr val="5B6472"/>
                </a:solidFill>
                <a:latin typeface="Calibri"/>
              </a:rPr>
              <a:t>-4 points</a:t>
            </a:r>
          </a:p>
        </p:txBody>
      </p:sp>
      <p:sp>
        <p:nvSpPr>
          <p:cNvPr id="20" name="TextBox 19"/>
          <p:cNvSpPr txBox="1"/>
          <p:nvPr/>
        </p:nvSpPr>
        <p:spPr>
          <a:xfrm>
            <a:off x="228600" y="2103120"/>
            <a:ext cx="1554480" cy="201168"/>
          </a:xfrm>
          <a:prstGeom prst="rect">
            <a:avLst/>
          </a:prstGeom>
          <a:noFill/>
        </p:spPr>
        <p:txBody>
          <a:bodyPr wrap="none">
            <a:spAutoFit/>
          </a:bodyPr>
          <a:lstStyle/>
          <a:p>
            <a:pPr algn="l"/>
            <a:r>
              <a:rPr sz="1000" b="1">
                <a:solidFill>
                  <a:srgbClr val="002754"/>
                </a:solidFill>
                <a:latin typeface="Calibri"/>
              </a:rPr>
              <a:t>Semantic</a:t>
            </a:r>
          </a:p>
        </p:txBody>
      </p:sp>
      <p:sp>
        <p:nvSpPr>
          <p:cNvPr id="21" name="Rectangle 20"/>
          <p:cNvSpPr/>
          <p:nvPr/>
        </p:nvSpPr>
        <p:spPr>
          <a:xfrm>
            <a:off x="1783080" y="2121408"/>
            <a:ext cx="3977639" cy="274320"/>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783080" y="2121408"/>
            <a:ext cx="2537734" cy="274320"/>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0" y="2103120"/>
            <a:ext cx="548640" cy="201168"/>
          </a:xfrm>
          <a:prstGeom prst="rect">
            <a:avLst/>
          </a:prstGeom>
          <a:noFill/>
        </p:spPr>
        <p:txBody>
          <a:bodyPr wrap="none">
            <a:spAutoFit/>
          </a:bodyPr>
          <a:lstStyle/>
          <a:p>
            <a:pPr algn="l"/>
            <a:r>
              <a:rPr sz="1000" b="1">
                <a:solidFill>
                  <a:srgbClr val="DAAA01"/>
                </a:solidFill>
                <a:latin typeface="Calibri"/>
              </a:rPr>
              <a:t>64%</a:t>
            </a:r>
          </a:p>
        </p:txBody>
      </p:sp>
      <p:sp>
        <p:nvSpPr>
          <p:cNvPr id="24" name="Rectangle 23"/>
          <p:cNvSpPr/>
          <p:nvPr/>
        </p:nvSpPr>
        <p:spPr>
          <a:xfrm>
            <a:off x="6620256" y="2084832"/>
            <a:ext cx="768096" cy="310896"/>
          </a:xfrm>
          <a:prstGeom prst="rect">
            <a:avLst/>
          </a:prstGeom>
          <a:solidFill>
            <a:srgbClr val="FDF7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002754"/>
                </a:solidFill>
                <a:latin typeface="Calibri"/>
              </a:rPr>
              <a:t>1.18</a:t>
            </a:r>
          </a:p>
        </p:txBody>
      </p:sp>
      <p:sp>
        <p:nvSpPr>
          <p:cNvPr id="25" name="TextBox 24"/>
          <p:cNvSpPr txBox="1"/>
          <p:nvPr/>
        </p:nvSpPr>
        <p:spPr>
          <a:xfrm>
            <a:off x="7534656" y="2103120"/>
            <a:ext cx="1371600" cy="201168"/>
          </a:xfrm>
          <a:prstGeom prst="rect">
            <a:avLst/>
          </a:prstGeom>
          <a:noFill/>
        </p:spPr>
        <p:txBody>
          <a:bodyPr wrap="none">
            <a:spAutoFit/>
          </a:bodyPr>
          <a:lstStyle/>
          <a:p>
            <a:pPr algn="l"/>
            <a:r>
              <a:rPr sz="900" b="0">
                <a:solidFill>
                  <a:srgbClr val="5B6472"/>
                </a:solidFill>
                <a:latin typeface="Calibri"/>
              </a:rPr>
              <a:t>-8 points</a:t>
            </a:r>
          </a:p>
        </p:txBody>
      </p:sp>
      <p:sp>
        <p:nvSpPr>
          <p:cNvPr id="26" name="TextBox 25"/>
          <p:cNvSpPr txBox="1"/>
          <p:nvPr/>
        </p:nvSpPr>
        <p:spPr>
          <a:xfrm>
            <a:off x="228600" y="2578608"/>
            <a:ext cx="1554480" cy="201168"/>
          </a:xfrm>
          <a:prstGeom prst="rect">
            <a:avLst/>
          </a:prstGeom>
          <a:noFill/>
        </p:spPr>
        <p:txBody>
          <a:bodyPr wrap="none">
            <a:spAutoFit/>
          </a:bodyPr>
          <a:lstStyle/>
          <a:p>
            <a:pPr algn="l"/>
            <a:r>
              <a:rPr sz="1000" b="1">
                <a:solidFill>
                  <a:srgbClr val="002754"/>
                </a:solidFill>
                <a:latin typeface="Calibri"/>
              </a:rPr>
              <a:t>Lexical</a:t>
            </a:r>
          </a:p>
        </p:txBody>
      </p:sp>
      <p:sp>
        <p:nvSpPr>
          <p:cNvPr id="27" name="Rectangle 26"/>
          <p:cNvSpPr/>
          <p:nvPr/>
        </p:nvSpPr>
        <p:spPr>
          <a:xfrm>
            <a:off x="1783080" y="2596896"/>
            <a:ext cx="3977639" cy="274320"/>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783080" y="2596896"/>
            <a:ext cx="2438293" cy="274320"/>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2160" y="2578608"/>
            <a:ext cx="548640" cy="201168"/>
          </a:xfrm>
          <a:prstGeom prst="rect">
            <a:avLst/>
          </a:prstGeom>
          <a:noFill/>
        </p:spPr>
        <p:txBody>
          <a:bodyPr wrap="none">
            <a:spAutoFit/>
          </a:bodyPr>
          <a:lstStyle/>
          <a:p>
            <a:pPr algn="l"/>
            <a:r>
              <a:rPr sz="1000" b="1">
                <a:solidFill>
                  <a:srgbClr val="DAAA01"/>
                </a:solidFill>
                <a:latin typeface="Calibri"/>
              </a:rPr>
              <a:t>61%</a:t>
            </a:r>
          </a:p>
        </p:txBody>
      </p:sp>
      <p:sp>
        <p:nvSpPr>
          <p:cNvPr id="30" name="Rectangle 29"/>
          <p:cNvSpPr/>
          <p:nvPr/>
        </p:nvSpPr>
        <p:spPr>
          <a:xfrm>
            <a:off x="6620256" y="2560320"/>
            <a:ext cx="768096" cy="310896"/>
          </a:xfrm>
          <a:prstGeom prst="rect">
            <a:avLst/>
          </a:prstGeom>
          <a:solidFill>
            <a:srgbClr val="FDF7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002754"/>
                </a:solidFill>
                <a:latin typeface="Calibri"/>
              </a:rPr>
              <a:t>1.30</a:t>
            </a:r>
          </a:p>
        </p:txBody>
      </p:sp>
      <p:sp>
        <p:nvSpPr>
          <p:cNvPr id="31" name="TextBox 30"/>
          <p:cNvSpPr txBox="1"/>
          <p:nvPr/>
        </p:nvSpPr>
        <p:spPr>
          <a:xfrm>
            <a:off x="7534656" y="2578608"/>
            <a:ext cx="1371600" cy="201168"/>
          </a:xfrm>
          <a:prstGeom prst="rect">
            <a:avLst/>
          </a:prstGeom>
          <a:noFill/>
        </p:spPr>
        <p:txBody>
          <a:bodyPr wrap="none">
            <a:spAutoFit/>
          </a:bodyPr>
          <a:lstStyle/>
          <a:p>
            <a:pPr algn="l"/>
            <a:r>
              <a:rPr sz="900" b="0">
                <a:solidFill>
                  <a:srgbClr val="5B6472"/>
                </a:solidFill>
                <a:latin typeface="Calibri"/>
              </a:rPr>
              <a:t>-10 points</a:t>
            </a:r>
          </a:p>
        </p:txBody>
      </p:sp>
      <p:sp>
        <p:nvSpPr>
          <p:cNvPr id="32" name="TextBox 31"/>
          <p:cNvSpPr txBox="1"/>
          <p:nvPr/>
        </p:nvSpPr>
        <p:spPr>
          <a:xfrm>
            <a:off x="228600" y="3054096"/>
            <a:ext cx="1554480" cy="201168"/>
          </a:xfrm>
          <a:prstGeom prst="rect">
            <a:avLst/>
          </a:prstGeom>
          <a:noFill/>
        </p:spPr>
        <p:txBody>
          <a:bodyPr wrap="none">
            <a:spAutoFit/>
          </a:bodyPr>
          <a:lstStyle/>
          <a:p>
            <a:pPr algn="l"/>
            <a:r>
              <a:rPr sz="1000" b="1">
                <a:solidFill>
                  <a:srgbClr val="002754"/>
                </a:solidFill>
                <a:latin typeface="Calibri"/>
              </a:rPr>
              <a:t>Vagueness</a:t>
            </a:r>
          </a:p>
        </p:txBody>
      </p:sp>
      <p:sp>
        <p:nvSpPr>
          <p:cNvPr id="33" name="Rectangle 32"/>
          <p:cNvSpPr/>
          <p:nvPr/>
        </p:nvSpPr>
        <p:spPr>
          <a:xfrm>
            <a:off x="1783080" y="3072384"/>
            <a:ext cx="3977639" cy="274320"/>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783080" y="3072384"/>
            <a:ext cx="2211567" cy="274320"/>
          </a:xfrm>
          <a:prstGeom prst="rect">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52160" y="3054096"/>
            <a:ext cx="548640" cy="201168"/>
          </a:xfrm>
          <a:prstGeom prst="rect">
            <a:avLst/>
          </a:prstGeom>
          <a:noFill/>
        </p:spPr>
        <p:txBody>
          <a:bodyPr wrap="none">
            <a:spAutoFit/>
          </a:bodyPr>
          <a:lstStyle/>
          <a:p>
            <a:pPr algn="l"/>
            <a:r>
              <a:rPr sz="1000" b="1">
                <a:solidFill>
                  <a:srgbClr val="B32D2D"/>
                </a:solidFill>
                <a:latin typeface="Calibri"/>
              </a:rPr>
              <a:t>56%</a:t>
            </a:r>
          </a:p>
        </p:txBody>
      </p:sp>
      <p:sp>
        <p:nvSpPr>
          <p:cNvPr id="36" name="Rectangle 35"/>
          <p:cNvSpPr/>
          <p:nvPr/>
        </p:nvSpPr>
        <p:spPr>
          <a:xfrm>
            <a:off x="6620256" y="3035808"/>
            <a:ext cx="768096" cy="310896"/>
          </a:xfrm>
          <a:prstGeom prst="rect">
            <a:avLst/>
          </a:prstGeom>
          <a:solidFill>
            <a:srgbClr val="FDF7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002754"/>
                </a:solidFill>
                <a:latin typeface="Calibri"/>
              </a:rPr>
              <a:t>1.34</a:t>
            </a:r>
          </a:p>
        </p:txBody>
      </p:sp>
      <p:sp>
        <p:nvSpPr>
          <p:cNvPr id="37" name="TextBox 36"/>
          <p:cNvSpPr txBox="1"/>
          <p:nvPr/>
        </p:nvSpPr>
        <p:spPr>
          <a:xfrm>
            <a:off x="7534656" y="3054096"/>
            <a:ext cx="1371600" cy="201168"/>
          </a:xfrm>
          <a:prstGeom prst="rect">
            <a:avLst/>
          </a:prstGeom>
          <a:noFill/>
        </p:spPr>
        <p:txBody>
          <a:bodyPr wrap="none">
            <a:spAutoFit/>
          </a:bodyPr>
          <a:lstStyle/>
          <a:p>
            <a:pPr algn="l"/>
            <a:r>
              <a:rPr sz="900" b="0">
                <a:solidFill>
                  <a:srgbClr val="5B6472"/>
                </a:solidFill>
                <a:latin typeface="Calibri"/>
              </a:rPr>
              <a:t>-16 points</a:t>
            </a:r>
          </a:p>
        </p:txBody>
      </p:sp>
      <p:sp>
        <p:nvSpPr>
          <p:cNvPr id="38" name="Rounded Rectangle 37"/>
          <p:cNvSpPr/>
          <p:nvPr/>
        </p:nvSpPr>
        <p:spPr>
          <a:xfrm>
            <a:off x="228600" y="3602736"/>
            <a:ext cx="4279392" cy="822960"/>
          </a:xfrm>
          <a:prstGeom prst="roundRect">
            <a:avLst>
              <a:gd name="adj" fmla="val 12000"/>
            </a:avLst>
          </a:prstGeom>
          <a:solidFill>
            <a:srgbClr val="FDF7E3"/>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02754"/>
                </a:solidFill>
                <a:latin typeface="Calibri"/>
              </a:rPr>
              <a:t>COST PER CORRECT ANSWER</a:t>
            </a:r>
          </a:p>
          <a:p>
            <a:pPr algn="ctr"/>
            <a:r>
              <a:rPr sz="950" b="1">
                <a:solidFill>
                  <a:srgbClr val="1155CC"/>
                </a:solidFill>
                <a:latin typeface="Calibri"/>
              </a:rPr>
              <a:t>tokens per attempt  ÷  share that work</a:t>
            </a:r>
          </a:p>
          <a:p>
            <a:pPr algn="ctr"/>
            <a:r>
              <a:rPr sz="900" b="0">
                <a:solidFill>
                  <a:srgbClr val="5B6472"/>
                </a:solidFill>
                <a:latin typeface="Calibri"/>
              </a:rPr>
              <a:t>Vagueness: 1.34x the bill for the same function.</a:t>
            </a:r>
          </a:p>
        </p:txBody>
      </p:sp>
      <p:sp>
        <p:nvSpPr>
          <p:cNvPr id="39" name="Rounded Rectangle 38"/>
          <p:cNvSpPr/>
          <p:nvPr/>
        </p:nvSpPr>
        <p:spPr>
          <a:xfrm>
            <a:off x="4636008" y="3602736"/>
            <a:ext cx="4279392" cy="822960"/>
          </a:xfrm>
          <a:prstGeom prst="roundRect">
            <a:avLst>
              <a:gd name="adj" fmla="val 12000"/>
            </a:avLst>
          </a:prstGeom>
          <a:solidFill>
            <a:srgbClr val="E6F2EA"/>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1E7A3C"/>
                </a:solidFill>
                <a:latin typeface="Calibri"/>
              </a:rPr>
              <a:t>THE PROMPTS ARE NOT LONGER</a:t>
            </a:r>
          </a:p>
          <a:p>
            <a:pPr algn="ctr"/>
            <a:r>
              <a:rPr sz="900" b="0">
                <a:solidFill>
                  <a:srgbClr val="5B6472"/>
                </a:solidFill>
                <a:latin typeface="Calibri"/>
              </a:rPr>
              <a:t>Ambiguous prompts average 100-105 input tokens;</a:t>
            </a:r>
          </a:p>
          <a:p>
            <a:pPr algn="ctr"/>
            <a:r>
              <a:rPr sz="900" b="0">
                <a:solidFill>
                  <a:srgbClr val="5B6472"/>
                </a:solidFill>
                <a:latin typeface="Calibri"/>
              </a:rPr>
              <a:t>clear ones 105. Length cannot explain the cost.</a:t>
            </a:r>
          </a:p>
        </p:txBody>
      </p:sp>
      <p:sp>
        <p:nvSpPr>
          <p:cNvPr id="40" name="Rectangle 39"/>
          <p:cNvSpPr/>
          <p:nvPr/>
        </p:nvSpPr>
        <p:spPr>
          <a:xfrm>
            <a:off x="228600" y="4517136"/>
            <a:ext cx="64008" cy="420624"/>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92608" y="4517136"/>
            <a:ext cx="8622792" cy="420624"/>
          </a:xfrm>
          <a:prstGeom prst="rect">
            <a:avLst/>
          </a:prstGeom>
          <a:solidFill>
            <a:srgbClr val="FDF7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50" b="0">
                <a:solidFill>
                  <a:srgbClr val="002754"/>
                </a:solidFill>
                <a:latin typeface="Calibri"/>
              </a:rPr>
              <a:t>Published work reports a ~7-point average drop. Splitting by type shows why that understates it: the damage runs from 4 to 16 points.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none">
            <a:spAutoFit/>
          </a:bodyPr>
          <a:lstStyle/>
          <a:p>
            <a:r>
              <a:rPr sz="2300" b="1">
                <a:solidFill>
                  <a:srgbClr val="1155CC"/>
                </a:solidFill>
                <a:latin typeface="Lora"/>
              </a:rPr>
              <a:t>Result 2: Which Ambiguity Hurts Depends on the Model</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none">
            <a:spAutoFit/>
          </a:bodyPr>
          <a:lstStyle/>
          <a:p>
            <a:r>
              <a:rPr sz="1150">
                <a:solidFill>
                  <a:srgbClr val="5B6472"/>
                </a:solidFill>
                <a:latin typeface="Calibri"/>
              </a:rPr>
              <a:t>The same 5 wordings, two models. The damage profile moves.</a:t>
            </a:r>
          </a:p>
        </p:txBody>
      </p:sp>
      <p:sp>
        <p:nvSpPr>
          <p:cNvPr id="6" name="TextBox 5"/>
          <p:cNvSpPr txBox="1"/>
          <p:nvPr/>
        </p:nvSpPr>
        <p:spPr>
          <a:xfrm>
            <a:off x="1783080" y="950976"/>
            <a:ext cx="3108960" cy="201168"/>
          </a:xfrm>
          <a:prstGeom prst="rect">
            <a:avLst/>
          </a:prstGeom>
          <a:noFill/>
        </p:spPr>
        <p:txBody>
          <a:bodyPr wrap="none">
            <a:spAutoFit/>
          </a:bodyPr>
          <a:lstStyle/>
          <a:p>
            <a:pPr algn="ctr"/>
            <a:r>
              <a:rPr sz="950" b="1">
                <a:solidFill>
                  <a:srgbClr val="5B6472"/>
                </a:solidFill>
                <a:latin typeface="Calibri"/>
              </a:rPr>
              <a:t>qwen3:8b   (485 runs, 20 tasks)</a:t>
            </a:r>
          </a:p>
        </p:txBody>
      </p:sp>
      <p:sp>
        <p:nvSpPr>
          <p:cNvPr id="7" name="TextBox 6"/>
          <p:cNvSpPr txBox="1"/>
          <p:nvPr/>
        </p:nvSpPr>
        <p:spPr>
          <a:xfrm>
            <a:off x="5440680" y="950976"/>
            <a:ext cx="3108960" cy="201168"/>
          </a:xfrm>
          <a:prstGeom prst="rect">
            <a:avLst/>
          </a:prstGeom>
          <a:noFill/>
        </p:spPr>
        <p:txBody>
          <a:bodyPr wrap="none">
            <a:spAutoFit/>
          </a:bodyPr>
          <a:lstStyle/>
          <a:p>
            <a:pPr algn="ctr"/>
            <a:r>
              <a:rPr sz="950" b="1">
                <a:solidFill>
                  <a:srgbClr val="1155CC"/>
                </a:solidFill>
                <a:latin typeface="Calibri"/>
              </a:rPr>
              <a:t>qwen3:14b  (3,935 runs, 164 tasks)</a:t>
            </a:r>
          </a:p>
        </p:txBody>
      </p:sp>
      <p:sp>
        <p:nvSpPr>
          <p:cNvPr id="8" name="TextBox 7"/>
          <p:cNvSpPr txBox="1"/>
          <p:nvPr/>
        </p:nvSpPr>
        <p:spPr>
          <a:xfrm>
            <a:off x="228600" y="1207008"/>
            <a:ext cx="1463040" cy="201168"/>
          </a:xfrm>
          <a:prstGeom prst="rect">
            <a:avLst/>
          </a:prstGeom>
          <a:noFill/>
        </p:spPr>
        <p:txBody>
          <a:bodyPr wrap="none">
            <a:spAutoFit/>
          </a:bodyPr>
          <a:lstStyle/>
          <a:p>
            <a:pPr algn="l"/>
            <a:r>
              <a:rPr sz="1000" b="1">
                <a:solidFill>
                  <a:srgbClr val="002754"/>
                </a:solidFill>
                <a:latin typeface="Calibri"/>
              </a:rPr>
              <a:t>clear</a:t>
            </a:r>
          </a:p>
        </p:txBody>
      </p:sp>
      <p:sp>
        <p:nvSpPr>
          <p:cNvPr id="9" name="Rectangle 8"/>
          <p:cNvSpPr/>
          <p:nvPr/>
        </p:nvSpPr>
        <p:spPr>
          <a:xfrm>
            <a:off x="1783080" y="1225296"/>
            <a:ext cx="3108960" cy="256032"/>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83080" y="1225296"/>
            <a:ext cx="1946208" cy="2560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56048" y="1207008"/>
            <a:ext cx="457200" cy="201168"/>
          </a:xfrm>
          <a:prstGeom prst="rect">
            <a:avLst/>
          </a:prstGeom>
          <a:noFill/>
        </p:spPr>
        <p:txBody>
          <a:bodyPr wrap="none">
            <a:spAutoFit/>
          </a:bodyPr>
          <a:lstStyle/>
          <a:p>
            <a:pPr algn="l"/>
            <a:r>
              <a:rPr sz="900" b="1">
                <a:solidFill>
                  <a:srgbClr val="5B6472"/>
                </a:solidFill>
                <a:latin typeface="Calibri"/>
              </a:rPr>
              <a:t>0.63</a:t>
            </a:r>
          </a:p>
        </p:txBody>
      </p:sp>
      <p:sp>
        <p:nvSpPr>
          <p:cNvPr id="12" name="Rectangle 11"/>
          <p:cNvSpPr/>
          <p:nvPr/>
        </p:nvSpPr>
        <p:spPr>
          <a:xfrm>
            <a:off x="5440680" y="1225296"/>
            <a:ext cx="3108960" cy="256032"/>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40680" y="1225296"/>
            <a:ext cx="2229124" cy="25603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13648" y="1207008"/>
            <a:ext cx="457200" cy="201168"/>
          </a:xfrm>
          <a:prstGeom prst="rect">
            <a:avLst/>
          </a:prstGeom>
          <a:noFill/>
        </p:spPr>
        <p:txBody>
          <a:bodyPr wrap="none">
            <a:spAutoFit/>
          </a:bodyPr>
          <a:lstStyle/>
          <a:p>
            <a:pPr algn="l"/>
            <a:r>
              <a:rPr sz="900" b="1">
                <a:solidFill>
                  <a:srgbClr val="1155CC"/>
                </a:solidFill>
                <a:latin typeface="Calibri"/>
              </a:rPr>
              <a:t>0.72</a:t>
            </a:r>
          </a:p>
        </p:txBody>
      </p:sp>
      <p:sp>
        <p:nvSpPr>
          <p:cNvPr id="15" name="TextBox 14"/>
          <p:cNvSpPr txBox="1"/>
          <p:nvPr/>
        </p:nvSpPr>
        <p:spPr>
          <a:xfrm>
            <a:off x="228600" y="1664208"/>
            <a:ext cx="1463040" cy="201168"/>
          </a:xfrm>
          <a:prstGeom prst="rect">
            <a:avLst/>
          </a:prstGeom>
          <a:noFill/>
        </p:spPr>
        <p:txBody>
          <a:bodyPr wrap="none">
            <a:spAutoFit/>
          </a:bodyPr>
          <a:lstStyle/>
          <a:p>
            <a:pPr algn="l"/>
            <a:r>
              <a:rPr sz="1000" b="1">
                <a:solidFill>
                  <a:srgbClr val="002754"/>
                </a:solidFill>
                <a:latin typeface="Calibri"/>
              </a:rPr>
              <a:t>Syntactic</a:t>
            </a:r>
          </a:p>
        </p:txBody>
      </p:sp>
      <p:sp>
        <p:nvSpPr>
          <p:cNvPr id="16" name="Rectangle 15"/>
          <p:cNvSpPr/>
          <p:nvPr/>
        </p:nvSpPr>
        <p:spPr>
          <a:xfrm>
            <a:off x="1783080" y="1682496"/>
            <a:ext cx="3108960" cy="256032"/>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783080" y="1682496"/>
            <a:ext cx="1933773" cy="2560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56048" y="1664208"/>
            <a:ext cx="457200" cy="201168"/>
          </a:xfrm>
          <a:prstGeom prst="rect">
            <a:avLst/>
          </a:prstGeom>
          <a:noFill/>
        </p:spPr>
        <p:txBody>
          <a:bodyPr wrap="none">
            <a:spAutoFit/>
          </a:bodyPr>
          <a:lstStyle/>
          <a:p>
            <a:pPr algn="l"/>
            <a:r>
              <a:rPr sz="900" b="1">
                <a:solidFill>
                  <a:srgbClr val="5B6472"/>
                </a:solidFill>
                <a:latin typeface="Calibri"/>
              </a:rPr>
              <a:t>0.62</a:t>
            </a:r>
          </a:p>
        </p:txBody>
      </p:sp>
      <p:sp>
        <p:nvSpPr>
          <p:cNvPr id="19" name="Rectangle 18"/>
          <p:cNvSpPr/>
          <p:nvPr/>
        </p:nvSpPr>
        <p:spPr>
          <a:xfrm>
            <a:off x="5440680" y="1682496"/>
            <a:ext cx="3108960" cy="256032"/>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40680" y="1682496"/>
            <a:ext cx="2104765" cy="25603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13648" y="1664208"/>
            <a:ext cx="457200" cy="201168"/>
          </a:xfrm>
          <a:prstGeom prst="rect">
            <a:avLst/>
          </a:prstGeom>
          <a:noFill/>
        </p:spPr>
        <p:txBody>
          <a:bodyPr wrap="none">
            <a:spAutoFit/>
          </a:bodyPr>
          <a:lstStyle/>
          <a:p>
            <a:pPr algn="l"/>
            <a:r>
              <a:rPr sz="900" b="1">
                <a:solidFill>
                  <a:srgbClr val="1155CC"/>
                </a:solidFill>
                <a:latin typeface="Calibri"/>
              </a:rPr>
              <a:t>0.68</a:t>
            </a:r>
          </a:p>
        </p:txBody>
      </p:sp>
      <p:sp>
        <p:nvSpPr>
          <p:cNvPr id="22" name="TextBox 21"/>
          <p:cNvSpPr txBox="1"/>
          <p:nvPr/>
        </p:nvSpPr>
        <p:spPr>
          <a:xfrm>
            <a:off x="228600" y="2121408"/>
            <a:ext cx="1463040" cy="201168"/>
          </a:xfrm>
          <a:prstGeom prst="rect">
            <a:avLst/>
          </a:prstGeom>
          <a:noFill/>
        </p:spPr>
        <p:txBody>
          <a:bodyPr wrap="none">
            <a:spAutoFit/>
          </a:bodyPr>
          <a:lstStyle/>
          <a:p>
            <a:pPr algn="l"/>
            <a:r>
              <a:rPr sz="1000" b="1">
                <a:solidFill>
                  <a:srgbClr val="002754"/>
                </a:solidFill>
                <a:latin typeface="Calibri"/>
              </a:rPr>
              <a:t>Semantic</a:t>
            </a:r>
          </a:p>
        </p:txBody>
      </p:sp>
      <p:sp>
        <p:nvSpPr>
          <p:cNvPr id="23" name="Rectangle 22"/>
          <p:cNvSpPr/>
          <p:nvPr/>
        </p:nvSpPr>
        <p:spPr>
          <a:xfrm>
            <a:off x="1783080" y="2139696"/>
            <a:ext cx="3108960" cy="256032"/>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783080" y="2139696"/>
            <a:ext cx="1504736" cy="2560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56048" y="2121408"/>
            <a:ext cx="457200" cy="201168"/>
          </a:xfrm>
          <a:prstGeom prst="rect">
            <a:avLst/>
          </a:prstGeom>
          <a:noFill/>
        </p:spPr>
        <p:txBody>
          <a:bodyPr wrap="none">
            <a:spAutoFit/>
          </a:bodyPr>
          <a:lstStyle/>
          <a:p>
            <a:pPr algn="l"/>
            <a:r>
              <a:rPr sz="900" b="1">
                <a:solidFill>
                  <a:srgbClr val="5B6472"/>
                </a:solidFill>
                <a:latin typeface="Calibri"/>
              </a:rPr>
              <a:t>0.48</a:t>
            </a:r>
          </a:p>
        </p:txBody>
      </p:sp>
      <p:sp>
        <p:nvSpPr>
          <p:cNvPr id="26" name="Rectangle 25"/>
          <p:cNvSpPr/>
          <p:nvPr/>
        </p:nvSpPr>
        <p:spPr>
          <a:xfrm>
            <a:off x="5440680" y="2139696"/>
            <a:ext cx="3108960" cy="256032"/>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40680" y="2139696"/>
            <a:ext cx="1983516" cy="25603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13648" y="2121408"/>
            <a:ext cx="457200" cy="201168"/>
          </a:xfrm>
          <a:prstGeom prst="rect">
            <a:avLst/>
          </a:prstGeom>
          <a:noFill/>
        </p:spPr>
        <p:txBody>
          <a:bodyPr wrap="none">
            <a:spAutoFit/>
          </a:bodyPr>
          <a:lstStyle/>
          <a:p>
            <a:pPr algn="l"/>
            <a:r>
              <a:rPr sz="900" b="1">
                <a:solidFill>
                  <a:srgbClr val="1155CC"/>
                </a:solidFill>
                <a:latin typeface="Calibri"/>
              </a:rPr>
              <a:t>0.64</a:t>
            </a:r>
          </a:p>
        </p:txBody>
      </p:sp>
      <p:sp>
        <p:nvSpPr>
          <p:cNvPr id="29" name="TextBox 28"/>
          <p:cNvSpPr txBox="1"/>
          <p:nvPr/>
        </p:nvSpPr>
        <p:spPr>
          <a:xfrm>
            <a:off x="228600" y="2578608"/>
            <a:ext cx="1463040" cy="201168"/>
          </a:xfrm>
          <a:prstGeom prst="rect">
            <a:avLst/>
          </a:prstGeom>
          <a:noFill/>
        </p:spPr>
        <p:txBody>
          <a:bodyPr wrap="none">
            <a:spAutoFit/>
          </a:bodyPr>
          <a:lstStyle/>
          <a:p>
            <a:pPr algn="l"/>
            <a:r>
              <a:rPr sz="1000" b="1">
                <a:solidFill>
                  <a:srgbClr val="002754"/>
                </a:solidFill>
                <a:latin typeface="Calibri"/>
              </a:rPr>
              <a:t>Lexical</a:t>
            </a:r>
          </a:p>
        </p:txBody>
      </p:sp>
      <p:sp>
        <p:nvSpPr>
          <p:cNvPr id="30" name="Rectangle 29"/>
          <p:cNvSpPr/>
          <p:nvPr/>
        </p:nvSpPr>
        <p:spPr>
          <a:xfrm>
            <a:off x="1783080" y="2596896"/>
            <a:ext cx="3108960" cy="256032"/>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783080" y="2596896"/>
            <a:ext cx="1809414" cy="2560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56048" y="2578608"/>
            <a:ext cx="457200" cy="201168"/>
          </a:xfrm>
          <a:prstGeom prst="rect">
            <a:avLst/>
          </a:prstGeom>
          <a:noFill/>
        </p:spPr>
        <p:txBody>
          <a:bodyPr wrap="none">
            <a:spAutoFit/>
          </a:bodyPr>
          <a:lstStyle/>
          <a:p>
            <a:pPr algn="l"/>
            <a:r>
              <a:rPr sz="900" b="1">
                <a:solidFill>
                  <a:srgbClr val="5B6472"/>
                </a:solidFill>
                <a:latin typeface="Calibri"/>
              </a:rPr>
              <a:t>0.58</a:t>
            </a:r>
          </a:p>
        </p:txBody>
      </p:sp>
      <p:sp>
        <p:nvSpPr>
          <p:cNvPr id="33" name="Rectangle 32"/>
          <p:cNvSpPr/>
          <p:nvPr/>
        </p:nvSpPr>
        <p:spPr>
          <a:xfrm>
            <a:off x="5440680" y="2596896"/>
            <a:ext cx="3108960" cy="256032"/>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40680" y="2596896"/>
            <a:ext cx="1905792" cy="25603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13648" y="2578608"/>
            <a:ext cx="457200" cy="201168"/>
          </a:xfrm>
          <a:prstGeom prst="rect">
            <a:avLst/>
          </a:prstGeom>
          <a:noFill/>
        </p:spPr>
        <p:txBody>
          <a:bodyPr wrap="none">
            <a:spAutoFit/>
          </a:bodyPr>
          <a:lstStyle/>
          <a:p>
            <a:pPr algn="l"/>
            <a:r>
              <a:rPr sz="900" b="1">
                <a:solidFill>
                  <a:srgbClr val="1155CC"/>
                </a:solidFill>
                <a:latin typeface="Calibri"/>
              </a:rPr>
              <a:t>0.61</a:t>
            </a:r>
          </a:p>
        </p:txBody>
      </p:sp>
      <p:sp>
        <p:nvSpPr>
          <p:cNvPr id="36" name="TextBox 35"/>
          <p:cNvSpPr txBox="1"/>
          <p:nvPr/>
        </p:nvSpPr>
        <p:spPr>
          <a:xfrm>
            <a:off x="228600" y="3035808"/>
            <a:ext cx="1463040" cy="201168"/>
          </a:xfrm>
          <a:prstGeom prst="rect">
            <a:avLst/>
          </a:prstGeom>
          <a:noFill/>
        </p:spPr>
        <p:txBody>
          <a:bodyPr wrap="none">
            <a:spAutoFit/>
          </a:bodyPr>
          <a:lstStyle/>
          <a:p>
            <a:pPr algn="l"/>
            <a:r>
              <a:rPr sz="1000" b="1">
                <a:solidFill>
                  <a:srgbClr val="002754"/>
                </a:solidFill>
                <a:latin typeface="Calibri"/>
              </a:rPr>
              <a:t>Vagueness</a:t>
            </a:r>
          </a:p>
        </p:txBody>
      </p:sp>
      <p:sp>
        <p:nvSpPr>
          <p:cNvPr id="37" name="Rectangle 36"/>
          <p:cNvSpPr/>
          <p:nvPr/>
        </p:nvSpPr>
        <p:spPr>
          <a:xfrm>
            <a:off x="1783080" y="3054096"/>
            <a:ext cx="3108960" cy="256032"/>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783080" y="3054096"/>
            <a:ext cx="1057046" cy="2560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56048" y="3035808"/>
            <a:ext cx="457200" cy="201168"/>
          </a:xfrm>
          <a:prstGeom prst="rect">
            <a:avLst/>
          </a:prstGeom>
          <a:noFill/>
        </p:spPr>
        <p:txBody>
          <a:bodyPr wrap="none">
            <a:spAutoFit/>
          </a:bodyPr>
          <a:lstStyle/>
          <a:p>
            <a:pPr algn="l"/>
            <a:r>
              <a:rPr sz="900" b="1">
                <a:solidFill>
                  <a:srgbClr val="5B6472"/>
                </a:solidFill>
                <a:latin typeface="Calibri"/>
              </a:rPr>
              <a:t>0.34</a:t>
            </a:r>
          </a:p>
        </p:txBody>
      </p:sp>
      <p:sp>
        <p:nvSpPr>
          <p:cNvPr id="40" name="Rectangle 39"/>
          <p:cNvSpPr/>
          <p:nvPr/>
        </p:nvSpPr>
        <p:spPr>
          <a:xfrm>
            <a:off x="5440680" y="3054096"/>
            <a:ext cx="3108960" cy="256032"/>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40680" y="3054096"/>
            <a:ext cx="1728581" cy="256032"/>
          </a:xfrm>
          <a:prstGeom prst="rect">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13648" y="3035808"/>
            <a:ext cx="457200" cy="201168"/>
          </a:xfrm>
          <a:prstGeom prst="rect">
            <a:avLst/>
          </a:prstGeom>
          <a:noFill/>
        </p:spPr>
        <p:txBody>
          <a:bodyPr wrap="none">
            <a:spAutoFit/>
          </a:bodyPr>
          <a:lstStyle/>
          <a:p>
            <a:pPr algn="l"/>
            <a:r>
              <a:rPr sz="900" b="1">
                <a:solidFill>
                  <a:srgbClr val="1155CC"/>
                </a:solidFill>
                <a:latin typeface="Calibri"/>
              </a:rPr>
              <a:t>0.56</a:t>
            </a:r>
          </a:p>
        </p:txBody>
      </p:sp>
      <p:sp>
        <p:nvSpPr>
          <p:cNvPr id="43" name="Rounded Rectangle 42"/>
          <p:cNvSpPr/>
          <p:nvPr/>
        </p:nvSpPr>
        <p:spPr>
          <a:xfrm>
            <a:off x="228600" y="3529584"/>
            <a:ext cx="4279392" cy="914400"/>
          </a:xfrm>
          <a:prstGeom prst="roundRect">
            <a:avLst>
              <a:gd name="adj" fmla="val 12000"/>
            </a:avLst>
          </a:prstGeom>
          <a:solidFill>
            <a:srgbClr val="F2F5F9"/>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002754"/>
                </a:solidFill>
                <a:latin typeface="Calibri"/>
              </a:rPr>
              <a:t>ON 8b: ONE VILLAIN</a:t>
            </a:r>
          </a:p>
          <a:p>
            <a:pPr algn="ctr"/>
            <a:r>
              <a:rPr sz="900" b="0">
                <a:solidFill>
                  <a:srgbClr val="5B6472"/>
                </a:solidFill>
                <a:latin typeface="Calibri"/>
              </a:rPr>
              <a:t>Vagueness costs 28 points. Lexical and</a:t>
            </a:r>
          </a:p>
          <a:p>
            <a:pPr algn="ctr"/>
            <a:r>
              <a:rPr sz="900" b="0">
                <a:solidFill>
                  <a:srgbClr val="5B6472"/>
                </a:solidFill>
                <a:latin typeface="Calibri"/>
              </a:rPr>
              <a:t>Syntactic are harmless. Tax 1.71 vs ~1.0.</a:t>
            </a:r>
          </a:p>
        </p:txBody>
      </p:sp>
      <p:sp>
        <p:nvSpPr>
          <p:cNvPr id="44" name="Rounded Rectangle 43"/>
          <p:cNvSpPr/>
          <p:nvPr/>
        </p:nvSpPr>
        <p:spPr>
          <a:xfrm>
            <a:off x="4636008" y="3529584"/>
            <a:ext cx="4279392" cy="914400"/>
          </a:xfrm>
          <a:prstGeom prst="roundRect">
            <a:avLst>
              <a:gd name="adj" fmla="val 12000"/>
            </a:avLst>
          </a:prstGeom>
          <a:solidFill>
            <a:srgbClr val="F2F5F9"/>
          </a:solidFill>
          <a:ln w="13970">
            <a:solidFill>
              <a:srgbClr val="1155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1155CC"/>
                </a:solidFill>
                <a:latin typeface="Calibri"/>
              </a:rPr>
              <a:t>ON 14b: EVERY TYPE BITES</a:t>
            </a:r>
          </a:p>
          <a:p>
            <a:pPr algn="ctr"/>
            <a:r>
              <a:rPr sz="900" b="0">
                <a:solidFill>
                  <a:srgbClr val="5B6472"/>
                </a:solidFill>
                <a:latin typeface="Calibri"/>
              </a:rPr>
              <a:t>Higher baseline (0.72 vs 0.63), yet Lexical</a:t>
            </a:r>
          </a:p>
          <a:p>
            <a:pPr algn="ctr"/>
            <a:r>
              <a:rPr sz="900" b="1">
                <a:solidFill>
                  <a:srgbClr val="002754"/>
                </a:solidFill>
                <a:latin typeface="Calibri"/>
              </a:rPr>
              <a:t>goes from harmless to a 1.30 tax.</a:t>
            </a:r>
          </a:p>
        </p:txBody>
      </p:sp>
      <p:sp>
        <p:nvSpPr>
          <p:cNvPr id="45" name="Rectangle 44"/>
          <p:cNvSpPr/>
          <p:nvPr/>
        </p:nvSpPr>
        <p:spPr>
          <a:xfrm>
            <a:off x="228600" y="4535424"/>
            <a:ext cx="64008" cy="420624"/>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92608" y="4535424"/>
            <a:ext cx="8622792" cy="420624"/>
          </a:xfrm>
          <a:prstGeom prst="rect">
            <a:avLst/>
          </a:prstGeom>
          <a:solidFill>
            <a:srgbClr val="FDF7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50" b="0">
                <a:solidFill>
                  <a:srgbClr val="002754"/>
                </a:solidFill>
                <a:latin typeface="Calibri"/>
              </a:rPr>
              <a:t>A stronger model is better at the task and MORE sensitive to a single ambiguous word. Type profiles do not transfer across models.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none">
            <a:spAutoFit/>
          </a:bodyPr>
          <a:lstStyle/>
          <a:p>
            <a:r>
              <a:rPr sz="2300" b="1">
                <a:solidFill>
                  <a:srgbClr val="1155CC"/>
                </a:solidFill>
                <a:latin typeface="Lora"/>
              </a:rPr>
              <a:t>Result 3: The Novel Claim, Now Properly Powered</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none">
            <a:spAutoFit/>
          </a:bodyPr>
          <a:lstStyle/>
          <a:p>
            <a:r>
              <a:rPr sz="1150">
                <a:solidFill>
                  <a:srgbClr val="5B6472"/>
                </a:solidFill>
                <a:latin typeface="Calibri"/>
              </a:rPr>
              <a:t>Do successful runs still cost more? Only tasks solved under BOTH wordings count.</a:t>
            </a:r>
          </a:p>
        </p:txBody>
      </p:sp>
      <p:sp>
        <p:nvSpPr>
          <p:cNvPr id="6" name="Rounded Rectangle 5"/>
          <p:cNvSpPr/>
          <p:nvPr/>
        </p:nvSpPr>
        <p:spPr>
          <a:xfrm>
            <a:off x="228600" y="932688"/>
            <a:ext cx="4279392" cy="676656"/>
          </a:xfrm>
          <a:prstGeom prst="roundRect">
            <a:avLst>
              <a:gd name="adj" fmla="val 12000"/>
            </a:avLst>
          </a:prstGeom>
          <a:solidFill>
            <a:srgbClr val="FDF4E2"/>
          </a:solidFill>
          <a:ln w="13970">
            <a:solidFill>
              <a:srgbClr val="B57A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B57A00"/>
                </a:solidFill>
                <a:latin typeface="Calibri"/>
              </a:rPr>
              <a:t>THE PILOTS</a:t>
            </a:r>
          </a:p>
          <a:p>
            <a:pPr algn="ctr"/>
            <a:r>
              <a:rPr sz="950" b="0">
                <a:solidFill>
                  <a:srgbClr val="5B6472"/>
                </a:solidFill>
                <a:latin typeface="Calibri"/>
              </a:rPr>
              <a:t>8-14 paired tasks · all deltas NEGATIVE</a:t>
            </a:r>
          </a:p>
        </p:txBody>
      </p:sp>
      <p:sp>
        <p:nvSpPr>
          <p:cNvPr id="7" name="Right Arrow 6"/>
          <p:cNvSpPr/>
          <p:nvPr/>
        </p:nvSpPr>
        <p:spPr>
          <a:xfrm>
            <a:off x="4590288" y="1097280"/>
            <a:ext cx="292608" cy="347472"/>
          </a:xfrm>
          <a:prstGeom prst="rightArrow">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4336" y="932688"/>
            <a:ext cx="3941063" cy="676656"/>
          </a:xfrm>
          <a:prstGeom prst="roundRect">
            <a:avLst>
              <a:gd name="adj" fmla="val 12000"/>
            </a:avLst>
          </a:prstGeom>
          <a:solidFill>
            <a:srgbClr val="E6F2EA"/>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1E7A3C"/>
                </a:solidFill>
                <a:latin typeface="Calibri"/>
              </a:rPr>
              <a:t>THE FULL RUN</a:t>
            </a:r>
          </a:p>
          <a:p>
            <a:pPr algn="ctr"/>
            <a:r>
              <a:rPr sz="950" b="0">
                <a:solidFill>
                  <a:srgbClr val="5B6472"/>
                </a:solidFill>
                <a:latin typeface="Calibri"/>
              </a:rPr>
              <a:t>98-105 paired tasks · 3 of 4 POSITIVE</a:t>
            </a:r>
          </a:p>
        </p:txBody>
      </p:sp>
      <p:sp>
        <p:nvSpPr>
          <p:cNvPr id="9" name="TextBox 8"/>
          <p:cNvSpPr txBox="1"/>
          <p:nvPr/>
        </p:nvSpPr>
        <p:spPr>
          <a:xfrm>
            <a:off x="228600" y="1737360"/>
            <a:ext cx="8686800" cy="201168"/>
          </a:xfrm>
          <a:prstGeom prst="rect">
            <a:avLst/>
          </a:prstGeom>
          <a:noFill/>
        </p:spPr>
        <p:txBody>
          <a:bodyPr wrap="none">
            <a:spAutoFit/>
          </a:bodyPr>
          <a:lstStyle/>
          <a:p>
            <a:pPr algn="l"/>
            <a:r>
              <a:rPr sz="900" b="1">
                <a:solidFill>
                  <a:srgbClr val="1155CC"/>
                </a:solidFill>
                <a:latin typeface="Calibri"/>
              </a:rPr>
              <a:t>EXTRA TOKENS ON THE AMBIGUOUS VERSION, SUCCESSFUL RUNS ONLY</a:t>
            </a:r>
          </a:p>
        </p:txBody>
      </p:sp>
      <p:sp>
        <p:nvSpPr>
          <p:cNvPr id="10" name="Rectangle 9"/>
          <p:cNvSpPr/>
          <p:nvPr/>
        </p:nvSpPr>
        <p:spPr>
          <a:xfrm>
            <a:off x="228600" y="1956816"/>
            <a:ext cx="1636776"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1155CC"/>
                </a:solidFill>
                <a:latin typeface="Calibri"/>
              </a:rPr>
              <a:t>wording</a:t>
            </a:r>
          </a:p>
        </p:txBody>
      </p:sp>
      <p:sp>
        <p:nvSpPr>
          <p:cNvPr id="11" name="Rectangle 10"/>
          <p:cNvSpPr/>
          <p:nvPr/>
        </p:nvSpPr>
        <p:spPr>
          <a:xfrm>
            <a:off x="2002536" y="1956816"/>
            <a:ext cx="1636776"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1155CC"/>
                </a:solidFill>
                <a:latin typeface="Calibri"/>
              </a:rPr>
              <a:t>median delta</a:t>
            </a:r>
          </a:p>
        </p:txBody>
      </p:sp>
      <p:sp>
        <p:nvSpPr>
          <p:cNvPr id="12" name="Rectangle 11"/>
          <p:cNvSpPr/>
          <p:nvPr/>
        </p:nvSpPr>
        <p:spPr>
          <a:xfrm>
            <a:off x="3776472" y="1956816"/>
            <a:ext cx="1636776"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1155CC"/>
                </a:solidFill>
                <a:latin typeface="Calibri"/>
              </a:rPr>
              <a:t>n tasks</a:t>
            </a:r>
          </a:p>
        </p:txBody>
      </p:sp>
      <p:sp>
        <p:nvSpPr>
          <p:cNvPr id="13" name="Rectangle 12"/>
          <p:cNvSpPr/>
          <p:nvPr/>
        </p:nvSpPr>
        <p:spPr>
          <a:xfrm>
            <a:off x="5550408" y="1956816"/>
            <a:ext cx="1636776"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1155CC"/>
                </a:solidFill>
                <a:latin typeface="Calibri"/>
              </a:rPr>
              <a:t>raw p</a:t>
            </a:r>
          </a:p>
        </p:txBody>
      </p:sp>
      <p:sp>
        <p:nvSpPr>
          <p:cNvPr id="14" name="Rectangle 13"/>
          <p:cNvSpPr/>
          <p:nvPr/>
        </p:nvSpPr>
        <p:spPr>
          <a:xfrm>
            <a:off x="7324344" y="1956816"/>
            <a:ext cx="1636776" cy="292608"/>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850" b="1">
                <a:solidFill>
                  <a:srgbClr val="1155CC"/>
                </a:solidFill>
                <a:latin typeface="Calibri"/>
              </a:rPr>
              <a:t>after correction</a:t>
            </a:r>
          </a:p>
        </p:txBody>
      </p:sp>
      <p:sp>
        <p:nvSpPr>
          <p:cNvPr id="15" name="Rectangle 14"/>
          <p:cNvSpPr/>
          <p:nvPr/>
        </p:nvSpPr>
        <p:spPr>
          <a:xfrm>
            <a:off x="228600" y="228600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Lexical</a:t>
            </a:r>
          </a:p>
        </p:txBody>
      </p:sp>
      <p:sp>
        <p:nvSpPr>
          <p:cNvPr id="16" name="Rectangle 15"/>
          <p:cNvSpPr/>
          <p:nvPr/>
        </p:nvSpPr>
        <p:spPr>
          <a:xfrm>
            <a:off x="2002536" y="228600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1E7A3C"/>
                </a:solidFill>
                <a:latin typeface="Calibri"/>
              </a:rPr>
              <a:t>+48</a:t>
            </a:r>
          </a:p>
        </p:txBody>
      </p:sp>
      <p:sp>
        <p:nvSpPr>
          <p:cNvPr id="17" name="Rectangle 16"/>
          <p:cNvSpPr/>
          <p:nvPr/>
        </p:nvSpPr>
        <p:spPr>
          <a:xfrm>
            <a:off x="3776472" y="228600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102</a:t>
            </a:r>
          </a:p>
        </p:txBody>
      </p:sp>
      <p:sp>
        <p:nvSpPr>
          <p:cNvPr id="18" name="Rectangle 17"/>
          <p:cNvSpPr/>
          <p:nvPr/>
        </p:nvSpPr>
        <p:spPr>
          <a:xfrm>
            <a:off x="5550408" y="2286000"/>
            <a:ext cx="1636776" cy="329184"/>
          </a:xfrm>
          <a:prstGeom prst="rect">
            <a:avLst/>
          </a:prstGeom>
          <a:solidFill>
            <a:srgbClr val="E6F2EA"/>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1E7A3C"/>
                </a:solidFill>
                <a:latin typeface="Calibri"/>
              </a:rPr>
              <a:t>0.048</a:t>
            </a:r>
          </a:p>
        </p:txBody>
      </p:sp>
      <p:sp>
        <p:nvSpPr>
          <p:cNvPr id="19" name="Rectangle 18"/>
          <p:cNvSpPr/>
          <p:nvPr/>
        </p:nvSpPr>
        <p:spPr>
          <a:xfrm>
            <a:off x="7324344" y="2286000"/>
            <a:ext cx="1636776" cy="329184"/>
          </a:xfrm>
          <a:prstGeom prst="rect">
            <a:avLst/>
          </a:prstGeom>
          <a:solidFill>
            <a:srgbClr val="E3E8E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5B6472"/>
                </a:solidFill>
                <a:latin typeface="Calibri"/>
              </a:rPr>
              <a:t>0.192</a:t>
            </a:r>
          </a:p>
        </p:txBody>
      </p:sp>
      <p:sp>
        <p:nvSpPr>
          <p:cNvPr id="20" name="Rectangle 19"/>
          <p:cNvSpPr/>
          <p:nvPr/>
        </p:nvSpPr>
        <p:spPr>
          <a:xfrm>
            <a:off x="228600" y="265176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Vagueness</a:t>
            </a:r>
          </a:p>
        </p:txBody>
      </p:sp>
      <p:sp>
        <p:nvSpPr>
          <p:cNvPr id="21" name="Rectangle 20"/>
          <p:cNvSpPr/>
          <p:nvPr/>
        </p:nvSpPr>
        <p:spPr>
          <a:xfrm>
            <a:off x="2002536" y="265176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1E7A3C"/>
                </a:solidFill>
                <a:latin typeface="Calibri"/>
              </a:rPr>
              <a:t>+42</a:t>
            </a:r>
          </a:p>
        </p:txBody>
      </p:sp>
      <p:sp>
        <p:nvSpPr>
          <p:cNvPr id="22" name="Rectangle 21"/>
          <p:cNvSpPr/>
          <p:nvPr/>
        </p:nvSpPr>
        <p:spPr>
          <a:xfrm>
            <a:off x="3776472" y="265176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98</a:t>
            </a:r>
          </a:p>
        </p:txBody>
      </p:sp>
      <p:sp>
        <p:nvSpPr>
          <p:cNvPr id="23" name="Rectangle 22"/>
          <p:cNvSpPr/>
          <p:nvPr/>
        </p:nvSpPr>
        <p:spPr>
          <a:xfrm>
            <a:off x="5550408" y="265176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0.079</a:t>
            </a:r>
          </a:p>
        </p:txBody>
      </p:sp>
      <p:sp>
        <p:nvSpPr>
          <p:cNvPr id="24" name="Rectangle 23"/>
          <p:cNvSpPr/>
          <p:nvPr/>
        </p:nvSpPr>
        <p:spPr>
          <a:xfrm>
            <a:off x="7324344" y="2651760"/>
            <a:ext cx="1636776" cy="329184"/>
          </a:xfrm>
          <a:prstGeom prst="rect">
            <a:avLst/>
          </a:prstGeom>
          <a:solidFill>
            <a:srgbClr val="E3E8E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5B6472"/>
                </a:solidFill>
                <a:latin typeface="Calibri"/>
              </a:rPr>
              <a:t>0.237</a:t>
            </a:r>
          </a:p>
        </p:txBody>
      </p:sp>
      <p:sp>
        <p:nvSpPr>
          <p:cNvPr id="25" name="Rectangle 24"/>
          <p:cNvSpPr/>
          <p:nvPr/>
        </p:nvSpPr>
        <p:spPr>
          <a:xfrm>
            <a:off x="228600" y="301752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Semantic</a:t>
            </a:r>
          </a:p>
        </p:txBody>
      </p:sp>
      <p:sp>
        <p:nvSpPr>
          <p:cNvPr id="26" name="Rectangle 25"/>
          <p:cNvSpPr/>
          <p:nvPr/>
        </p:nvSpPr>
        <p:spPr>
          <a:xfrm>
            <a:off x="2002536" y="301752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1E7A3C"/>
                </a:solidFill>
                <a:latin typeface="Calibri"/>
              </a:rPr>
              <a:t>+24</a:t>
            </a:r>
          </a:p>
        </p:txBody>
      </p:sp>
      <p:sp>
        <p:nvSpPr>
          <p:cNvPr id="27" name="Rectangle 26"/>
          <p:cNvSpPr/>
          <p:nvPr/>
        </p:nvSpPr>
        <p:spPr>
          <a:xfrm>
            <a:off x="3776472" y="301752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105</a:t>
            </a:r>
          </a:p>
        </p:txBody>
      </p:sp>
      <p:sp>
        <p:nvSpPr>
          <p:cNvPr id="28" name="Rectangle 27"/>
          <p:cNvSpPr/>
          <p:nvPr/>
        </p:nvSpPr>
        <p:spPr>
          <a:xfrm>
            <a:off x="5550408" y="301752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0.172</a:t>
            </a:r>
          </a:p>
        </p:txBody>
      </p:sp>
      <p:sp>
        <p:nvSpPr>
          <p:cNvPr id="29" name="Rectangle 28"/>
          <p:cNvSpPr/>
          <p:nvPr/>
        </p:nvSpPr>
        <p:spPr>
          <a:xfrm>
            <a:off x="7324344" y="3017520"/>
            <a:ext cx="1636776" cy="329184"/>
          </a:xfrm>
          <a:prstGeom prst="rect">
            <a:avLst/>
          </a:prstGeom>
          <a:solidFill>
            <a:srgbClr val="E3E8E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5B6472"/>
                </a:solidFill>
                <a:latin typeface="Calibri"/>
              </a:rPr>
              <a:t>0.344</a:t>
            </a:r>
          </a:p>
        </p:txBody>
      </p:sp>
      <p:sp>
        <p:nvSpPr>
          <p:cNvPr id="30" name="Rectangle 29"/>
          <p:cNvSpPr/>
          <p:nvPr/>
        </p:nvSpPr>
        <p:spPr>
          <a:xfrm>
            <a:off x="228600" y="338328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Syntactic</a:t>
            </a:r>
          </a:p>
        </p:txBody>
      </p:sp>
      <p:sp>
        <p:nvSpPr>
          <p:cNvPr id="31" name="Rectangle 30"/>
          <p:cNvSpPr/>
          <p:nvPr/>
        </p:nvSpPr>
        <p:spPr>
          <a:xfrm>
            <a:off x="2002536" y="338328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5B6472"/>
                </a:solidFill>
                <a:latin typeface="Calibri"/>
              </a:rPr>
              <a:t>-1</a:t>
            </a:r>
          </a:p>
        </p:txBody>
      </p:sp>
      <p:sp>
        <p:nvSpPr>
          <p:cNvPr id="32" name="Rectangle 31"/>
          <p:cNvSpPr/>
          <p:nvPr/>
        </p:nvSpPr>
        <p:spPr>
          <a:xfrm>
            <a:off x="3776472" y="338328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105</a:t>
            </a:r>
          </a:p>
        </p:txBody>
      </p:sp>
      <p:sp>
        <p:nvSpPr>
          <p:cNvPr id="33" name="Rectangle 32"/>
          <p:cNvSpPr/>
          <p:nvPr/>
        </p:nvSpPr>
        <p:spPr>
          <a:xfrm>
            <a:off x="5550408" y="3383280"/>
            <a:ext cx="1636776" cy="329184"/>
          </a:xfrm>
          <a:prstGeom prst="rect">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0.675</a:t>
            </a:r>
          </a:p>
        </p:txBody>
      </p:sp>
      <p:sp>
        <p:nvSpPr>
          <p:cNvPr id="34" name="Rectangle 33"/>
          <p:cNvSpPr/>
          <p:nvPr/>
        </p:nvSpPr>
        <p:spPr>
          <a:xfrm>
            <a:off x="7324344" y="3383280"/>
            <a:ext cx="1636776" cy="329184"/>
          </a:xfrm>
          <a:prstGeom prst="rect">
            <a:avLst/>
          </a:prstGeom>
          <a:solidFill>
            <a:srgbClr val="E3E8E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5B6472"/>
                </a:solidFill>
                <a:latin typeface="Calibri"/>
              </a:rPr>
              <a:t>0.675</a:t>
            </a:r>
          </a:p>
        </p:txBody>
      </p:sp>
      <p:sp>
        <p:nvSpPr>
          <p:cNvPr id="35" name="Rounded Rectangle 34"/>
          <p:cNvSpPr/>
          <p:nvPr/>
        </p:nvSpPr>
        <p:spPr>
          <a:xfrm>
            <a:off x="228600" y="3840480"/>
            <a:ext cx="4279392" cy="676656"/>
          </a:xfrm>
          <a:prstGeom prst="roundRect">
            <a:avLst>
              <a:gd name="adj" fmla="val 12000"/>
            </a:avLst>
          </a:prstGeom>
          <a:solidFill>
            <a:srgbClr val="E6F2EA"/>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1E7A3C"/>
                </a:solidFill>
                <a:latin typeface="Calibri"/>
              </a:rPr>
              <a:t>THE SIGN IS NOW STABLE</a:t>
            </a:r>
          </a:p>
          <a:p>
            <a:pPr algn="ctr"/>
            <a:r>
              <a:rPr sz="900" b="0">
                <a:solidFill>
                  <a:srgbClr val="5B6472"/>
                </a:solidFill>
                <a:latin typeface="Calibri"/>
              </a:rPr>
              <a:t>Pilots said cheaper. At 8x the sample, dearer.</a:t>
            </a:r>
          </a:p>
        </p:txBody>
      </p:sp>
      <p:sp>
        <p:nvSpPr>
          <p:cNvPr id="36" name="Rounded Rectangle 35"/>
          <p:cNvSpPr/>
          <p:nvPr/>
        </p:nvSpPr>
        <p:spPr>
          <a:xfrm>
            <a:off x="4636008" y="3840480"/>
            <a:ext cx="4279392" cy="676656"/>
          </a:xfrm>
          <a:prstGeom prst="roundRect">
            <a:avLst>
              <a:gd name="adj" fmla="val 12000"/>
            </a:avLst>
          </a:prstGeom>
          <a:solidFill>
            <a:srgbClr val="FDF4E2"/>
          </a:solidFill>
          <a:ln w="13970">
            <a:solidFill>
              <a:srgbClr val="B57A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B57A00"/>
                </a:solidFill>
                <a:latin typeface="Calibri"/>
              </a:rPr>
              <a:t>BUT THE EFFECT IS SMALL</a:t>
            </a:r>
          </a:p>
          <a:p>
            <a:pPr algn="ctr"/>
            <a:r>
              <a:rPr sz="900" b="0">
                <a:solidFill>
                  <a:srgbClr val="5B6472"/>
                </a:solidFill>
                <a:latin typeface="Calibri"/>
              </a:rPr>
              <a:t>+48 tokens on ~1,700 is under 3%.</a:t>
            </a:r>
          </a:p>
        </p:txBody>
      </p:sp>
      <p:sp>
        <p:nvSpPr>
          <p:cNvPr id="37" name="Rectangle 36"/>
          <p:cNvSpPr/>
          <p:nvPr/>
        </p:nvSpPr>
        <p:spPr>
          <a:xfrm>
            <a:off x="228600" y="4626864"/>
            <a:ext cx="64008" cy="402336"/>
          </a:xfrm>
          <a:prstGeom prst="rect">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92608" y="4626864"/>
            <a:ext cx="8622792" cy="402336"/>
          </a:xfrm>
          <a:prstGeom prst="rect">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0">
                <a:solidFill>
                  <a:srgbClr val="002754"/>
                </a:solidFill>
                <a:latin typeface="Calibri"/>
              </a:rPr>
              <a:t>Honest verdict: directionally consistent, too small to establish here. Proving it needs 4-8x more paired tasks.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none">
            <a:spAutoFit/>
          </a:bodyPr>
          <a:lstStyle/>
          <a:p>
            <a:r>
              <a:rPr sz="2300" b="1">
                <a:solidFill>
                  <a:srgbClr val="1155CC"/>
                </a:solidFill>
                <a:latin typeface="Lora"/>
              </a:rPr>
              <a:t>Result 4: You Are Paying for Thinking, Not for Answers</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none">
            <a:spAutoFit/>
          </a:bodyPr>
          <a:lstStyle/>
          <a:p>
            <a:r>
              <a:rPr sz="1150">
                <a:solidFill>
                  <a:srgbClr val="5B6472"/>
                </a:solidFill>
                <a:latin typeface="Calibri"/>
              </a:rPr>
              <a:t>Holds in every condition, on both models. The most robust number in the study.</a:t>
            </a:r>
          </a:p>
        </p:txBody>
      </p:sp>
      <p:sp>
        <p:nvSpPr>
          <p:cNvPr id="6" name="Rectangle 5"/>
          <p:cNvSpPr/>
          <p:nvPr/>
        </p:nvSpPr>
        <p:spPr>
          <a:xfrm>
            <a:off x="228600" y="1005840"/>
            <a:ext cx="8284464" cy="1060704"/>
          </a:xfrm>
          <a:prstGeom prst="rect">
            <a:avLst/>
          </a:prstGeom>
          <a:solidFill>
            <a:srgbClr val="0027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REASONING</a:t>
            </a:r>
          </a:p>
          <a:p>
            <a:pPr algn="ctr"/>
            <a:r>
              <a:rPr sz="1000" b="0">
                <a:solidFill>
                  <a:srgbClr val="FFFFFF"/>
                </a:solidFill>
                <a:latin typeface="Calibri"/>
              </a:rPr>
              <a:t>8,325 characters</a:t>
            </a:r>
          </a:p>
        </p:txBody>
      </p:sp>
      <p:sp>
        <p:nvSpPr>
          <p:cNvPr id="7" name="Rectangle 6"/>
          <p:cNvSpPr/>
          <p:nvPr/>
        </p:nvSpPr>
        <p:spPr>
          <a:xfrm>
            <a:off x="8513064" y="1005840"/>
            <a:ext cx="402336" cy="1060704"/>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p>
        </p:txBody>
      </p:sp>
      <p:sp>
        <p:nvSpPr>
          <p:cNvPr id="8" name="TextBox 7"/>
          <p:cNvSpPr txBox="1"/>
          <p:nvPr/>
        </p:nvSpPr>
        <p:spPr>
          <a:xfrm>
            <a:off x="228600" y="2121408"/>
            <a:ext cx="8686800" cy="201168"/>
          </a:xfrm>
          <a:prstGeom prst="rect">
            <a:avLst/>
          </a:prstGeom>
          <a:noFill/>
        </p:spPr>
        <p:txBody>
          <a:bodyPr wrap="none">
            <a:spAutoFit/>
          </a:bodyPr>
          <a:lstStyle/>
          <a:p>
            <a:pPr algn="l"/>
            <a:r>
              <a:rPr sz="900" b="1">
                <a:solidFill>
                  <a:srgbClr val="5B6472"/>
                </a:solidFill>
                <a:latin typeface="Calibri"/>
              </a:rPr>
              <a:t>ONE TYPICAL RESPONSE, DRAWN TO SCALE — the gold sliver is the answer (454 chars)</a:t>
            </a:r>
          </a:p>
        </p:txBody>
      </p:sp>
      <p:sp>
        <p:nvSpPr>
          <p:cNvPr id="9" name="TextBox 8"/>
          <p:cNvSpPr txBox="1"/>
          <p:nvPr/>
        </p:nvSpPr>
        <p:spPr>
          <a:xfrm>
            <a:off x="228600" y="2395728"/>
            <a:ext cx="8686800" cy="201168"/>
          </a:xfrm>
          <a:prstGeom prst="rect">
            <a:avLst/>
          </a:prstGeom>
          <a:noFill/>
        </p:spPr>
        <p:txBody>
          <a:bodyPr wrap="none">
            <a:spAutoFit/>
          </a:bodyPr>
          <a:lstStyle/>
          <a:p>
            <a:pPr algn="l"/>
            <a:r>
              <a:rPr sz="900" b="1">
                <a:solidFill>
                  <a:srgbClr val="1155CC"/>
                </a:solidFill>
                <a:latin typeface="Calibri"/>
              </a:rPr>
              <a:t>REASONING SHARE BY WORDING — FLAT ACROSS THE BOARD</a:t>
            </a:r>
          </a:p>
        </p:txBody>
      </p:sp>
      <p:sp>
        <p:nvSpPr>
          <p:cNvPr id="10" name="Rounded Rectangle 9"/>
          <p:cNvSpPr/>
          <p:nvPr/>
        </p:nvSpPr>
        <p:spPr>
          <a:xfrm>
            <a:off x="228600" y="2615184"/>
            <a:ext cx="1572768" cy="640080"/>
          </a:xfrm>
          <a:prstGeom prst="roundRect">
            <a:avLst>
              <a:gd name="adj" fmla="val 12000"/>
            </a:avLst>
          </a:prstGeom>
          <a:solidFill>
            <a:srgbClr val="F2F5F9"/>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02754"/>
                </a:solidFill>
                <a:latin typeface="Calibri"/>
              </a:rPr>
              <a:t>94.8%</a:t>
            </a:r>
          </a:p>
          <a:p>
            <a:pPr algn="ctr"/>
            <a:r>
              <a:rPr sz="900" b="0">
                <a:solidFill>
                  <a:srgbClr val="5B6472"/>
                </a:solidFill>
                <a:latin typeface="Calibri"/>
              </a:rPr>
              <a:t>clear</a:t>
            </a:r>
          </a:p>
        </p:txBody>
      </p:sp>
      <p:sp>
        <p:nvSpPr>
          <p:cNvPr id="11" name="Rounded Rectangle 10"/>
          <p:cNvSpPr/>
          <p:nvPr/>
        </p:nvSpPr>
        <p:spPr>
          <a:xfrm>
            <a:off x="2002536" y="2615184"/>
            <a:ext cx="1572768" cy="640080"/>
          </a:xfrm>
          <a:prstGeom prst="roundRect">
            <a:avLst>
              <a:gd name="adj" fmla="val 12000"/>
            </a:avLst>
          </a:prstGeom>
          <a:solidFill>
            <a:srgbClr val="F2F5F9"/>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02754"/>
                </a:solidFill>
                <a:latin typeface="Calibri"/>
              </a:rPr>
              <a:t>95.8%</a:t>
            </a:r>
          </a:p>
          <a:p>
            <a:pPr algn="ctr"/>
            <a:r>
              <a:rPr sz="900" b="0">
                <a:solidFill>
                  <a:srgbClr val="5B6472"/>
                </a:solidFill>
                <a:latin typeface="Calibri"/>
              </a:rPr>
              <a:t>Lexical</a:t>
            </a:r>
          </a:p>
        </p:txBody>
      </p:sp>
      <p:sp>
        <p:nvSpPr>
          <p:cNvPr id="12" name="Rounded Rectangle 11"/>
          <p:cNvSpPr/>
          <p:nvPr/>
        </p:nvSpPr>
        <p:spPr>
          <a:xfrm>
            <a:off x="3776472" y="2615184"/>
            <a:ext cx="1572768" cy="640080"/>
          </a:xfrm>
          <a:prstGeom prst="roundRect">
            <a:avLst>
              <a:gd name="adj" fmla="val 12000"/>
            </a:avLst>
          </a:prstGeom>
          <a:solidFill>
            <a:srgbClr val="F2F5F9"/>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02754"/>
                </a:solidFill>
                <a:latin typeface="Calibri"/>
              </a:rPr>
              <a:t>95.3%</a:t>
            </a:r>
          </a:p>
          <a:p>
            <a:pPr algn="ctr"/>
            <a:r>
              <a:rPr sz="900" b="0">
                <a:solidFill>
                  <a:srgbClr val="5B6472"/>
                </a:solidFill>
                <a:latin typeface="Calibri"/>
              </a:rPr>
              <a:t>Semantic</a:t>
            </a:r>
          </a:p>
        </p:txBody>
      </p:sp>
      <p:sp>
        <p:nvSpPr>
          <p:cNvPr id="13" name="Rounded Rectangle 12"/>
          <p:cNvSpPr/>
          <p:nvPr/>
        </p:nvSpPr>
        <p:spPr>
          <a:xfrm>
            <a:off x="5550408" y="2615184"/>
            <a:ext cx="1572768" cy="640080"/>
          </a:xfrm>
          <a:prstGeom prst="roundRect">
            <a:avLst>
              <a:gd name="adj" fmla="val 12000"/>
            </a:avLst>
          </a:prstGeom>
          <a:solidFill>
            <a:srgbClr val="F2F5F9"/>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02754"/>
                </a:solidFill>
                <a:latin typeface="Calibri"/>
              </a:rPr>
              <a:t>95.3%</a:t>
            </a:r>
          </a:p>
          <a:p>
            <a:pPr algn="ctr"/>
            <a:r>
              <a:rPr sz="900" b="0">
                <a:solidFill>
                  <a:srgbClr val="5B6472"/>
                </a:solidFill>
                <a:latin typeface="Calibri"/>
              </a:rPr>
              <a:t>Syntactic</a:t>
            </a:r>
          </a:p>
        </p:txBody>
      </p:sp>
      <p:sp>
        <p:nvSpPr>
          <p:cNvPr id="14" name="Rounded Rectangle 13"/>
          <p:cNvSpPr/>
          <p:nvPr/>
        </p:nvSpPr>
        <p:spPr>
          <a:xfrm>
            <a:off x="7324344" y="2615184"/>
            <a:ext cx="1572768" cy="640080"/>
          </a:xfrm>
          <a:prstGeom prst="roundRect">
            <a:avLst>
              <a:gd name="adj" fmla="val 12000"/>
            </a:avLst>
          </a:prstGeom>
          <a:solidFill>
            <a:srgbClr val="F2F5F9"/>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02754"/>
                </a:solidFill>
                <a:latin typeface="Calibri"/>
              </a:rPr>
              <a:t>95.4%</a:t>
            </a:r>
          </a:p>
          <a:p>
            <a:pPr algn="ctr"/>
            <a:r>
              <a:rPr sz="900" b="0">
                <a:solidFill>
                  <a:srgbClr val="5B6472"/>
                </a:solidFill>
                <a:latin typeface="Calibri"/>
              </a:rPr>
              <a:t>Vagueness</a:t>
            </a:r>
          </a:p>
        </p:txBody>
      </p:sp>
      <p:sp>
        <p:nvSpPr>
          <p:cNvPr id="15" name="Rounded Rectangle 14"/>
          <p:cNvSpPr/>
          <p:nvPr/>
        </p:nvSpPr>
        <p:spPr>
          <a:xfrm>
            <a:off x="228600" y="3383280"/>
            <a:ext cx="2788920" cy="749808"/>
          </a:xfrm>
          <a:prstGeom prst="roundRect">
            <a:avLst>
              <a:gd name="adj" fmla="val 12000"/>
            </a:avLst>
          </a:prstGeom>
          <a:solidFill>
            <a:srgbClr val="FDF4E2"/>
          </a:solidFill>
          <a:ln w="13970">
            <a:solidFill>
              <a:srgbClr val="B57A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B57A00"/>
                </a:solidFill>
                <a:latin typeface="Calibri"/>
              </a:rPr>
              <a:t>SO H5 IS NOT SHOWN</a:t>
            </a:r>
          </a:p>
          <a:p>
            <a:pPr algn="ctr"/>
            <a:r>
              <a:rPr sz="850" b="0">
                <a:solidFill>
                  <a:srgbClr val="5B6472"/>
                </a:solidFill>
                <a:latin typeface="Calibri"/>
              </a:rPr>
              <a:t>Ambiguity does not shift</a:t>
            </a:r>
          </a:p>
          <a:p>
            <a:pPr algn="ctr"/>
            <a:r>
              <a:rPr sz="850" b="0">
                <a:solidFill>
                  <a:srgbClr val="5B6472"/>
                </a:solidFill>
                <a:latin typeface="Calibri"/>
              </a:rPr>
              <a:t>the reasoning balance.</a:t>
            </a:r>
          </a:p>
        </p:txBody>
      </p:sp>
      <p:sp>
        <p:nvSpPr>
          <p:cNvPr id="16" name="Rounded Rectangle 15"/>
          <p:cNvSpPr/>
          <p:nvPr/>
        </p:nvSpPr>
        <p:spPr>
          <a:xfrm>
            <a:off x="3172968" y="3383280"/>
            <a:ext cx="2788920" cy="749808"/>
          </a:xfrm>
          <a:prstGeom prst="roundRect">
            <a:avLst>
              <a:gd name="adj" fmla="val 12000"/>
            </a:avLst>
          </a:prstGeom>
          <a:solidFill>
            <a:srgbClr val="E6F2EA"/>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1E7A3C"/>
                </a:solidFill>
                <a:latin typeface="Calibri"/>
              </a:rPr>
              <a:t>BOTH MODELS AGREE</a:t>
            </a:r>
          </a:p>
          <a:p>
            <a:pPr algn="ctr"/>
            <a:r>
              <a:rPr sz="850" b="0">
                <a:solidFill>
                  <a:srgbClr val="5B6472"/>
                </a:solidFill>
                <a:latin typeface="Calibri"/>
              </a:rPr>
              <a:t>8b: 97%. 14b: 95%.</a:t>
            </a:r>
          </a:p>
          <a:p>
            <a:pPr algn="ctr"/>
            <a:r>
              <a:rPr sz="850" b="0">
                <a:solidFill>
                  <a:srgbClr val="5B6472"/>
                </a:solidFill>
                <a:latin typeface="Calibri"/>
              </a:rPr>
              <a:t>Not a quirk of one model.</a:t>
            </a:r>
          </a:p>
        </p:txBody>
      </p:sp>
      <p:sp>
        <p:nvSpPr>
          <p:cNvPr id="17" name="Rounded Rectangle 16"/>
          <p:cNvSpPr/>
          <p:nvPr/>
        </p:nvSpPr>
        <p:spPr>
          <a:xfrm>
            <a:off x="6126480" y="3383280"/>
            <a:ext cx="2788920" cy="749808"/>
          </a:xfrm>
          <a:prstGeom prst="roundRect">
            <a:avLst>
              <a:gd name="adj" fmla="val 12000"/>
            </a:avLst>
          </a:prstGeom>
          <a:solidFill>
            <a:srgbClr val="FDF7E3"/>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TOKENS = TIME</a:t>
            </a:r>
          </a:p>
          <a:p>
            <a:pPr algn="ctr"/>
            <a:r>
              <a:rPr sz="850" b="0">
                <a:solidFill>
                  <a:srgbClr val="5B6472"/>
                </a:solidFill>
                <a:latin typeface="Calibri"/>
              </a:rPr>
              <a:t>r = 0.989 between tokens</a:t>
            </a:r>
          </a:p>
          <a:p>
            <a:pPr algn="ctr"/>
            <a:r>
              <a:rPr sz="850" b="0">
                <a:solidFill>
                  <a:srgbClr val="5B6472"/>
                </a:solidFill>
                <a:latin typeface="Calibri"/>
              </a:rPr>
              <a:t>and seconds (H4).</a:t>
            </a:r>
          </a:p>
        </p:txBody>
      </p:sp>
      <p:sp>
        <p:nvSpPr>
          <p:cNvPr id="18" name="Rectangle 17"/>
          <p:cNvSpPr/>
          <p:nvPr/>
        </p:nvSpPr>
        <p:spPr>
          <a:xfrm>
            <a:off x="228600" y="4261104"/>
            <a:ext cx="64008" cy="420624"/>
          </a:xfrm>
          <a:prstGeom prst="rect">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2608" y="4261104"/>
            <a:ext cx="8622792" cy="420624"/>
          </a:xfrm>
          <a:prstGeom prst="rect">
            <a:avLst/>
          </a:prstGeom>
          <a:solidFill>
            <a:srgbClr val="FA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0">
                <a:solidFill>
                  <a:srgbClr val="002754"/>
                </a:solidFill>
                <a:latin typeface="Calibri"/>
              </a:rPr>
              <a:t>95% of every bill is reasoning the user never sees. One run reached 16,313 output tokens for a single short function.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none">
            <a:spAutoFit/>
          </a:bodyPr>
          <a:lstStyle/>
          <a:p>
            <a:r>
              <a:rPr sz="2300" b="1">
                <a:solidFill>
                  <a:srgbClr val="1155CC"/>
                </a:solidFill>
                <a:latin typeface="Lora"/>
              </a:rPr>
              <a:t>Result 5: Loaded Skills — Neutral Filler Did the Most Damage</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none">
            <a:spAutoFit/>
          </a:bodyPr>
          <a:lstStyle/>
          <a:p>
            <a:r>
              <a:rPr sz="1150">
                <a:solidFill>
                  <a:srgbClr val="5B6472"/>
                </a:solidFill>
                <a:latin typeface="Calibri"/>
              </a:rPr>
              <a:t>We tried irrelevant skills, then skills that directly contradict the task. Neither behaved as predicted.</a:t>
            </a:r>
          </a:p>
        </p:txBody>
      </p:sp>
      <p:sp>
        <p:nvSpPr>
          <p:cNvPr id="6" name="TextBox 5"/>
          <p:cNvSpPr txBox="1"/>
          <p:nvPr/>
        </p:nvSpPr>
        <p:spPr>
          <a:xfrm>
            <a:off x="228600" y="932688"/>
            <a:ext cx="8686800" cy="201168"/>
          </a:xfrm>
          <a:prstGeom prst="rect">
            <a:avLst/>
          </a:prstGeom>
          <a:noFill/>
        </p:spPr>
        <p:txBody>
          <a:bodyPr wrap="none">
            <a:spAutoFit/>
          </a:bodyPr>
          <a:lstStyle/>
          <a:p>
            <a:pPr algn="l"/>
            <a:r>
              <a:rPr sz="900" b="1">
                <a:solidFill>
                  <a:srgbClr val="1155CC"/>
                </a:solidFill>
                <a:latin typeface="Calibri"/>
              </a:rPr>
              <a:t>PASS RATE vs NO SKILL LOADED, CLEAR WORDING (paired across 20 tasks)</a:t>
            </a:r>
          </a:p>
        </p:txBody>
      </p:sp>
      <p:sp>
        <p:nvSpPr>
          <p:cNvPr id="7" name="TextBox 6"/>
          <p:cNvSpPr txBox="1"/>
          <p:nvPr/>
        </p:nvSpPr>
        <p:spPr>
          <a:xfrm>
            <a:off x="228600" y="1115568"/>
            <a:ext cx="1828800" cy="201168"/>
          </a:xfrm>
          <a:prstGeom prst="rect">
            <a:avLst/>
          </a:prstGeom>
          <a:noFill/>
        </p:spPr>
        <p:txBody>
          <a:bodyPr wrap="none">
            <a:spAutoFit/>
          </a:bodyPr>
          <a:lstStyle/>
          <a:p>
            <a:pPr algn="l"/>
            <a:r>
              <a:rPr sz="1000" b="1">
                <a:solidFill>
                  <a:srgbClr val="002754"/>
                </a:solidFill>
                <a:latin typeface="Calibri"/>
              </a:rPr>
              <a:t>no skill</a:t>
            </a:r>
          </a:p>
        </p:txBody>
      </p:sp>
      <p:sp>
        <p:nvSpPr>
          <p:cNvPr id="8" name="Rectangle 7"/>
          <p:cNvSpPr/>
          <p:nvPr/>
        </p:nvSpPr>
        <p:spPr>
          <a:xfrm>
            <a:off x="2148840" y="1133856"/>
            <a:ext cx="3749039" cy="274320"/>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48840" y="1133856"/>
            <a:ext cx="2028230" cy="274320"/>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1115568"/>
            <a:ext cx="822960" cy="201168"/>
          </a:xfrm>
          <a:prstGeom prst="rect">
            <a:avLst/>
          </a:prstGeom>
          <a:noFill/>
        </p:spPr>
        <p:txBody>
          <a:bodyPr wrap="none">
            <a:spAutoFit/>
          </a:bodyPr>
          <a:lstStyle/>
          <a:p>
            <a:pPr algn="l"/>
            <a:r>
              <a:rPr sz="1000" b="1">
                <a:solidFill>
                  <a:srgbClr val="5B6472"/>
                </a:solidFill>
                <a:latin typeface="Calibri"/>
              </a:rPr>
              <a:t>baseline</a:t>
            </a:r>
          </a:p>
        </p:txBody>
      </p:sp>
      <p:sp>
        <p:nvSpPr>
          <p:cNvPr id="11" name="TextBox 10"/>
          <p:cNvSpPr txBox="1"/>
          <p:nvPr/>
        </p:nvSpPr>
        <p:spPr>
          <a:xfrm>
            <a:off x="6949440" y="1115568"/>
            <a:ext cx="1920240" cy="201168"/>
          </a:xfrm>
          <a:prstGeom prst="rect">
            <a:avLst/>
          </a:prstGeom>
          <a:noFill/>
        </p:spPr>
        <p:txBody>
          <a:bodyPr wrap="none">
            <a:spAutoFit/>
          </a:bodyPr>
          <a:lstStyle/>
          <a:p>
            <a:pPr algn="l"/>
            <a:r>
              <a:rPr sz="900" b="0">
                <a:solidFill>
                  <a:srgbClr val="5B6472"/>
                </a:solidFill>
                <a:latin typeface="Calibri"/>
              </a:rPr>
              <a:t>—</a:t>
            </a:r>
          </a:p>
        </p:txBody>
      </p:sp>
      <p:sp>
        <p:nvSpPr>
          <p:cNvPr id="12" name="TextBox 11"/>
          <p:cNvSpPr txBox="1"/>
          <p:nvPr/>
        </p:nvSpPr>
        <p:spPr>
          <a:xfrm>
            <a:off x="228600" y="1517904"/>
            <a:ext cx="1828800" cy="201168"/>
          </a:xfrm>
          <a:prstGeom prst="rect">
            <a:avLst/>
          </a:prstGeom>
          <a:noFill/>
        </p:spPr>
        <p:txBody>
          <a:bodyPr wrap="none">
            <a:spAutoFit/>
          </a:bodyPr>
          <a:lstStyle/>
          <a:p>
            <a:pPr algn="l"/>
            <a:r>
              <a:rPr sz="1000" b="1">
                <a:solidFill>
                  <a:srgbClr val="002754"/>
                </a:solidFill>
                <a:latin typeface="Calibri"/>
              </a:rPr>
              <a:t>neutral filler</a:t>
            </a:r>
          </a:p>
        </p:txBody>
      </p:sp>
      <p:sp>
        <p:nvSpPr>
          <p:cNvPr id="13" name="Rectangle 12"/>
          <p:cNvSpPr/>
          <p:nvPr/>
        </p:nvSpPr>
        <p:spPr>
          <a:xfrm>
            <a:off x="2148840" y="1536192"/>
            <a:ext cx="3749039" cy="274320"/>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48840" y="1536192"/>
            <a:ext cx="1300916" cy="274320"/>
          </a:xfrm>
          <a:prstGeom prst="rect">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517904"/>
            <a:ext cx="822960" cy="201168"/>
          </a:xfrm>
          <a:prstGeom prst="rect">
            <a:avLst/>
          </a:prstGeom>
          <a:noFill/>
        </p:spPr>
        <p:txBody>
          <a:bodyPr wrap="none">
            <a:spAutoFit/>
          </a:bodyPr>
          <a:lstStyle/>
          <a:p>
            <a:pPr algn="l"/>
            <a:r>
              <a:rPr sz="1000" b="1">
                <a:solidFill>
                  <a:srgbClr val="B32D2D"/>
                </a:solidFill>
                <a:latin typeface="Calibri"/>
              </a:rPr>
              <a:t>-0.210</a:t>
            </a:r>
          </a:p>
        </p:txBody>
      </p:sp>
      <p:sp>
        <p:nvSpPr>
          <p:cNvPr id="16" name="TextBox 15"/>
          <p:cNvSpPr txBox="1"/>
          <p:nvPr/>
        </p:nvSpPr>
        <p:spPr>
          <a:xfrm>
            <a:off x="6949440" y="1517904"/>
            <a:ext cx="1920240" cy="201168"/>
          </a:xfrm>
          <a:prstGeom prst="rect">
            <a:avLst/>
          </a:prstGeom>
          <a:noFill/>
        </p:spPr>
        <p:txBody>
          <a:bodyPr wrap="none">
            <a:spAutoFit/>
          </a:bodyPr>
          <a:lstStyle/>
          <a:p>
            <a:pPr algn="l"/>
            <a:r>
              <a:rPr sz="900" b="0">
                <a:solidFill>
                  <a:srgbClr val="5B6472"/>
                </a:solidFill>
                <a:latin typeface="Calibri"/>
              </a:rPr>
              <a:t>p = 0.006</a:t>
            </a:r>
          </a:p>
        </p:txBody>
      </p:sp>
      <p:sp>
        <p:nvSpPr>
          <p:cNvPr id="17" name="TextBox 16"/>
          <p:cNvSpPr txBox="1"/>
          <p:nvPr/>
        </p:nvSpPr>
        <p:spPr>
          <a:xfrm>
            <a:off x="228600" y="1920240"/>
            <a:ext cx="1828800" cy="201168"/>
          </a:xfrm>
          <a:prstGeom prst="rect">
            <a:avLst/>
          </a:prstGeom>
          <a:noFill/>
        </p:spPr>
        <p:txBody>
          <a:bodyPr wrap="none">
            <a:spAutoFit/>
          </a:bodyPr>
          <a:lstStyle/>
          <a:p>
            <a:pPr algn="l"/>
            <a:r>
              <a:rPr sz="1000" b="1">
                <a:solidFill>
                  <a:srgbClr val="002754"/>
                </a:solidFill>
                <a:latin typeface="Calibri"/>
              </a:rPr>
              <a:t>halt-and-ask skill</a:t>
            </a:r>
          </a:p>
        </p:txBody>
      </p:sp>
      <p:sp>
        <p:nvSpPr>
          <p:cNvPr id="18" name="Rectangle 17"/>
          <p:cNvSpPr/>
          <p:nvPr/>
        </p:nvSpPr>
        <p:spPr>
          <a:xfrm>
            <a:off x="2148840" y="1938528"/>
            <a:ext cx="3749039" cy="274320"/>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48840" y="1938528"/>
            <a:ext cx="1285920" cy="274320"/>
          </a:xfrm>
          <a:prstGeom prst="rect">
            <a:avLst/>
          </a:prstGeom>
          <a:solidFill>
            <a:srgbClr val="B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1920240"/>
            <a:ext cx="822960" cy="201168"/>
          </a:xfrm>
          <a:prstGeom prst="rect">
            <a:avLst/>
          </a:prstGeom>
          <a:noFill/>
        </p:spPr>
        <p:txBody>
          <a:bodyPr wrap="none">
            <a:spAutoFit/>
          </a:bodyPr>
          <a:lstStyle/>
          <a:p>
            <a:pPr algn="l"/>
            <a:r>
              <a:rPr sz="1000" b="1">
                <a:solidFill>
                  <a:srgbClr val="B32D2D"/>
                </a:solidFill>
                <a:latin typeface="Calibri"/>
              </a:rPr>
              <a:t>-0.195</a:t>
            </a:r>
          </a:p>
        </p:txBody>
      </p:sp>
      <p:sp>
        <p:nvSpPr>
          <p:cNvPr id="21" name="TextBox 20"/>
          <p:cNvSpPr txBox="1"/>
          <p:nvPr/>
        </p:nvSpPr>
        <p:spPr>
          <a:xfrm>
            <a:off x="6949440" y="1920240"/>
            <a:ext cx="1920240" cy="201168"/>
          </a:xfrm>
          <a:prstGeom prst="rect">
            <a:avLst/>
          </a:prstGeom>
          <a:noFill/>
        </p:spPr>
        <p:txBody>
          <a:bodyPr wrap="none">
            <a:spAutoFit/>
          </a:bodyPr>
          <a:lstStyle/>
          <a:p>
            <a:pPr algn="l"/>
            <a:r>
              <a:rPr sz="900" b="0">
                <a:solidFill>
                  <a:srgbClr val="5B6472"/>
                </a:solidFill>
                <a:latin typeface="Calibri"/>
              </a:rPr>
              <a:t>p = 0.011</a:t>
            </a:r>
          </a:p>
        </p:txBody>
      </p:sp>
      <p:sp>
        <p:nvSpPr>
          <p:cNvPr id="22" name="TextBox 21"/>
          <p:cNvSpPr txBox="1"/>
          <p:nvPr/>
        </p:nvSpPr>
        <p:spPr>
          <a:xfrm>
            <a:off x="228600" y="2322576"/>
            <a:ext cx="1828800" cy="201168"/>
          </a:xfrm>
          <a:prstGeom prst="rect">
            <a:avLst/>
          </a:prstGeom>
          <a:noFill/>
        </p:spPr>
        <p:txBody>
          <a:bodyPr wrap="none">
            <a:spAutoFit/>
          </a:bodyPr>
          <a:lstStyle/>
          <a:p>
            <a:pPr algn="l"/>
            <a:r>
              <a:rPr sz="1000" b="1">
                <a:solidFill>
                  <a:srgbClr val="002754"/>
                </a:solidFill>
                <a:latin typeface="Calibri"/>
              </a:rPr>
              <a:t>planning skill</a:t>
            </a:r>
          </a:p>
        </p:txBody>
      </p:sp>
      <p:sp>
        <p:nvSpPr>
          <p:cNvPr id="23" name="Rectangle 22"/>
          <p:cNvSpPr/>
          <p:nvPr/>
        </p:nvSpPr>
        <p:spPr>
          <a:xfrm>
            <a:off x="2148840" y="2340864"/>
            <a:ext cx="3749039" cy="274320"/>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48840" y="2340864"/>
            <a:ext cx="1724558" cy="274320"/>
          </a:xfrm>
          <a:prstGeom prst="rect">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89320" y="2322576"/>
            <a:ext cx="822960" cy="201168"/>
          </a:xfrm>
          <a:prstGeom prst="rect">
            <a:avLst/>
          </a:prstGeom>
          <a:noFill/>
        </p:spPr>
        <p:txBody>
          <a:bodyPr wrap="none">
            <a:spAutoFit/>
          </a:bodyPr>
          <a:lstStyle/>
          <a:p>
            <a:pPr algn="l"/>
            <a:r>
              <a:rPr sz="1000" b="1">
                <a:solidFill>
                  <a:srgbClr val="B57A00"/>
                </a:solidFill>
                <a:latin typeface="Calibri"/>
              </a:rPr>
              <a:t>-0.085</a:t>
            </a:r>
          </a:p>
        </p:txBody>
      </p:sp>
      <p:sp>
        <p:nvSpPr>
          <p:cNvPr id="26" name="TextBox 25"/>
          <p:cNvSpPr txBox="1"/>
          <p:nvPr/>
        </p:nvSpPr>
        <p:spPr>
          <a:xfrm>
            <a:off x="6949440" y="2322576"/>
            <a:ext cx="1920240" cy="201168"/>
          </a:xfrm>
          <a:prstGeom prst="rect">
            <a:avLst/>
          </a:prstGeom>
          <a:noFill/>
        </p:spPr>
        <p:txBody>
          <a:bodyPr wrap="none">
            <a:spAutoFit/>
          </a:bodyPr>
          <a:lstStyle/>
          <a:p>
            <a:pPr algn="l"/>
            <a:r>
              <a:rPr sz="900" b="0">
                <a:solidFill>
                  <a:srgbClr val="5B6472"/>
                </a:solidFill>
                <a:latin typeface="Calibri"/>
              </a:rPr>
              <a:t>p = 0.241</a:t>
            </a:r>
          </a:p>
        </p:txBody>
      </p:sp>
      <p:sp>
        <p:nvSpPr>
          <p:cNvPr id="27" name="TextBox 26"/>
          <p:cNvSpPr txBox="1"/>
          <p:nvPr/>
        </p:nvSpPr>
        <p:spPr>
          <a:xfrm>
            <a:off x="228600" y="2724912"/>
            <a:ext cx="1828800" cy="201168"/>
          </a:xfrm>
          <a:prstGeom prst="rect">
            <a:avLst/>
          </a:prstGeom>
          <a:noFill/>
        </p:spPr>
        <p:txBody>
          <a:bodyPr wrap="none">
            <a:spAutoFit/>
          </a:bodyPr>
          <a:lstStyle/>
          <a:p>
            <a:pPr algn="l"/>
            <a:r>
              <a:rPr sz="1000" b="1">
                <a:solidFill>
                  <a:srgbClr val="002754"/>
                </a:solidFill>
                <a:latin typeface="Calibri"/>
              </a:rPr>
              <a:t>coding skill</a:t>
            </a:r>
          </a:p>
        </p:txBody>
      </p:sp>
      <p:sp>
        <p:nvSpPr>
          <p:cNvPr id="28" name="Rectangle 27"/>
          <p:cNvSpPr/>
          <p:nvPr/>
        </p:nvSpPr>
        <p:spPr>
          <a:xfrm>
            <a:off x="2148840" y="2743200"/>
            <a:ext cx="3749039" cy="274320"/>
          </a:xfrm>
          <a:prstGeom prst="rect">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148840" y="2743200"/>
            <a:ext cx="1953249" cy="274320"/>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89320" y="2724912"/>
            <a:ext cx="822960" cy="201168"/>
          </a:xfrm>
          <a:prstGeom prst="rect">
            <a:avLst/>
          </a:prstGeom>
          <a:noFill/>
        </p:spPr>
        <p:txBody>
          <a:bodyPr wrap="none">
            <a:spAutoFit/>
          </a:bodyPr>
          <a:lstStyle/>
          <a:p>
            <a:pPr algn="l"/>
            <a:r>
              <a:rPr sz="1000" b="1">
                <a:solidFill>
                  <a:srgbClr val="1E7A3C"/>
                </a:solidFill>
                <a:latin typeface="Calibri"/>
              </a:rPr>
              <a:t>-0.030</a:t>
            </a:r>
          </a:p>
        </p:txBody>
      </p:sp>
      <p:sp>
        <p:nvSpPr>
          <p:cNvPr id="31" name="TextBox 30"/>
          <p:cNvSpPr txBox="1"/>
          <p:nvPr/>
        </p:nvSpPr>
        <p:spPr>
          <a:xfrm>
            <a:off x="6949440" y="2724912"/>
            <a:ext cx="1920240" cy="201168"/>
          </a:xfrm>
          <a:prstGeom prst="rect">
            <a:avLst/>
          </a:prstGeom>
          <a:noFill/>
        </p:spPr>
        <p:txBody>
          <a:bodyPr wrap="none">
            <a:spAutoFit/>
          </a:bodyPr>
          <a:lstStyle/>
          <a:p>
            <a:pPr algn="l"/>
            <a:r>
              <a:rPr sz="900" b="0">
                <a:solidFill>
                  <a:srgbClr val="5B6472"/>
                </a:solidFill>
                <a:latin typeface="Calibri"/>
              </a:rPr>
              <a:t>p = 0.499</a:t>
            </a:r>
          </a:p>
        </p:txBody>
      </p:sp>
      <p:sp>
        <p:nvSpPr>
          <p:cNvPr id="32" name="Rounded Rectangle 31"/>
          <p:cNvSpPr/>
          <p:nvPr/>
        </p:nvSpPr>
        <p:spPr>
          <a:xfrm>
            <a:off x="228600" y="3108960"/>
            <a:ext cx="2788920" cy="877824"/>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5B6472"/>
                </a:solidFill>
                <a:latin typeface="Calibri"/>
              </a:rPr>
              <a:t>PREDICTED</a:t>
            </a:r>
          </a:p>
          <a:p>
            <a:pPr algn="ctr"/>
            <a:r>
              <a:rPr sz="850" b="0">
                <a:solidFill>
                  <a:srgbClr val="5B6472"/>
                </a:solidFill>
                <a:latin typeface="Calibri"/>
              </a:rPr>
              <a:t>wrong skill breaks the task,</a:t>
            </a:r>
          </a:p>
          <a:p>
            <a:pPr algn="ctr"/>
            <a:r>
              <a:rPr sz="850" b="0">
                <a:solidFill>
                  <a:srgbClr val="5B6472"/>
                </a:solidFill>
                <a:latin typeface="Calibri"/>
              </a:rPr>
              <a:t>model stops and asks</a:t>
            </a:r>
          </a:p>
        </p:txBody>
      </p:sp>
      <p:sp>
        <p:nvSpPr>
          <p:cNvPr id="33" name="Rounded Rectangle 32"/>
          <p:cNvSpPr/>
          <p:nvPr/>
        </p:nvSpPr>
        <p:spPr>
          <a:xfrm>
            <a:off x="3172968" y="3108960"/>
            <a:ext cx="2788920" cy="877824"/>
          </a:xfrm>
          <a:prstGeom prst="roundRect">
            <a:avLst>
              <a:gd name="adj" fmla="val 12000"/>
            </a:avLst>
          </a:prstGeom>
          <a:solidFill>
            <a:srgbClr val="FAEAEA"/>
          </a:solidFill>
          <a:ln w="13970">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B32D2D"/>
                </a:solidFill>
                <a:latin typeface="Calibri"/>
              </a:rPr>
              <a:t>OBSERVED</a:t>
            </a:r>
          </a:p>
          <a:p>
            <a:pPr algn="ctr"/>
            <a:r>
              <a:rPr sz="850" b="0">
                <a:solidFill>
                  <a:srgbClr val="5B6472"/>
                </a:solidFill>
                <a:latin typeface="Calibri"/>
              </a:rPr>
              <a:t>0 of 489 runs ever asked,</a:t>
            </a:r>
          </a:p>
          <a:p>
            <a:pPr algn="ctr"/>
            <a:r>
              <a:rPr sz="850" b="1">
                <a:solidFill>
                  <a:srgbClr val="002754"/>
                </a:solidFill>
                <a:latin typeface="Calibri"/>
              </a:rPr>
              <a:t>even when told to wait</a:t>
            </a:r>
          </a:p>
        </p:txBody>
      </p:sp>
      <p:sp>
        <p:nvSpPr>
          <p:cNvPr id="34" name="Rounded Rectangle 33"/>
          <p:cNvSpPr/>
          <p:nvPr/>
        </p:nvSpPr>
        <p:spPr>
          <a:xfrm>
            <a:off x="6126480" y="3108960"/>
            <a:ext cx="2788920" cy="877824"/>
          </a:xfrm>
          <a:prstGeom prst="roundRect">
            <a:avLst>
              <a:gd name="adj" fmla="val 12000"/>
            </a:avLst>
          </a:prstGeom>
          <a:solidFill>
            <a:srgbClr val="FDF7E3"/>
          </a:solidFill>
          <a:ln w="13970">
            <a:solidFill>
              <a:srgbClr val="DAAA0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a:solidFill>
                  <a:srgbClr val="002754"/>
                </a:solidFill>
                <a:latin typeface="Calibri"/>
              </a:rPr>
              <a:t>THE REAL PATTERN</a:t>
            </a:r>
          </a:p>
          <a:p>
            <a:pPr algn="ctr"/>
            <a:r>
              <a:rPr sz="850" b="0">
                <a:solidFill>
                  <a:srgbClr val="5B6472"/>
                </a:solidFill>
                <a:latin typeface="Calibri"/>
              </a:rPr>
              <a:t>irrelevant prose hurts most;</a:t>
            </a:r>
          </a:p>
          <a:p>
            <a:pPr algn="ctr"/>
            <a:r>
              <a:rPr sz="850" b="1">
                <a:solidFill>
                  <a:srgbClr val="002754"/>
                </a:solidFill>
                <a:latin typeface="Calibri"/>
              </a:rPr>
              <a:t>coding directives hurt least</a:t>
            </a:r>
          </a:p>
        </p:txBody>
      </p:sp>
      <p:sp>
        <p:nvSpPr>
          <p:cNvPr id="35" name="Rectangle 34"/>
          <p:cNvSpPr/>
          <p:nvPr/>
        </p:nvSpPr>
        <p:spPr>
          <a:xfrm>
            <a:off x="228600" y="4133087"/>
            <a:ext cx="64008" cy="457200"/>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92608" y="4133087"/>
            <a:ext cx="8622792" cy="457200"/>
          </a:xfrm>
          <a:prstGeom prst="rect">
            <a:avLst/>
          </a:prstGeom>
          <a:solidFill>
            <a:srgbClr val="FDF7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50" b="0">
                <a:solidFill>
                  <a:srgbClr val="002754"/>
                </a:solidFill>
                <a:latin typeface="Calibri"/>
              </a:rPr>
              <a:t>It is not misalignment and not contradiction. Any irrelevant material in the system prompt degrades the work, and only when the output format is loose enough to let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none">
            <a:spAutoFit/>
          </a:bodyPr>
          <a:lstStyle/>
          <a:p>
            <a:r>
              <a:rPr sz="2300" b="1">
                <a:solidFill>
                  <a:srgbClr val="1155CC"/>
                </a:solidFill>
                <a:latin typeface="Lora"/>
              </a:rPr>
              <a:t>A Side Finding: The Benchmark Itself Has Bugs</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none">
            <a:spAutoFit/>
          </a:bodyPr>
          <a:lstStyle/>
          <a:p>
            <a:r>
              <a:rPr sz="1150">
                <a:solidFill>
                  <a:srgbClr val="5B6472"/>
                </a:solidFill>
                <a:latin typeface="Calibri"/>
              </a:rPr>
              <a:t>Found while validating the harness, in a published, peer-reviewed dataset.</a:t>
            </a:r>
          </a:p>
        </p:txBody>
      </p:sp>
      <p:sp>
        <p:nvSpPr>
          <p:cNvPr id="6" name="Rounded Rectangle 5"/>
          <p:cNvSpPr/>
          <p:nvPr/>
        </p:nvSpPr>
        <p:spPr>
          <a:xfrm>
            <a:off x="228600" y="1005840"/>
            <a:ext cx="4279392" cy="1645920"/>
          </a:xfrm>
          <a:prstGeom prst="roundRect">
            <a:avLst>
              <a:gd name="adj" fmla="val 12000"/>
            </a:avLst>
          </a:prstGeom>
          <a:solidFill>
            <a:srgbClr val="FAEAEA"/>
          </a:solidFill>
          <a:ln w="13970">
            <a:solidFill>
              <a:srgbClr val="B32D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200" b="1">
                <a:solidFill>
                  <a:srgbClr val="B32D2D"/>
                </a:solidFill>
                <a:latin typeface="Calibri"/>
              </a:rPr>
              <a:t>3 SWAPPED PROBLEMS</a:t>
            </a:r>
          </a:p>
          <a:p>
            <a:pPr algn="l"/>
          </a:p>
          <a:p>
            <a:pPr algn="l"/>
            <a:r>
              <a:rPr sz="950" b="0">
                <a:solidFill>
                  <a:srgbClr val="5B6472"/>
                </a:solidFill>
                <a:latin typeface="Calibri"/>
              </a:rPr>
              <a:t>Task 24's "ambiguous" version is actually</a:t>
            </a:r>
          </a:p>
          <a:p>
            <a:pPr algn="l"/>
            <a:r>
              <a:rPr sz="950" b="0">
                <a:solidFill>
                  <a:srgbClr val="5B6472"/>
                </a:solidFill>
                <a:latin typeface="Calibri"/>
              </a:rPr>
              <a:t>task 25's problem. 25 holds 26's. 26 holds 24's.</a:t>
            </a:r>
          </a:p>
          <a:p>
            <a:pPr algn="l"/>
          </a:p>
          <a:p>
            <a:pPr algn="l"/>
            <a:r>
              <a:rPr sz="950" b="0">
                <a:solidFill>
                  <a:srgbClr val="5B6472"/>
                </a:solidFill>
                <a:latin typeface="Calibri"/>
              </a:rPr>
              <a:t>They are graded against the original tests, so</a:t>
            </a:r>
          </a:p>
          <a:p>
            <a:pPr algn="l"/>
            <a:r>
              <a:rPr sz="950" b="1">
                <a:solidFill>
                  <a:srgbClr val="002754"/>
                </a:solidFill>
                <a:latin typeface="Calibri"/>
              </a:rPr>
              <a:t>they can never pass: guaranteed failures with</a:t>
            </a:r>
          </a:p>
          <a:p>
            <a:pPr algn="l"/>
            <a:r>
              <a:rPr sz="950" b="1">
                <a:solidFill>
                  <a:srgbClr val="002754"/>
                </a:solidFill>
                <a:latin typeface="Calibri"/>
              </a:rPr>
              <a:t>nothing to do with ambiguity.</a:t>
            </a:r>
          </a:p>
        </p:txBody>
      </p:sp>
      <p:sp>
        <p:nvSpPr>
          <p:cNvPr id="7" name="Rounded Rectangle 6"/>
          <p:cNvSpPr/>
          <p:nvPr/>
        </p:nvSpPr>
        <p:spPr>
          <a:xfrm>
            <a:off x="4636008" y="1005840"/>
            <a:ext cx="4279392" cy="1645920"/>
          </a:xfrm>
          <a:prstGeom prst="roundRect">
            <a:avLst>
              <a:gd name="adj" fmla="val 12000"/>
            </a:avLst>
          </a:prstGeom>
          <a:solidFill>
            <a:srgbClr val="FDF4E2"/>
          </a:solidFill>
          <a:ln w="13970">
            <a:solidFill>
              <a:srgbClr val="B57A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200" b="1">
                <a:solidFill>
                  <a:srgbClr val="B57A00"/>
                </a:solidFill>
                <a:latin typeface="Calibri"/>
              </a:rPr>
              <a:t>27 NON-EDITS</a:t>
            </a:r>
          </a:p>
          <a:p>
            <a:pPr algn="l"/>
          </a:p>
          <a:p>
            <a:pPr algn="l"/>
            <a:r>
              <a:rPr sz="950" b="0">
                <a:solidFill>
                  <a:srgbClr val="5B6472"/>
                </a:solidFill>
                <a:latin typeface="Calibri"/>
              </a:rPr>
              <a:t>27 "ambiguous" prompts are character-for-</a:t>
            </a:r>
          </a:p>
          <a:p>
            <a:pPr algn="l"/>
            <a:r>
              <a:rPr sz="950" b="0">
                <a:solidFill>
                  <a:srgbClr val="5B6472"/>
                </a:solidFill>
                <a:latin typeface="Calibri"/>
              </a:rPr>
              <a:t>character identical to the clear one.</a:t>
            </a:r>
          </a:p>
          <a:p>
            <a:pPr algn="l"/>
          </a:p>
          <a:p>
            <a:pPr algn="l"/>
            <a:r>
              <a:rPr sz="950" b="0">
                <a:solidFill>
                  <a:srgbClr val="5B6472"/>
                </a:solidFill>
                <a:latin typeface="Calibri"/>
              </a:rPr>
              <a:t>The injection did nothing, which drags the</a:t>
            </a:r>
          </a:p>
          <a:p>
            <a:pPr algn="l"/>
            <a:r>
              <a:rPr sz="950" b="1">
                <a:solidFill>
                  <a:srgbClr val="002754"/>
                </a:solidFill>
                <a:latin typeface="Calibri"/>
              </a:rPr>
              <a:t>measured effect toward zero.</a:t>
            </a:r>
          </a:p>
        </p:txBody>
      </p:sp>
      <p:sp>
        <p:nvSpPr>
          <p:cNvPr id="8" name="Rounded Rectangle 7"/>
          <p:cNvSpPr/>
          <p:nvPr/>
        </p:nvSpPr>
        <p:spPr>
          <a:xfrm>
            <a:off x="228600" y="2798064"/>
            <a:ext cx="8686800" cy="585216"/>
          </a:xfrm>
          <a:prstGeom prst="roundRect">
            <a:avLst>
              <a:gd name="adj" fmla="val 12000"/>
            </a:avLst>
          </a:prstGeom>
          <a:solidFill>
            <a:srgbClr val="F2F5F9"/>
          </a:solidFill>
          <a:ln w="13970">
            <a:solidFill>
              <a:srgbClr val="00275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2754"/>
                </a:solidFill>
                <a:latin typeface="Calibri"/>
              </a:rPr>
              <a:t>Both are excluded automatically, and the counts print at the start of every run.</a:t>
            </a:r>
          </a:p>
        </p:txBody>
      </p:sp>
      <p:sp>
        <p:nvSpPr>
          <p:cNvPr id="9" name="Rectangle 8"/>
          <p:cNvSpPr/>
          <p:nvPr/>
        </p:nvSpPr>
        <p:spPr>
          <a:xfrm>
            <a:off x="228600" y="3529584"/>
            <a:ext cx="64008" cy="457200"/>
          </a:xfrm>
          <a:prstGeom prst="rect">
            <a:avLst/>
          </a:prstGeom>
          <a:solidFill>
            <a:srgbClr val="DAAA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 y="3529584"/>
            <a:ext cx="8622792" cy="457200"/>
          </a:xfrm>
          <a:prstGeom prst="rect">
            <a:avLst/>
          </a:prstGeom>
          <a:solidFill>
            <a:srgbClr val="FDF7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50" b="0">
                <a:solidFill>
                  <a:srgbClr val="002754"/>
                </a:solidFill>
                <a:latin typeface="Calibri"/>
              </a:rPr>
              <a:t>Anyone benchmarking on this dataset without the exclusions is measuring dataset bugs alongside ambiguity. This is worth reporting on its own.</a:t>
            </a:r>
          </a:p>
        </p:txBody>
      </p:sp>
      <p:sp>
        <p:nvSpPr>
          <p:cNvPr id="11" name="Rounded Rectangle 10"/>
          <p:cNvSpPr/>
          <p:nvPr/>
        </p:nvSpPr>
        <p:spPr>
          <a:xfrm>
            <a:off x="228600" y="4169663"/>
            <a:ext cx="8686800" cy="640080"/>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1155CC"/>
                </a:solidFill>
                <a:latin typeface="Calibri"/>
              </a:rPr>
              <a:t>Detection is mechanical: does the variant still define the same function the tests call?</a:t>
            </a:r>
          </a:p>
          <a:p>
            <a:pPr algn="ctr"/>
            <a:r>
              <a:rPr sz="850" b="0">
                <a:solidFill>
                  <a:srgbClr val="5B6472"/>
                </a:solidFill>
                <a:latin typeface="Calibri"/>
              </a:rPr>
              <a:t>A first pass flagged 19 — helper functions defined before the target. Checking every def, not the first, gives exactly 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118872"/>
            <a:ext cx="8686800" cy="429768"/>
          </a:xfrm>
          <a:prstGeom prst="rect">
            <a:avLst/>
          </a:prstGeom>
          <a:noFill/>
        </p:spPr>
        <p:txBody>
          <a:bodyPr wrap="none">
            <a:spAutoFit/>
          </a:bodyPr>
          <a:lstStyle/>
          <a:p>
            <a:r>
              <a:rPr sz="2300" b="1">
                <a:solidFill>
                  <a:srgbClr val="1155CC"/>
                </a:solidFill>
                <a:latin typeface="Lora"/>
              </a:rPr>
              <a:t>Where This Goes Next</a:t>
            </a:r>
          </a:p>
        </p:txBody>
      </p:sp>
      <p:cxnSp>
        <p:nvCxnSpPr>
          <p:cNvPr id="3" name="Connector 2"/>
          <p:cNvCxnSpPr/>
          <p:nvPr/>
        </p:nvCxnSpPr>
        <p:spPr>
          <a:xfrm>
            <a:off x="228600" y="594360"/>
            <a:ext cx="8686800" cy="0"/>
          </a:xfrm>
          <a:prstGeom prst="line">
            <a:avLst/>
          </a:prstGeom>
          <a:ln w="19050">
            <a:solidFill>
              <a:srgbClr val="003BA3"/>
            </a:solidFill>
          </a:ln>
        </p:spPr>
        <p:style>
          <a:lnRef idx="2">
            <a:schemeClr val="accent1"/>
          </a:lnRef>
          <a:fillRef idx="0">
            <a:schemeClr val="accent1"/>
          </a:fillRef>
          <a:effectRef idx="1">
            <a:schemeClr val="accent1"/>
          </a:effectRef>
          <a:fontRef idx="minor">
            <a:schemeClr val="tx1"/>
          </a:fontRef>
        </p:style>
      </p:cxnSp>
      <p:pic>
        <p:nvPicPr>
          <p:cNvPr id="4" name="Picture 3" descr="image.png"/>
          <p:cNvPicPr>
            <a:picLocks noChangeAspect="1"/>
          </p:cNvPicPr>
          <p:nvPr/>
        </p:nvPicPr>
        <p:blipFill>
          <a:blip r:embed="rId2"/>
          <a:stretch>
            <a:fillRect/>
          </a:stretch>
        </p:blipFill>
        <p:spPr>
          <a:xfrm>
            <a:off x="8558784" y="91440"/>
            <a:ext cx="356616" cy="356616"/>
          </a:xfrm>
          <a:prstGeom prst="rect">
            <a:avLst/>
          </a:prstGeom>
        </p:spPr>
      </p:pic>
      <p:sp>
        <p:nvSpPr>
          <p:cNvPr id="5" name="TextBox 4"/>
          <p:cNvSpPr txBox="1"/>
          <p:nvPr/>
        </p:nvSpPr>
        <p:spPr>
          <a:xfrm>
            <a:off x="228600" y="640080"/>
            <a:ext cx="8686800" cy="237744"/>
          </a:xfrm>
          <a:prstGeom prst="rect">
            <a:avLst/>
          </a:prstGeom>
          <a:noFill/>
        </p:spPr>
        <p:txBody>
          <a:bodyPr wrap="none">
            <a:spAutoFit/>
          </a:bodyPr>
          <a:lstStyle/>
          <a:p>
            <a:r>
              <a:rPr sz="1150">
                <a:solidFill>
                  <a:srgbClr val="5B6472"/>
                </a:solidFill>
                <a:latin typeface="Calibri"/>
              </a:rPr>
              <a:t>Four of eight hypotheses failed or stalled. That changes the plan, not the project.</a:t>
            </a:r>
          </a:p>
        </p:txBody>
      </p:sp>
      <p:sp>
        <p:nvSpPr>
          <p:cNvPr id="6" name="Rounded Rectangle 5"/>
          <p:cNvSpPr/>
          <p:nvPr/>
        </p:nvSpPr>
        <p:spPr>
          <a:xfrm>
            <a:off x="228600" y="969264"/>
            <a:ext cx="530352" cy="676656"/>
          </a:xfrm>
          <a:prstGeom prst="roundRect">
            <a:avLst>
              <a:gd name="adj" fmla="val 12000"/>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1</a:t>
            </a:r>
          </a:p>
        </p:txBody>
      </p:sp>
      <p:sp>
        <p:nvSpPr>
          <p:cNvPr id="7" name="Rounded Rectangle 6"/>
          <p:cNvSpPr/>
          <p:nvPr/>
        </p:nvSpPr>
        <p:spPr>
          <a:xfrm>
            <a:off x="813816" y="969264"/>
            <a:ext cx="8101583" cy="676656"/>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a:solidFill>
                  <a:srgbClr val="002754"/>
                </a:solidFill>
                <a:latin typeface="Calibri"/>
              </a:rPr>
              <a:t>Add a non-reasoning model</a:t>
            </a:r>
          </a:p>
          <a:p>
            <a:pPr algn="l"/>
            <a:r>
              <a:rPr sz="850" b="0">
                <a:solidFill>
                  <a:srgbClr val="5B6472"/>
                </a:solidFill>
                <a:latin typeface="Calibri"/>
              </a:rPr>
              <a:t>95% of spend is reasoning. qwen3:30b-instruct emits 89 tokens where these emit 2,400. Under an hour to run.</a:t>
            </a:r>
          </a:p>
        </p:txBody>
      </p:sp>
      <p:sp>
        <p:nvSpPr>
          <p:cNvPr id="8" name="Rounded Rectangle 7"/>
          <p:cNvSpPr/>
          <p:nvPr/>
        </p:nvSpPr>
        <p:spPr>
          <a:xfrm>
            <a:off x="228600" y="1737360"/>
            <a:ext cx="530352" cy="676656"/>
          </a:xfrm>
          <a:prstGeom prst="roundRect">
            <a:avLst>
              <a:gd name="adj" fmla="val 12000"/>
            </a:avLst>
          </a:prstGeom>
          <a:solidFill>
            <a:srgbClr val="115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2</a:t>
            </a:r>
          </a:p>
        </p:txBody>
      </p:sp>
      <p:sp>
        <p:nvSpPr>
          <p:cNvPr id="9" name="Rounded Rectangle 8"/>
          <p:cNvSpPr/>
          <p:nvPr/>
        </p:nvSpPr>
        <p:spPr>
          <a:xfrm>
            <a:off x="813816" y="1737360"/>
            <a:ext cx="8101583" cy="676656"/>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a:solidFill>
                  <a:srgbClr val="002754"/>
                </a:solidFill>
                <a:latin typeface="Calibri"/>
              </a:rPr>
              <a:t>Take H3 to a bigger task set</a:t>
            </a:r>
          </a:p>
          <a:p>
            <a:pPr algn="l"/>
            <a:r>
              <a:rPr sz="850" b="0">
                <a:solidFill>
                  <a:srgbClr val="5B6472"/>
                </a:solidFill>
                <a:latin typeface="Calibri"/>
              </a:rPr>
              <a:t>The sign is stable and the effect is ~3%. Orchid-BCB-Expand's 976 rows would give the power to settle it.</a:t>
            </a:r>
          </a:p>
        </p:txBody>
      </p:sp>
      <p:sp>
        <p:nvSpPr>
          <p:cNvPr id="10" name="Rounded Rectangle 9"/>
          <p:cNvSpPr/>
          <p:nvPr/>
        </p:nvSpPr>
        <p:spPr>
          <a:xfrm>
            <a:off x="228600" y="2505456"/>
            <a:ext cx="530352" cy="676656"/>
          </a:xfrm>
          <a:prstGeom prst="roundRect">
            <a:avLst>
              <a:gd name="adj" fmla="val 12000"/>
            </a:avLst>
          </a:prstGeom>
          <a:solidFill>
            <a:srgbClr val="B57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3</a:t>
            </a:r>
          </a:p>
        </p:txBody>
      </p:sp>
      <p:sp>
        <p:nvSpPr>
          <p:cNvPr id="11" name="Rounded Rectangle 10"/>
          <p:cNvSpPr/>
          <p:nvPr/>
        </p:nvSpPr>
        <p:spPr>
          <a:xfrm>
            <a:off x="813816" y="2505456"/>
            <a:ext cx="8101583" cy="676656"/>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a:solidFill>
                  <a:srgbClr val="002754"/>
                </a:solidFill>
                <a:latin typeface="Calibri"/>
              </a:rPr>
              <a:t>Re-test dose-response within task</a:t>
            </a:r>
          </a:p>
          <a:p>
            <a:pPr algn="l"/>
            <a:r>
              <a:rPr sz="850" b="0">
                <a:solidFill>
                  <a:srgbClr val="5B6472"/>
                </a:solidFill>
                <a:latin typeface="Calibri"/>
              </a:rPr>
              <a:t>The direction is finally right at scale, but the comparison is still between different tasks.</a:t>
            </a:r>
          </a:p>
        </p:txBody>
      </p:sp>
      <p:sp>
        <p:nvSpPr>
          <p:cNvPr id="12" name="Rounded Rectangle 11"/>
          <p:cNvSpPr/>
          <p:nvPr/>
        </p:nvSpPr>
        <p:spPr>
          <a:xfrm>
            <a:off x="228600" y="3273551"/>
            <a:ext cx="530352" cy="676656"/>
          </a:xfrm>
          <a:prstGeom prst="roundRect">
            <a:avLst>
              <a:gd name="adj" fmla="val 12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4</a:t>
            </a:r>
          </a:p>
        </p:txBody>
      </p:sp>
      <p:sp>
        <p:nvSpPr>
          <p:cNvPr id="13" name="Rounded Rectangle 12"/>
          <p:cNvSpPr/>
          <p:nvPr/>
        </p:nvSpPr>
        <p:spPr>
          <a:xfrm>
            <a:off x="813816" y="3273551"/>
            <a:ext cx="8101583" cy="676656"/>
          </a:xfrm>
          <a:prstGeom prst="roundRect">
            <a:avLst>
              <a:gd name="adj" fmla="val 12000"/>
            </a:avLst>
          </a:prstGeom>
          <a:solidFill>
            <a:srgbClr val="FFFFFF"/>
          </a:solidFill>
          <a:ln w="13970">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a:solidFill>
                  <a:srgbClr val="002754"/>
                </a:solidFill>
                <a:latin typeface="Calibri"/>
              </a:rPr>
              <a:t>Publish the dataset defects</a:t>
            </a:r>
          </a:p>
          <a:p>
            <a:pPr algn="l"/>
            <a:r>
              <a:rPr sz="850" b="0">
                <a:solidFill>
                  <a:srgbClr val="5B6472"/>
                </a:solidFill>
                <a:latin typeface="Calibri"/>
              </a:rPr>
              <a:t>3 rotated variants and 27 no-op injections, with a detection method. Stands alone.</a:t>
            </a:r>
          </a:p>
        </p:txBody>
      </p:sp>
      <p:sp>
        <p:nvSpPr>
          <p:cNvPr id="14" name="Rounded Rectangle 13"/>
          <p:cNvSpPr/>
          <p:nvPr/>
        </p:nvSpPr>
        <p:spPr>
          <a:xfrm>
            <a:off x="228600" y="4059936"/>
            <a:ext cx="8686800" cy="713232"/>
          </a:xfrm>
          <a:prstGeom prst="roundRect">
            <a:avLst>
              <a:gd name="adj" fmla="val 12000"/>
            </a:avLst>
          </a:prstGeom>
          <a:solidFill>
            <a:srgbClr val="E6F2EA"/>
          </a:solidFill>
          <a:ln w="13970">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a:solidFill>
                  <a:srgbClr val="1E7A3C"/>
                </a:solidFill>
                <a:latin typeface="Calibri"/>
              </a:rPr>
              <a:t>THE RESULT THAT IS READY TO WRITE UP</a:t>
            </a:r>
          </a:p>
          <a:p>
            <a:pPr algn="ctr"/>
            <a:r>
              <a:rPr sz="900" b="0">
                <a:solidFill>
                  <a:srgbClr val="5B6472"/>
                </a:solidFill>
                <a:latin typeface="Calibri"/>
              </a:rPr>
              <a:t>Ambiguity costs 4-16 points of pass rate and up to 1.34x the tokens per correct answer, it replicates across</a:t>
            </a:r>
          </a:p>
          <a:p>
            <a:pPr algn="ctr"/>
            <a:r>
              <a:rPr sz="900" b="1">
                <a:solidFill>
                  <a:srgbClr val="002754"/>
                </a:solidFill>
                <a:latin typeface="Calibri"/>
              </a:rPr>
              <a:t>two models and 6,400 runs, and which TYPE hurts depends on the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